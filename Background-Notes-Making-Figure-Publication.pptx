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3" r:id="rId1"/>
  </p:sldMasterIdLst>
  <p:notesMasterIdLst>
    <p:notesMasterId r:id="rId34"/>
  </p:notesMasterIdLst>
  <p:handoutMasterIdLst>
    <p:handoutMasterId r:id="rId35"/>
  </p:handoutMasterIdLst>
  <p:sldIdLst>
    <p:sldId id="1627" r:id="rId2"/>
    <p:sldId id="1353" r:id="rId3"/>
    <p:sldId id="1355" r:id="rId4"/>
    <p:sldId id="1356" r:id="rId5"/>
    <p:sldId id="1354" r:id="rId6"/>
    <p:sldId id="1708" r:id="rId7"/>
    <p:sldId id="1709" r:id="rId8"/>
    <p:sldId id="1580" r:id="rId9"/>
    <p:sldId id="1701" r:id="rId10"/>
    <p:sldId id="1576" r:id="rId11"/>
    <p:sldId id="1577" r:id="rId12"/>
    <p:sldId id="1578" r:id="rId13"/>
    <p:sldId id="1697" r:id="rId14"/>
    <p:sldId id="1579" r:id="rId15"/>
    <p:sldId id="259" r:id="rId16"/>
    <p:sldId id="258" r:id="rId17"/>
    <p:sldId id="1574" r:id="rId18"/>
    <p:sldId id="1581" r:id="rId19"/>
    <p:sldId id="1575" r:id="rId20"/>
    <p:sldId id="1582" r:id="rId21"/>
    <p:sldId id="1707" r:id="rId22"/>
    <p:sldId id="261" r:id="rId23"/>
    <p:sldId id="1585" r:id="rId24"/>
    <p:sldId id="1588" r:id="rId25"/>
    <p:sldId id="1706" r:id="rId26"/>
    <p:sldId id="1705" r:id="rId27"/>
    <p:sldId id="1555" r:id="rId28"/>
    <p:sldId id="1556" r:id="rId29"/>
    <p:sldId id="1560" r:id="rId30"/>
    <p:sldId id="1561" r:id="rId31"/>
    <p:sldId id="1562" r:id="rId32"/>
    <p:sldId id="1557" r:id="rId33"/>
  </p:sldIdLst>
  <p:sldSz cx="12192000" cy="6858000"/>
  <p:notesSz cx="7315200" cy="9601200"/>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12BE"/>
    <a:srgbClr val="006600"/>
    <a:srgbClr val="CC00FF"/>
    <a:srgbClr val="FF9900"/>
    <a:srgbClr val="0000FF"/>
    <a:srgbClr val="FFFFFF"/>
    <a:srgbClr val="FFFF99"/>
    <a:srgbClr val="00FF00"/>
    <a:srgbClr val="FFFF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2DA8D-611B-4413-A8D3-9455E4485A2E}" v="13" dt="2024-02-12T15:13:40.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59" autoAdjust="0"/>
    <p:restoredTop sz="84793" autoAdjust="0"/>
  </p:normalViewPr>
  <p:slideViewPr>
    <p:cSldViewPr>
      <p:cViewPr varScale="1">
        <p:scale>
          <a:sx n="53" d="100"/>
          <a:sy n="53" d="100"/>
        </p:scale>
        <p:origin x="992" y="3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defTabSz="966393">
              <a:defRPr sz="1200"/>
            </a:lvl1pPr>
          </a:lstStyle>
          <a:p>
            <a:pPr>
              <a:defRPr/>
            </a:pPr>
            <a:endParaRPr lang="en-US"/>
          </a:p>
        </p:txBody>
      </p:sp>
      <p:sp>
        <p:nvSpPr>
          <p:cNvPr id="512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algn="r" defTabSz="966393">
              <a:defRPr sz="1200"/>
            </a:lvl1pPr>
          </a:lstStyle>
          <a:p>
            <a:pPr>
              <a:defRPr/>
            </a:pPr>
            <a:endParaRPr lang="en-US"/>
          </a:p>
        </p:txBody>
      </p:sp>
      <p:sp>
        <p:nvSpPr>
          <p:cNvPr id="512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defTabSz="966393">
              <a:defRPr sz="1200"/>
            </a:lvl1pPr>
          </a:lstStyle>
          <a:p>
            <a:pPr>
              <a:defRPr/>
            </a:pPr>
            <a:endParaRPr lang="en-US"/>
          </a:p>
        </p:txBody>
      </p:sp>
      <p:sp>
        <p:nvSpPr>
          <p:cNvPr id="512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algn="r" defTabSz="966393">
              <a:defRPr sz="1200"/>
            </a:lvl1pPr>
          </a:lstStyle>
          <a:p>
            <a:pPr>
              <a:defRPr/>
            </a:pPr>
            <a:fld id="{F530564D-F8CC-4068-A373-BEEF384544B4}" type="slidenum">
              <a:rPr lang="en-US"/>
              <a:pPr>
                <a:defRPr/>
              </a:pPr>
              <a:t>‹#›</a:t>
            </a:fld>
            <a:endParaRPr lang="en-US"/>
          </a:p>
        </p:txBody>
      </p:sp>
    </p:spTree>
    <p:extLst>
      <p:ext uri="{BB962C8B-B14F-4D97-AF65-F5344CB8AC3E}">
        <p14:creationId xmlns:p14="http://schemas.microsoft.com/office/powerpoint/2010/main" val="251520126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3192463" cy="473075"/>
          </a:xfrm>
          <a:prstGeom prst="rect">
            <a:avLst/>
          </a:prstGeom>
          <a:noFill/>
          <a:ln w="9525">
            <a:noFill/>
            <a:miter lim="800000"/>
            <a:headEnd/>
            <a:tailEnd/>
          </a:ln>
          <a:effectLst/>
        </p:spPr>
        <p:txBody>
          <a:bodyPr vert="horz" wrap="square" lIns="95152" tIns="47576" rIns="95152" bIns="47576" numCol="1" anchor="t" anchorCtr="0" compatLnSpc="1">
            <a:prstTxWarp prst="textNoShape">
              <a:avLst/>
            </a:prstTxWarp>
          </a:bodyPr>
          <a:lstStyle>
            <a:lvl1pPr>
              <a:defRPr sz="1200"/>
            </a:lvl1pPr>
          </a:lstStyle>
          <a:p>
            <a:pPr>
              <a:defRPr/>
            </a:pPr>
            <a:endParaRPr lang="en-US"/>
          </a:p>
        </p:txBody>
      </p:sp>
      <p:sp>
        <p:nvSpPr>
          <p:cNvPr id="43011" name="Rectangle 3"/>
          <p:cNvSpPr>
            <a:spLocks noGrp="1" noChangeArrowheads="1"/>
          </p:cNvSpPr>
          <p:nvPr>
            <p:ph type="dt" idx="1"/>
          </p:nvPr>
        </p:nvSpPr>
        <p:spPr bwMode="auto">
          <a:xfrm>
            <a:off x="4149725" y="0"/>
            <a:ext cx="3192463" cy="473075"/>
          </a:xfrm>
          <a:prstGeom prst="rect">
            <a:avLst/>
          </a:prstGeom>
          <a:noFill/>
          <a:ln w="9525">
            <a:noFill/>
            <a:miter lim="800000"/>
            <a:headEnd/>
            <a:tailEnd/>
          </a:ln>
          <a:effectLst/>
        </p:spPr>
        <p:txBody>
          <a:bodyPr vert="horz" wrap="square" lIns="95152" tIns="47576" rIns="95152" bIns="47576" numCol="1" anchor="t" anchorCtr="0" compatLnSpc="1">
            <a:prstTxWarp prst="textNoShape">
              <a:avLst/>
            </a:prstTxWarp>
          </a:bodyPr>
          <a:lstStyle>
            <a:lvl1pPr algn="r">
              <a:defRPr sz="1200"/>
            </a:lvl1pPr>
          </a:lstStyle>
          <a:p>
            <a:pPr>
              <a:defRPr/>
            </a:pPr>
            <a:endParaRPr lang="en-US"/>
          </a:p>
        </p:txBody>
      </p:sp>
      <p:sp>
        <p:nvSpPr>
          <p:cNvPr id="72708" name="Rectangle 4"/>
          <p:cNvSpPr>
            <a:spLocks noGrp="1" noRot="1" noChangeAspect="1" noChangeArrowheads="1" noTextEdit="1"/>
          </p:cNvSpPr>
          <p:nvPr>
            <p:ph type="sldImg" idx="2"/>
          </p:nvPr>
        </p:nvSpPr>
        <p:spPr bwMode="auto">
          <a:xfrm>
            <a:off x="404813" y="709613"/>
            <a:ext cx="6453187" cy="3630612"/>
          </a:xfrm>
          <a:prstGeom prst="rect">
            <a:avLst/>
          </a:prstGeom>
          <a:noFill/>
          <a:ln w="9525">
            <a:solidFill>
              <a:srgbClr val="000000"/>
            </a:solidFill>
            <a:miter lim="800000"/>
            <a:headEnd/>
            <a:tailEnd/>
          </a:ln>
        </p:spPr>
      </p:sp>
      <p:sp>
        <p:nvSpPr>
          <p:cNvPr id="43013" name="Rectangle 5"/>
          <p:cNvSpPr>
            <a:spLocks noGrp="1" noChangeArrowheads="1"/>
          </p:cNvSpPr>
          <p:nvPr>
            <p:ph type="body" sz="quarter" idx="3"/>
          </p:nvPr>
        </p:nvSpPr>
        <p:spPr bwMode="auto">
          <a:xfrm>
            <a:off x="957263" y="4576763"/>
            <a:ext cx="5346700" cy="4340225"/>
          </a:xfrm>
          <a:prstGeom prst="rect">
            <a:avLst/>
          </a:prstGeom>
          <a:noFill/>
          <a:ln w="9525">
            <a:noFill/>
            <a:miter lim="800000"/>
            <a:headEnd/>
            <a:tailEnd/>
          </a:ln>
          <a:effectLst/>
        </p:spPr>
        <p:txBody>
          <a:bodyPr vert="horz" wrap="square" lIns="95152" tIns="47576" rIns="95152" bIns="4757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p:cNvSpPr>
            <a:spLocks noGrp="1" noChangeArrowheads="1"/>
          </p:cNvSpPr>
          <p:nvPr>
            <p:ph type="ftr" sz="quarter" idx="4"/>
          </p:nvPr>
        </p:nvSpPr>
        <p:spPr bwMode="auto">
          <a:xfrm>
            <a:off x="0" y="9153525"/>
            <a:ext cx="3192463" cy="474663"/>
          </a:xfrm>
          <a:prstGeom prst="rect">
            <a:avLst/>
          </a:prstGeom>
          <a:noFill/>
          <a:ln w="9525">
            <a:noFill/>
            <a:miter lim="800000"/>
            <a:headEnd/>
            <a:tailEnd/>
          </a:ln>
          <a:effectLst/>
        </p:spPr>
        <p:txBody>
          <a:bodyPr vert="horz" wrap="square" lIns="95152" tIns="47576" rIns="95152" bIns="47576" numCol="1" anchor="b" anchorCtr="0" compatLnSpc="1">
            <a:prstTxWarp prst="textNoShape">
              <a:avLst/>
            </a:prstTxWarp>
          </a:bodyPr>
          <a:lstStyle>
            <a:lvl1pPr>
              <a:defRPr sz="1200"/>
            </a:lvl1pPr>
          </a:lstStyle>
          <a:p>
            <a:pPr>
              <a:defRPr/>
            </a:pPr>
            <a:endParaRPr lang="en-US"/>
          </a:p>
        </p:txBody>
      </p:sp>
      <p:sp>
        <p:nvSpPr>
          <p:cNvPr id="43015" name="Rectangle 7"/>
          <p:cNvSpPr>
            <a:spLocks noGrp="1" noChangeArrowheads="1"/>
          </p:cNvSpPr>
          <p:nvPr>
            <p:ph type="sldNum" sz="quarter" idx="5"/>
          </p:nvPr>
        </p:nvSpPr>
        <p:spPr bwMode="auto">
          <a:xfrm>
            <a:off x="4149725" y="9153525"/>
            <a:ext cx="3192463" cy="474663"/>
          </a:xfrm>
          <a:prstGeom prst="rect">
            <a:avLst/>
          </a:prstGeom>
          <a:noFill/>
          <a:ln w="9525">
            <a:noFill/>
            <a:miter lim="800000"/>
            <a:headEnd/>
            <a:tailEnd/>
          </a:ln>
          <a:effectLst/>
        </p:spPr>
        <p:txBody>
          <a:bodyPr vert="horz" wrap="square" lIns="95152" tIns="47576" rIns="95152" bIns="47576" numCol="1" anchor="b" anchorCtr="0" compatLnSpc="1">
            <a:prstTxWarp prst="textNoShape">
              <a:avLst/>
            </a:prstTxWarp>
          </a:bodyPr>
          <a:lstStyle>
            <a:lvl1pPr algn="r">
              <a:defRPr sz="1200"/>
            </a:lvl1pPr>
          </a:lstStyle>
          <a:p>
            <a:pPr>
              <a:defRPr/>
            </a:pPr>
            <a:fld id="{8D83E100-496C-4041-A96E-155A077EEC75}" type="slidenum">
              <a:rPr lang="en-US"/>
              <a:pPr>
                <a:defRPr/>
              </a:pPr>
              <a:t>‹#›</a:t>
            </a:fld>
            <a:endParaRPr lang="en-US"/>
          </a:p>
        </p:txBody>
      </p:sp>
    </p:spTree>
    <p:extLst>
      <p:ext uri="{BB962C8B-B14F-4D97-AF65-F5344CB8AC3E}">
        <p14:creationId xmlns:p14="http://schemas.microsoft.com/office/powerpoint/2010/main" val="226335574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slide" Target="../slides/slide22.xml"/><Relationship Id="rId4"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A8A8C547-751F-427B-9349-B2D14E305EA9}" type="slidenum">
              <a:rPr lang="en-US" smtClean="0">
                <a:latin typeface="Arial" pitchFamily="34" charset="0"/>
              </a:rPr>
              <a:pPr/>
              <a:t>2</a:t>
            </a:fld>
            <a:endParaRPr lang="en-US">
              <a:latin typeface="Arial" pitchFamily="34"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r>
              <a:rPr lang="en-US" dirty="0">
                <a:latin typeface="Arial" pitchFamily="34" charset="0"/>
              </a:rPr>
              <a:t>Avoid blue and red look up tables (LUTs) because the human eye is not very sensitive to these </a:t>
            </a:r>
            <a:r>
              <a:rPr lang="en-US" dirty="0" err="1">
                <a:latin typeface="Arial" pitchFamily="34" charset="0"/>
              </a:rPr>
              <a:t>colours</a:t>
            </a:r>
            <a:r>
              <a:rPr lang="en-US" dirty="0">
                <a:latin typeface="Arial" pitchFamily="34" charset="0"/>
              </a:rPr>
              <a:t>. Green is better, but greyscale is best. Notice the details in the centre of this cell that are difficult to see in the </a:t>
            </a:r>
            <a:r>
              <a:rPr lang="en-US" dirty="0" err="1">
                <a:latin typeface="Arial" pitchFamily="34" charset="0"/>
              </a:rPr>
              <a:t>coloured</a:t>
            </a:r>
            <a:r>
              <a:rPr lang="en-US" dirty="0">
                <a:latin typeface="Arial" pitchFamily="34" charset="0"/>
              </a:rPr>
              <a:t> images. Rainbow or other LUTs that use multiple </a:t>
            </a:r>
            <a:r>
              <a:rPr lang="en-US" dirty="0" err="1">
                <a:latin typeface="Arial" pitchFamily="34" charset="0"/>
              </a:rPr>
              <a:t>colours</a:t>
            </a:r>
            <a:r>
              <a:rPr lang="en-US" dirty="0">
                <a:latin typeface="Arial" pitchFamily="34" charset="0"/>
              </a:rPr>
              <a:t> give the eye the ability to see even more detail. The eye can see about 20 different levels of intensity. So with the rainbow LUT the eye can see 20 levels of blue, 20 levels of green, 20 levels or red and so on.</a:t>
            </a:r>
          </a:p>
        </p:txBody>
      </p:sp>
    </p:spTree>
    <p:extLst>
      <p:ext uri="{BB962C8B-B14F-4D97-AF65-F5344CB8AC3E}">
        <p14:creationId xmlns:p14="http://schemas.microsoft.com/office/powerpoint/2010/main" val="177788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4D7C0E07-CC57-44EC-8A70-387B1A0E3BAF}" type="slidenum">
              <a:rPr lang="en-US" smtClean="0">
                <a:latin typeface="Arial" pitchFamily="34" charset="0"/>
              </a:rPr>
              <a:pPr/>
              <a:t>3</a:t>
            </a:fld>
            <a:endParaRPr lang="en-US">
              <a:latin typeface="Arial" pitchFamily="34"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r>
              <a:rPr lang="en-US" dirty="0">
                <a:latin typeface="Arial" pitchFamily="34" charset="0"/>
              </a:rPr>
              <a:t>Different display settings can be used to emphasize or highlight certain features in images. The Gamma, Brightness and Contrast settings can be used to enhance images. The lower panel here shows the relationship between the image intensity and the display intensity. Note that the image data is not impacted just how the image is displayed. NOTE that with FIJI/ImageJ if you use the gamma feature it does perform a mathematical operation and changes the image intensity data.</a:t>
            </a:r>
          </a:p>
          <a:p>
            <a:pPr eaLnBrk="1" hangingPunct="1"/>
            <a:endParaRPr lang="en-US" dirty="0">
              <a:latin typeface="Arial" pitchFamily="34" charset="0"/>
            </a:endParaRPr>
          </a:p>
          <a:p>
            <a:pPr eaLnBrk="1" hangingPunct="1"/>
            <a:r>
              <a:rPr lang="en-US" dirty="0">
                <a:latin typeface="Arial" pitchFamily="34" charset="0"/>
              </a:rPr>
              <a:t>Gamma can be used to emphasize dim features without making bright features look saturated. In the opposite manner it can minimize dim features and highlight bright ones. This is a non-linear operation so it is important that if it is used it is stated in the figure caption. Brightness will make all pixels brighter including background and contrast changes the slope of the curve relating display and image intensity. A combination of all three is often best. Make sure the exact same settings are used for all images in a panel if the intensity will be compared. Explain what settings were used in the figure caption. In some software, the gamma values are reversed with low levels highlighting dim features and high levels highlighting bright features.</a:t>
            </a:r>
          </a:p>
        </p:txBody>
      </p:sp>
    </p:spTree>
    <p:extLst>
      <p:ext uri="{BB962C8B-B14F-4D97-AF65-F5344CB8AC3E}">
        <p14:creationId xmlns:p14="http://schemas.microsoft.com/office/powerpoint/2010/main" val="3260666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0EAF38F1-ACC3-48A6-B191-0458C7488990}" type="slidenum">
              <a:rPr lang="en-US" smtClean="0">
                <a:latin typeface="Arial" pitchFamily="34" charset="0"/>
              </a:rPr>
              <a:pPr/>
              <a:t>4</a:t>
            </a:fld>
            <a:endParaRPr lang="en-US">
              <a:latin typeface="Arial"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r>
              <a:rPr lang="en-US" dirty="0">
                <a:latin typeface="Arial" pitchFamily="34" charset="0"/>
              </a:rPr>
              <a:t>Excellent example of when to use the gamma factor to enhance dim features without the cell body looking saturated as it would if just brightness was adjusted.</a:t>
            </a:r>
          </a:p>
        </p:txBody>
      </p:sp>
    </p:spTree>
    <p:extLst>
      <p:ext uri="{BB962C8B-B14F-4D97-AF65-F5344CB8AC3E}">
        <p14:creationId xmlns:p14="http://schemas.microsoft.com/office/powerpoint/2010/main" val="4154406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Individual image panels should be shown in greyscale and the text for the staining should be shown in the colour of the overlay. Here the adhesion protein paxillin is shown in green and the actin phalloidin stain is in magenta. These are colour blind friendly colours. Green and red overlays cannot be seen by about 10% of the male population. </a:t>
            </a:r>
          </a:p>
        </p:txBody>
      </p:sp>
    </p:spTree>
    <p:extLst>
      <p:ext uri="{BB962C8B-B14F-4D97-AF65-F5344CB8AC3E}">
        <p14:creationId xmlns:p14="http://schemas.microsoft.com/office/powerpoint/2010/main" val="2325072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Use a colour blind online checker to make sure your figures are good for colour blind people. There are many but this is one example. You can also check other images such as event flyers.</a:t>
            </a:r>
          </a:p>
        </p:txBody>
      </p:sp>
    </p:spTree>
    <p:extLst>
      <p:ext uri="{BB962C8B-B14F-4D97-AF65-F5344CB8AC3E}">
        <p14:creationId xmlns:p14="http://schemas.microsoft.com/office/powerpoint/2010/main" val="27200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It is important that images have scale bars.  Detailed figure captions should describe how the images were captured, information about the sample and how the image display was adapted.</a:t>
            </a:r>
          </a:p>
        </p:txBody>
      </p:sp>
    </p:spTree>
    <p:extLst>
      <p:ext uri="{BB962C8B-B14F-4D97-AF65-F5344CB8AC3E}">
        <p14:creationId xmlns:p14="http://schemas.microsoft.com/office/powerpoint/2010/main" val="3574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nature statistics webpage has a lot of information about different statistical tests.</a:t>
            </a:r>
          </a:p>
        </p:txBody>
      </p:sp>
    </p:spTree>
    <p:extLst>
      <p:ext uri="{BB962C8B-B14F-4D97-AF65-F5344CB8AC3E}">
        <p14:creationId xmlns:p14="http://schemas.microsoft.com/office/powerpoint/2010/main" val="3334529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box plot is one form of data display that gives a lot more information than a bar chart. The P values in this figure were calculated with n=number of cells rather than the number of experiments. Best to keep outliners in the figure and let people evaluating the work make their own conclusions.</a:t>
            </a:r>
          </a:p>
        </p:txBody>
      </p:sp>
    </p:spTree>
    <p:extLst>
      <p:ext uri="{BB962C8B-B14F-4D97-AF65-F5344CB8AC3E}">
        <p14:creationId xmlns:p14="http://schemas.microsoft.com/office/powerpoint/2010/main" val="2198077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Same dataset as the previous slide showing limited information from a bar chart.</a:t>
            </a:r>
          </a:p>
        </p:txBody>
      </p:sp>
    </p:spTree>
    <p:extLst>
      <p:ext uri="{BB962C8B-B14F-4D97-AF65-F5344CB8AC3E}">
        <p14:creationId xmlns:p14="http://schemas.microsoft.com/office/powerpoint/2010/main" val="3612112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General guidelines are to have a minimum of three experimental replicates. That is, doing the full experiment three independent times. If there is a lot of variability or trends are not consistent then it is best to do a fourth experimental replicate. The second panel shows that there should be a minimum of 10 data points, 30 data points is ideal and more data points will allow you to see the distribution of the data more clearly and potentially identify interesting subpopulations. The p-values were calculated with an n value of the total number of data points not the number of experiments.</a:t>
            </a:r>
          </a:p>
        </p:txBody>
      </p:sp>
    </p:spTree>
    <p:extLst>
      <p:ext uri="{BB962C8B-B14F-4D97-AF65-F5344CB8AC3E}">
        <p14:creationId xmlns:p14="http://schemas.microsoft.com/office/powerpoint/2010/main" val="3922103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journals are now requesting that authors declare the types of statistical methods they use and if there are any outliers eliminated from the analysis.</a:t>
            </a:r>
          </a:p>
        </p:txBody>
      </p:sp>
    </p:spTree>
    <p:extLst>
      <p:ext uri="{BB962C8B-B14F-4D97-AF65-F5344CB8AC3E}">
        <p14:creationId xmlns:p14="http://schemas.microsoft.com/office/powerpoint/2010/main" val="2324421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null hypothesis tests if the means of two distributions are significantly different. The t-test is done pairwise with two datasets. The </a:t>
            </a:r>
            <a:r>
              <a:rPr lang="en-CA" dirty="0" err="1"/>
              <a:t>Anova</a:t>
            </a:r>
            <a:r>
              <a:rPr lang="en-CA" dirty="0"/>
              <a:t> test looks at multiple pairs within multiple data sets or experimental conditions.</a:t>
            </a:r>
          </a:p>
        </p:txBody>
      </p:sp>
    </p:spTree>
    <p:extLst>
      <p:ext uri="{BB962C8B-B14F-4D97-AF65-F5344CB8AC3E}">
        <p14:creationId xmlns:p14="http://schemas.microsoft.com/office/powerpoint/2010/main" val="188829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how to calculate the t-value for two population means. The n value is usually the number of datapoints.</a:t>
            </a:r>
          </a:p>
        </p:txBody>
      </p:sp>
    </p:spTree>
    <p:extLst>
      <p:ext uri="{BB962C8B-B14F-4D97-AF65-F5344CB8AC3E}">
        <p14:creationId xmlns:p14="http://schemas.microsoft.com/office/powerpoint/2010/main" val="498027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the standard way that most people calculate the P value and report it.</a:t>
            </a:r>
          </a:p>
        </p:txBody>
      </p:sp>
    </p:spTree>
    <p:extLst>
      <p:ext uri="{BB962C8B-B14F-4D97-AF65-F5344CB8AC3E}">
        <p14:creationId xmlns:p14="http://schemas.microsoft.com/office/powerpoint/2010/main" val="4028908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T-tests can be done in many ways and this slide outlines how.</a:t>
            </a:r>
          </a:p>
        </p:txBody>
      </p:sp>
    </p:spTree>
    <p:extLst>
      <p:ext uri="{BB962C8B-B14F-4D97-AF65-F5344CB8AC3E}">
        <p14:creationId xmlns:p14="http://schemas.microsoft.com/office/powerpoint/2010/main" val="4226888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slide shows a more visual way to see the one-tailed versus two tailed t-test.</a:t>
            </a:r>
          </a:p>
        </p:txBody>
      </p:sp>
    </p:spTree>
    <p:extLst>
      <p:ext uri="{BB962C8B-B14F-4D97-AF65-F5344CB8AC3E}">
        <p14:creationId xmlns:p14="http://schemas.microsoft.com/office/powerpoint/2010/main" val="310860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an excellent paper that is highly recommended. It is a bit different than what has been presented in these slides and is becoming the standard in the life sciences.</a:t>
            </a:r>
          </a:p>
        </p:txBody>
      </p:sp>
    </p:spTree>
    <p:extLst>
      <p:ext uri="{BB962C8B-B14F-4D97-AF65-F5344CB8AC3E}">
        <p14:creationId xmlns:p14="http://schemas.microsoft.com/office/powerpoint/2010/main" val="2371936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figure shows that plots showing all data points are much better than those showing a bar graph. However, calculating the p-value with all data points inflates differences. Essentially with such a high n-value almost any slight difference in means of populations will result in a very small P-value or high significance. The paper then goes on to say that the n-value should really be the number of experiments not the number of datapoints (cells, vesicles, etc).</a:t>
            </a:r>
          </a:p>
        </p:txBody>
      </p:sp>
    </p:spTree>
    <p:extLst>
      <p:ext uri="{BB962C8B-B14F-4D97-AF65-F5344CB8AC3E}">
        <p14:creationId xmlns:p14="http://schemas.microsoft.com/office/powerpoint/2010/main" val="852429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34525A07-19AA-417D-8AE6-1F7613E9796E}"/>
              </a:ext>
            </a:extLst>
          </p:cNvPr>
          <p:cNvSpPr>
            <a:spLocks noGrp="1" noRot="1" noChangeAspect="1" noChangeArrowheads="1" noTextEdit="1"/>
          </p:cNvSpPr>
          <p:nvPr>
            <p:ph type="sldImg"/>
            <p:custDataLst>
              <p:tags r:id="rId1"/>
            </p:custDataLst>
          </p:nvPr>
        </p:nvSpPr>
        <p:spPr>
          <a:ln cap="flat">
            <a:headEnd type="none" w="med" len="med"/>
            <a:tailEnd type="none" w="med" len="med"/>
          </a:ln>
        </p:spPr>
      </p:sp>
      <p:sp>
        <p:nvSpPr>
          <p:cNvPr id="5123" name="Notes Placeholder 2">
            <a:extLst>
              <a:ext uri="{FF2B5EF4-FFF2-40B4-BE49-F238E27FC236}">
                <a16:creationId xmlns:a16="http://schemas.microsoft.com/office/drawing/2014/main" id="{12FCC90F-5DCF-43EC-8A37-8E915B982125}"/>
              </a:ext>
            </a:extLst>
          </p:cNvPr>
          <p:cNvSpPr>
            <a:spLocks noGrp="1" noChangeArrowheads="1"/>
          </p:cNvSpPr>
          <p:nvPr>
            <p:ph type="body" idx="1"/>
            <p:custDataLst>
              <p:tags r:id="rId2"/>
            </p:custDataLst>
          </p:nvPr>
        </p:nvSpPr>
        <p:spPr>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Helvetica" panose="020B0604020202020204" pitchFamily="34" charset="0"/>
                <a:cs typeface="Helvetica" panose="020B0604020202020204" pitchFamily="34" charset="0"/>
              </a:rPr>
              <a:t>The top panel shows all data points and then the mean from each experimental replicate. The first panel just shows the means. The second all the data points and the means. The third is best showing all the data points colour coded for each experimental replicate. The power of the display in B is clear in panels C and D. In panel C, it is clear that with the drug treatment the cell speed decreases. The control cell speed varies from day-to-day but there is a clear impact of the drug to slow down the cells. In panel D, showing all the datapoints makes it clear that the data is not reproducible and the drug trend is not clear. Sometimes the cells slow down, sometimes they speed up and sometimes there is no effect. It is impossible to see the day-to-day or random variability without the use of super plots. Not that the P values calculated with n=3 experiments reflect that there is no significant difference in the means with the random variability.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200" dirty="0">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b="0" u="sng" dirty="0">
                <a:latin typeface="Helvetica" panose="020B0604020202020204" pitchFamily="34" charset="0"/>
                <a:cs typeface="Helvetica" panose="020B0604020202020204" pitchFamily="34" charset="0"/>
              </a:rPr>
              <a:t>Figure Caption from the Publication: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Helvetica" panose="020B0604020202020204" pitchFamily="34" charset="0"/>
                <a:cs typeface="Helvetica" panose="020B0604020202020204" pitchFamily="34" charset="0"/>
              </a:rPr>
              <a:t>The importance of displaying reproducibility. Drastically different experimental outcomes can result in the same plots and statistics unless experiment-to-experiment variability is considered. (A) Problematic plots treat n as the number of cells, resulting in tiny error bars and P values. These plots                            also conceal any systematic run-to-run error, mixing it with cell-to-cell variability. (B–D) To illustrate this, we simulated three different scenarios that all have identical underlying cell-level values but are clustered differently by experiment: B shows highly repeatable, </a:t>
            </a:r>
            <a:r>
              <a:rPr lang="en-US" altLang="en-US" sz="1200" dirty="0" err="1">
                <a:latin typeface="Helvetica" panose="020B0604020202020204" pitchFamily="34" charset="0"/>
                <a:cs typeface="Helvetica" panose="020B0604020202020204" pitchFamily="34" charset="0"/>
              </a:rPr>
              <a:t>unclustered</a:t>
            </a:r>
            <a:r>
              <a:rPr lang="en-US" altLang="en-US" sz="1200" dirty="0">
                <a:latin typeface="Helvetica" panose="020B0604020202020204" pitchFamily="34" charset="0"/>
                <a:cs typeface="Helvetica" panose="020B0604020202020204" pitchFamily="34" charset="0"/>
              </a:rPr>
              <a:t> data, C shows day-to-day variability, but a consistent trend in each experiment, and D is dominated by one random run. Note that the plots in A that treat each cell as its own n fail to distinguish the three scenarios, claiming a significant difference after drug treatment, even when the experiments are not actually repeatable. To correct that, “</a:t>
            </a:r>
            <a:r>
              <a:rPr lang="en-US" altLang="en-US" sz="1200" dirty="0" err="1">
                <a:latin typeface="Helvetica" panose="020B0604020202020204" pitchFamily="34" charset="0"/>
                <a:cs typeface="Helvetica" panose="020B0604020202020204" pitchFamily="34" charset="0"/>
              </a:rPr>
              <a:t>SuperPlots</a:t>
            </a:r>
            <a:r>
              <a:rPr lang="en-US" altLang="en-US" sz="1200" dirty="0">
                <a:latin typeface="Helvetica" panose="020B0604020202020204" pitchFamily="34" charset="0"/>
                <a:cs typeface="Helvetica" panose="020B0604020202020204" pitchFamily="34" charset="0"/>
              </a:rPr>
              <a:t>” superimpose summary statistics from biological replicates consisting of independent experiments on top of data from all cells, and P values were calculated using an n of three, not 300. In this case, the cell-level values were separately pooled for each biological replicate and the mean calculated for each pool; those three means were then used to calculate the average (horizontal bar), standard error of the mean (error bars), and P value. While the dot plots in the “OK” column ensure that the P values are calculated correctly, they still fail to convey the experiment-to-experiment differences. In the </a:t>
            </a:r>
            <a:r>
              <a:rPr lang="en-US" altLang="en-US" sz="1200" dirty="0" err="1">
                <a:latin typeface="Helvetica" panose="020B0604020202020204" pitchFamily="34" charset="0"/>
                <a:cs typeface="Helvetica" panose="020B0604020202020204" pitchFamily="34" charset="0"/>
              </a:rPr>
              <a:t>SuperPlots</a:t>
            </a:r>
            <a:r>
              <a:rPr lang="en-US" altLang="en-US" sz="1200" dirty="0">
                <a:latin typeface="Helvetica" panose="020B0604020202020204" pitchFamily="34" charset="0"/>
                <a:cs typeface="Helvetica" panose="020B0604020202020204" pitchFamily="34" charset="0"/>
              </a:rPr>
              <a:t>, each biological replicate is color-coded: the averages from one experimental run are yellow dots, another independent experiment is represented by gray triangles, and a third experiment is shown as blue squares. This helps convey whether the trend is observed within each experimental run, as well as for the dataset as a whole. The </a:t>
            </a:r>
            <a:r>
              <a:rPr lang="en-US" altLang="en-US" sz="1200" dirty="0" err="1">
                <a:latin typeface="Helvetica" panose="020B0604020202020204" pitchFamily="34" charset="0"/>
                <a:cs typeface="Helvetica" panose="020B0604020202020204" pitchFamily="34" charset="0"/>
              </a:rPr>
              <a:t>beeswarm</a:t>
            </a:r>
            <a:r>
              <a:rPr lang="en-US" altLang="en-US" sz="1200" dirty="0">
                <a:latin typeface="Helvetica" panose="020B0604020202020204" pitchFamily="34" charset="0"/>
                <a:cs typeface="Helvetica" panose="020B0604020202020204" pitchFamily="34" charset="0"/>
              </a:rPr>
              <a:t> </a:t>
            </a:r>
            <a:r>
              <a:rPr lang="en-US" altLang="en-US" sz="1200" dirty="0" err="1">
                <a:latin typeface="Helvetica" panose="020B0604020202020204" pitchFamily="34" charset="0"/>
                <a:cs typeface="Helvetica" panose="020B0604020202020204" pitchFamily="34" charset="0"/>
              </a:rPr>
              <a:t>SuperPlots</a:t>
            </a:r>
            <a:r>
              <a:rPr lang="en-US" altLang="en-US" sz="1200" dirty="0">
                <a:latin typeface="Helvetica" panose="020B0604020202020204" pitchFamily="34" charset="0"/>
                <a:cs typeface="Helvetica" panose="020B0604020202020204" pitchFamily="34" charset="0"/>
              </a:rPr>
              <a:t> in the rightmost column represent each cell with a dot that is color-coded according to the biological replicate it came from. The P values represent an unpaired two-tailed t test (A) and a paired two-tailed t test (B–D). For tutorials on making </a:t>
            </a:r>
            <a:r>
              <a:rPr lang="en-US" altLang="en-US" sz="1200" dirty="0" err="1">
                <a:latin typeface="Helvetica" panose="020B0604020202020204" pitchFamily="34" charset="0"/>
                <a:cs typeface="Helvetica" panose="020B0604020202020204" pitchFamily="34" charset="0"/>
              </a:rPr>
              <a:t>SuperPlots</a:t>
            </a:r>
            <a:r>
              <a:rPr lang="en-US" altLang="en-US" sz="1200" dirty="0">
                <a:latin typeface="Helvetica" panose="020B0604020202020204" pitchFamily="34" charset="0"/>
                <a:cs typeface="Helvetica" panose="020B0604020202020204" pitchFamily="34" charset="0"/>
              </a:rPr>
              <a:t> in Prism, R, Python, and Excel, see the supporting information.
</a:t>
            </a:r>
          </a:p>
          <a:p>
            <a:endParaRPr lang="en-US" altLang="en-US" dirty="0">
              <a:latin typeface="Arial" panose="020B0604020202020204" pitchFamily="34" charset="0"/>
              <a:ea typeface="ＭＳ Ｐゴシック" panose="020B0600070205080204" pitchFamily="34" charset="-128"/>
            </a:endParaRPr>
          </a:p>
        </p:txBody>
      </p:sp>
      <p:sp>
        <p:nvSpPr>
          <p:cNvPr id="5124" name="Slide Number Placeholder 3">
            <a:extLst>
              <a:ext uri="{FF2B5EF4-FFF2-40B4-BE49-F238E27FC236}">
                <a16:creationId xmlns:a16="http://schemas.microsoft.com/office/drawing/2014/main" id="{980A1E6B-2232-46B8-B27D-EBC8B97C2D9E}"/>
              </a:ext>
            </a:extLst>
          </p:cNvPr>
          <p:cNvSpPr>
            <a:spLocks noGrp="1" noChangeArrowheads="1"/>
          </p:cNvSpPr>
          <p:nvPr>
            <p:ph type="sldNum" sz="quarter" idx="5"/>
            <p:custDataLst>
              <p:tags r:id="rId3"/>
            </p:custDataLst>
          </p:nvPr>
        </p:nvSpPr>
        <p:spPr>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anchor="t"/>
          <a:lstStyle/>
          <a:p>
            <a:fld id="{CE0E7A8B-F556-4D12-B6E7-FB4392EDB1C4}" type="slidenum">
              <a:rPr lang="en-US" altLang="en-US"/>
              <a:pPr/>
              <a:t>22</a:t>
            </a:fld>
            <a:endParaRPr lang="en-US" altLang="en-US"/>
          </a:p>
        </p:txBody>
      </p:sp>
    </p:spTree>
    <p:extLst>
      <p:ext uri="{BB962C8B-B14F-4D97-AF65-F5344CB8AC3E}">
        <p14:creationId xmlns:p14="http://schemas.microsoft.com/office/powerpoint/2010/main" val="3169676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another way to display the figure showing the outline of the population distribution. The paper also has supplemental materials showing exactly how to generate </a:t>
            </a:r>
            <a:r>
              <a:rPr lang="en-CA" dirty="0" err="1"/>
              <a:t>SuperPlots</a:t>
            </a:r>
            <a:r>
              <a:rPr lang="en-CA" dirty="0"/>
              <a:t> using Prism, Excel, R and Python.</a:t>
            </a:r>
          </a:p>
        </p:txBody>
      </p:sp>
    </p:spTree>
    <p:extLst>
      <p:ext uri="{BB962C8B-B14F-4D97-AF65-F5344CB8AC3E}">
        <p14:creationId xmlns:p14="http://schemas.microsoft.com/office/powerpoint/2010/main" val="403612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a:t>PlotsOfData</a:t>
            </a:r>
            <a:r>
              <a:rPr lang="en-CA" dirty="0"/>
              <a:t> is an excellent online tool to make super plots.</a:t>
            </a:r>
          </a:p>
        </p:txBody>
      </p:sp>
    </p:spTree>
    <p:extLst>
      <p:ext uri="{BB962C8B-B14F-4D97-AF65-F5344CB8AC3E}">
        <p14:creationId xmlns:p14="http://schemas.microsoft.com/office/powerpoint/2010/main" val="14797804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Display colours all look saturated. No scale bar. Not colour blind friendly.</a:t>
            </a:r>
          </a:p>
        </p:txBody>
      </p:sp>
    </p:spTree>
    <p:extLst>
      <p:ext uri="{BB962C8B-B14F-4D97-AF65-F5344CB8AC3E}">
        <p14:creationId xmlns:p14="http://schemas.microsoft.com/office/powerpoint/2010/main" val="1893137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dirty="0"/>
              <a:t>Display colours all look saturated. No scale bar. Many not be colour blind friendly.</a:t>
            </a:r>
          </a:p>
          <a:p>
            <a:endParaRPr lang="en-CA" dirty="0"/>
          </a:p>
        </p:txBody>
      </p:sp>
    </p:spTree>
    <p:extLst>
      <p:ext uri="{BB962C8B-B14F-4D97-AF65-F5344CB8AC3E}">
        <p14:creationId xmlns:p14="http://schemas.microsoft.com/office/powerpoint/2010/main" val="2764971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dirty="0"/>
              <a:t>No scale bar. Not colour blind friendly. No units on the x-axis of the line pixel intensity profiles.</a:t>
            </a:r>
          </a:p>
          <a:p>
            <a:endParaRPr lang="en-CA" dirty="0"/>
          </a:p>
        </p:txBody>
      </p:sp>
    </p:spTree>
    <p:extLst>
      <p:ext uri="{BB962C8B-B14F-4D97-AF65-F5344CB8AC3E}">
        <p14:creationId xmlns:p14="http://schemas.microsoft.com/office/powerpoint/2010/main" val="899413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dirty="0"/>
              <a:t>Display colours all look saturated. No scale bar. Not colour blind friendly.</a:t>
            </a:r>
          </a:p>
          <a:p>
            <a:endParaRPr lang="en-CA" dirty="0"/>
          </a:p>
        </p:txBody>
      </p:sp>
    </p:spTree>
    <p:extLst>
      <p:ext uri="{BB962C8B-B14F-4D97-AF65-F5344CB8AC3E}">
        <p14:creationId xmlns:p14="http://schemas.microsoft.com/office/powerpoint/2010/main" val="1188450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dirty="0"/>
              <a:t>Blue display colour looks saturated in the first panel. Why does the DAPI stain also decrease with the treatment? Not colour blind friendly.</a:t>
            </a:r>
          </a:p>
          <a:p>
            <a:endParaRPr lang="en-CA" dirty="0"/>
          </a:p>
        </p:txBody>
      </p:sp>
    </p:spTree>
    <p:extLst>
      <p:ext uri="{BB962C8B-B14F-4D97-AF65-F5344CB8AC3E}">
        <p14:creationId xmlns:p14="http://schemas.microsoft.com/office/powerpoint/2010/main" val="368767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dirty="0"/>
              <a:t>Display colours all look saturated. No scale bar. Not colour blind friendly.</a:t>
            </a:r>
          </a:p>
        </p:txBody>
      </p:sp>
    </p:spTree>
    <p:extLst>
      <p:ext uri="{BB962C8B-B14F-4D97-AF65-F5344CB8AC3E}">
        <p14:creationId xmlns:p14="http://schemas.microsoft.com/office/powerpoint/2010/main" val="4029744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000" spc="-38" baseline="0">
                <a:solidFill>
                  <a:srgbClr val="C00000"/>
                </a:solidFill>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6C528F-8EBC-4B43-A883-BE283D2C2BD6}" type="datetime1">
              <a:rPr lang="en-CA" smtClean="0"/>
              <a:t>2026-05-25</a:t>
            </a:fld>
            <a:endParaRPr lang="fr-CA"/>
          </a:p>
        </p:txBody>
      </p:sp>
      <p:sp>
        <p:nvSpPr>
          <p:cNvPr id="6" name="Slide Number Placeholder 5"/>
          <p:cNvSpPr>
            <a:spLocks noGrp="1"/>
          </p:cNvSpPr>
          <p:nvPr>
            <p:ph type="sldNum" sz="quarter" idx="12"/>
          </p:nvPr>
        </p:nvSpPr>
        <p:spPr/>
        <p:txBody>
          <a:bodyPr/>
          <a:lstStyle/>
          <a:p>
            <a:fld id="{52B199FE-8D1D-41C7-8040-B5BAD29DE590}" type="slidenum">
              <a:rPr lang="en-US" smtClean="0"/>
              <a:pPr/>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773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05C028-F2A6-4C4E-AEED-FDAD8CE09F2C}" type="datetime1">
              <a:rPr lang="en-CA" smtClean="0"/>
              <a:t>2026-05-25</a:t>
            </a:fld>
            <a:endParaRPr lang="fr-CA"/>
          </a:p>
        </p:txBody>
      </p:sp>
      <p:sp>
        <p:nvSpPr>
          <p:cNvPr id="6" name="Slide Number Placeholder 5"/>
          <p:cNvSpPr>
            <a:spLocks noGrp="1"/>
          </p:cNvSpPr>
          <p:nvPr>
            <p:ph type="sldNum" sz="quarter" idx="12"/>
          </p:nvPr>
        </p:nvSpPr>
        <p:spPr/>
        <p:txBody>
          <a:bodyPr/>
          <a:lstStyle/>
          <a:p>
            <a:fld id="{52B199FE-8D1D-41C7-8040-B5BAD29DE590}" type="slidenum">
              <a:rPr lang="en-US" smtClean="0"/>
              <a:pPr/>
              <a:t>‹#›</a:t>
            </a:fld>
            <a:endParaRPr lang="en-US"/>
          </a:p>
        </p:txBody>
      </p:sp>
    </p:spTree>
    <p:extLst>
      <p:ext uri="{BB962C8B-B14F-4D97-AF65-F5344CB8AC3E}">
        <p14:creationId xmlns:p14="http://schemas.microsoft.com/office/powerpoint/2010/main" val="1596266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6000" b="0">
                <a:solidFill>
                  <a:srgbClr val="C00000"/>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E9E087-2AFD-4872-B40D-527D5403E39F}" type="datetime1">
              <a:rPr lang="en-CA" smtClean="0"/>
              <a:t>2026-05-25</a:t>
            </a:fld>
            <a:endParaRPr lang="fr-CA"/>
          </a:p>
        </p:txBody>
      </p:sp>
      <p:sp>
        <p:nvSpPr>
          <p:cNvPr id="6" name="Slide Number Placeholder 5"/>
          <p:cNvSpPr>
            <a:spLocks noGrp="1"/>
          </p:cNvSpPr>
          <p:nvPr>
            <p:ph type="sldNum" sz="quarter" idx="12"/>
          </p:nvPr>
        </p:nvSpPr>
        <p:spPr/>
        <p:txBody>
          <a:bodyPr/>
          <a:lstStyle/>
          <a:p>
            <a:fld id="{52B199FE-8D1D-41C7-8040-B5BAD29DE590}" type="slidenum">
              <a:rPr lang="en-US" smtClean="0"/>
              <a:pPr/>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530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81000" y="314485"/>
            <a:ext cx="11430000" cy="674420"/>
          </a:xfrm>
        </p:spPr>
        <p:txBody>
          <a:bodyPr/>
          <a:lstStyle/>
          <a:p>
            <a:r>
              <a:rPr lang="en-US" dirty="0"/>
              <a:t>Click to edit Master title style</a:t>
            </a:r>
          </a:p>
        </p:txBody>
      </p:sp>
      <p:sp>
        <p:nvSpPr>
          <p:cNvPr id="3" name="Content Placeholder 2"/>
          <p:cNvSpPr>
            <a:spLocks noGrp="1"/>
          </p:cNvSpPr>
          <p:nvPr>
            <p:ph sz="half" idx="1"/>
          </p:nvPr>
        </p:nvSpPr>
        <p:spPr>
          <a:xfrm>
            <a:off x="381000" y="1143000"/>
            <a:ext cx="5654039" cy="472609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143000"/>
            <a:ext cx="5593080" cy="47260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66B031-2A6B-4AE7-8903-AEF99EBBFFA6}" type="datetime1">
              <a:rPr lang="en-CA" smtClean="0"/>
              <a:t>2026-05-25</a:t>
            </a:fld>
            <a:endParaRPr lang="fr-CA"/>
          </a:p>
        </p:txBody>
      </p:sp>
      <p:sp>
        <p:nvSpPr>
          <p:cNvPr id="7" name="Slide Number Placeholder 6"/>
          <p:cNvSpPr>
            <a:spLocks noGrp="1"/>
          </p:cNvSpPr>
          <p:nvPr>
            <p:ph type="sldNum" sz="quarter" idx="12"/>
          </p:nvPr>
        </p:nvSpPr>
        <p:spPr/>
        <p:txBody>
          <a:bodyPr/>
          <a:lstStyle/>
          <a:p>
            <a:fld id="{52B199FE-8D1D-41C7-8040-B5BAD29DE590}" type="slidenum">
              <a:rPr lang="en-US" smtClean="0"/>
              <a:pPr/>
              <a:t>‹#›</a:t>
            </a:fld>
            <a:endParaRPr lang="en-US"/>
          </a:p>
        </p:txBody>
      </p:sp>
    </p:spTree>
    <p:extLst>
      <p:ext uri="{BB962C8B-B14F-4D97-AF65-F5344CB8AC3E}">
        <p14:creationId xmlns:p14="http://schemas.microsoft.com/office/powerpoint/2010/main" val="2725890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304800" y="286605"/>
            <a:ext cx="11506200" cy="678277"/>
          </a:xfrm>
        </p:spPr>
        <p:txBody>
          <a:bodyPr/>
          <a:lstStyle/>
          <a:p>
            <a:r>
              <a:rPr lang="en-US" dirty="0"/>
              <a:t>Click to edit Master title style</a:t>
            </a:r>
          </a:p>
        </p:txBody>
      </p:sp>
      <p:sp>
        <p:nvSpPr>
          <p:cNvPr id="3" name="Text Placeholder 2"/>
          <p:cNvSpPr>
            <a:spLocks noGrp="1"/>
          </p:cNvSpPr>
          <p:nvPr>
            <p:ph type="body" idx="1"/>
          </p:nvPr>
        </p:nvSpPr>
        <p:spPr>
          <a:xfrm>
            <a:off x="304800" y="1066800"/>
            <a:ext cx="573024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304800" y="1905000"/>
            <a:ext cx="5730240" cy="40555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066800"/>
            <a:ext cx="559308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217920" y="1905000"/>
            <a:ext cx="5593080" cy="40555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66672C-4E26-4D4B-95DE-8E368BF0E0AB}" type="datetime1">
              <a:rPr lang="en-CA" smtClean="0"/>
              <a:t>2026-05-25</a:t>
            </a:fld>
            <a:endParaRPr lang="fr-CA"/>
          </a:p>
        </p:txBody>
      </p:sp>
      <p:sp>
        <p:nvSpPr>
          <p:cNvPr id="9" name="Slide Number Placeholder 8"/>
          <p:cNvSpPr>
            <a:spLocks noGrp="1"/>
          </p:cNvSpPr>
          <p:nvPr>
            <p:ph type="sldNum" sz="quarter" idx="12"/>
          </p:nvPr>
        </p:nvSpPr>
        <p:spPr/>
        <p:txBody>
          <a:bodyPr/>
          <a:lstStyle/>
          <a:p>
            <a:fld id="{52B199FE-8D1D-41C7-8040-B5BAD29DE590}" type="slidenum">
              <a:rPr lang="en-US" smtClean="0"/>
              <a:pPr/>
              <a:t>‹#›</a:t>
            </a:fld>
            <a:endParaRPr lang="en-US"/>
          </a:p>
        </p:txBody>
      </p:sp>
    </p:spTree>
    <p:extLst>
      <p:ext uri="{BB962C8B-B14F-4D97-AF65-F5344CB8AC3E}">
        <p14:creationId xmlns:p14="http://schemas.microsoft.com/office/powerpoint/2010/main" val="3514089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z="2000"/>
            </a:lvl1pPr>
          </a:lstStyle>
          <a:p>
            <a:fld id="{4BFD278A-797B-48B3-8411-F6E1D3A1983A}" type="datetime1">
              <a:rPr lang="en-CA" smtClean="0"/>
              <a:t>2026-05-25</a:t>
            </a:fld>
            <a:endParaRPr lang="fr-CA"/>
          </a:p>
        </p:txBody>
      </p:sp>
      <p:sp>
        <p:nvSpPr>
          <p:cNvPr id="5" name="Slide Number Placeholder 4"/>
          <p:cNvSpPr>
            <a:spLocks noGrp="1"/>
          </p:cNvSpPr>
          <p:nvPr>
            <p:ph type="sldNum" sz="quarter" idx="12"/>
          </p:nvPr>
        </p:nvSpPr>
        <p:spPr/>
        <p:txBody>
          <a:bodyPr/>
          <a:lstStyle>
            <a:lvl1pPr>
              <a:defRPr sz="2000"/>
            </a:lvl1pPr>
          </a:lstStyle>
          <a:p>
            <a:fld id="{52B199FE-8D1D-41C7-8040-B5BAD29DE590}" type="slidenum">
              <a:rPr lang="en-US" smtClean="0"/>
              <a:pPr/>
              <a:t>‹#›</a:t>
            </a:fld>
            <a:endParaRPr lang="en-US"/>
          </a:p>
        </p:txBody>
      </p:sp>
    </p:spTree>
    <p:extLst>
      <p:ext uri="{BB962C8B-B14F-4D97-AF65-F5344CB8AC3E}">
        <p14:creationId xmlns:p14="http://schemas.microsoft.com/office/powerpoint/2010/main" val="3625716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1EA7782-BD3A-465A-9D21-215D97E88C73}" type="datetime1">
              <a:rPr lang="en-CA" smtClean="0"/>
              <a:t>2026-05-25</a:t>
            </a:fld>
            <a:endParaRPr lang="fr-CA"/>
          </a:p>
        </p:txBody>
      </p:sp>
      <p:sp>
        <p:nvSpPr>
          <p:cNvPr id="9" name="Slide Number Placeholder 8"/>
          <p:cNvSpPr>
            <a:spLocks noGrp="1"/>
          </p:cNvSpPr>
          <p:nvPr>
            <p:ph type="sldNum" sz="quarter" idx="12"/>
          </p:nvPr>
        </p:nvSpPr>
        <p:spPr/>
        <p:txBody>
          <a:bodyPr/>
          <a:lstStyle/>
          <a:p>
            <a:fld id="{52B199FE-8D1D-41C7-8040-B5BAD29DE590}" type="slidenum">
              <a:rPr lang="en-US" smtClean="0"/>
              <a:pPr/>
              <a:t>‹#›</a:t>
            </a:fld>
            <a:endParaRPr lang="en-US"/>
          </a:p>
        </p:txBody>
      </p:sp>
    </p:spTree>
    <p:extLst>
      <p:ext uri="{BB962C8B-B14F-4D97-AF65-F5344CB8AC3E}">
        <p14:creationId xmlns:p14="http://schemas.microsoft.com/office/powerpoint/2010/main" val="124377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fld id="{ED10A5EB-FAB0-4EAA-962B-630834898246}" type="datetime1">
              <a:rPr lang="en-CA" smtClean="0"/>
              <a:t>2026-05-25</a:t>
            </a:fld>
            <a:endParaRPr lang="fr-CA"/>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2B199FE-8D1D-41C7-8040-B5BAD29DE590}" type="slidenum">
              <a:rPr lang="en-US" smtClean="0"/>
              <a:pPr/>
              <a:t>‹#›</a:t>
            </a:fld>
            <a:endParaRPr lang="en-US"/>
          </a:p>
        </p:txBody>
      </p:sp>
    </p:spTree>
    <p:extLst>
      <p:ext uri="{BB962C8B-B14F-4D97-AF65-F5344CB8AC3E}">
        <p14:creationId xmlns:p14="http://schemas.microsoft.com/office/powerpoint/2010/main" val="1954691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solidFill>
            <a:schemeClr val="bg2">
              <a:lumMod val="90000"/>
            </a:schemeClr>
          </a:solidFill>
        </p:spPr>
        <p:txBody>
          <a:bodyPr lIns="457200" tIns="45720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B3CB115-CC99-4B29-9A02-85E267C4372C}" type="datetime1">
              <a:rPr lang="en-CA" smtClean="0"/>
              <a:t>2026-05-25</a:t>
            </a:fld>
            <a:endParaRPr lang="fr-CA"/>
          </a:p>
        </p:txBody>
      </p:sp>
      <p:sp>
        <p:nvSpPr>
          <p:cNvPr id="6" name="Footer Placeholder 5"/>
          <p:cNvSpPr>
            <a:spLocks noGrp="1"/>
          </p:cNvSpPr>
          <p:nvPr>
            <p:ph type="ftr" sz="quarter" idx="11"/>
          </p:nvPr>
        </p:nvSpPr>
        <p:spPr>
          <a:xfrm>
            <a:off x="3686186" y="6459787"/>
            <a:ext cx="4822804" cy="365125"/>
          </a:xfrm>
          <a:prstGeom prst="rect">
            <a:avLst/>
          </a:prstGeom>
        </p:spPr>
        <p:txBody>
          <a:bodyPr/>
          <a:lstStyle/>
          <a:p>
            <a:endParaRPr lang="fr-CA"/>
          </a:p>
        </p:txBody>
      </p:sp>
      <p:sp>
        <p:nvSpPr>
          <p:cNvPr id="7" name="Slide Number Placeholder 6"/>
          <p:cNvSpPr>
            <a:spLocks noGrp="1"/>
          </p:cNvSpPr>
          <p:nvPr>
            <p:ph type="sldNum" sz="quarter" idx="12"/>
          </p:nvPr>
        </p:nvSpPr>
        <p:spPr/>
        <p:txBody>
          <a:bodyPr/>
          <a:lstStyle/>
          <a:p>
            <a:fld id="{52B199FE-8D1D-41C7-8040-B5BAD29DE590}" type="slidenum">
              <a:rPr lang="en-US" smtClean="0"/>
              <a:pPr/>
              <a:t>‹#›</a:t>
            </a:fld>
            <a:endParaRPr lang="en-US"/>
          </a:p>
        </p:txBody>
      </p:sp>
    </p:spTree>
    <p:extLst>
      <p:ext uri="{BB962C8B-B14F-4D97-AF65-F5344CB8AC3E}">
        <p14:creationId xmlns:p14="http://schemas.microsoft.com/office/powerpoint/2010/main" val="367463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F01AA0-6102-4B54-9372-0DF534034A89}" type="datetime1">
              <a:rPr lang="en-CA" smtClean="0"/>
              <a:t>2026-05-25</a:t>
            </a:fld>
            <a:endParaRPr lang="fr-CA"/>
          </a:p>
        </p:txBody>
      </p:sp>
      <p:sp>
        <p:nvSpPr>
          <p:cNvPr id="5" name="Footer Placeholder 4"/>
          <p:cNvSpPr>
            <a:spLocks noGrp="1"/>
          </p:cNvSpPr>
          <p:nvPr>
            <p:ph type="ftr" sz="quarter" idx="11"/>
          </p:nvPr>
        </p:nvSpPr>
        <p:spPr>
          <a:xfrm>
            <a:off x="3686186" y="6459787"/>
            <a:ext cx="4822804" cy="365125"/>
          </a:xfrm>
          <a:prstGeom prst="rect">
            <a:avLst/>
          </a:prstGeom>
        </p:spPr>
        <p:txBody>
          <a:bodyPr/>
          <a:lstStyle/>
          <a:p>
            <a:endParaRPr lang="fr-CA"/>
          </a:p>
        </p:txBody>
      </p:sp>
      <p:sp>
        <p:nvSpPr>
          <p:cNvPr id="6" name="Slide Number Placeholder 5"/>
          <p:cNvSpPr>
            <a:spLocks noGrp="1"/>
          </p:cNvSpPr>
          <p:nvPr>
            <p:ph type="sldNum" sz="quarter" idx="12"/>
          </p:nvPr>
        </p:nvSpPr>
        <p:spPr/>
        <p:txBody>
          <a:bodyPr/>
          <a:lstStyle/>
          <a:p>
            <a:fld id="{52B199FE-8D1D-41C7-8040-B5BAD29DE590}" type="slidenum">
              <a:rPr lang="en-US" smtClean="0"/>
              <a:pPr/>
              <a:t>‹#›</a:t>
            </a:fld>
            <a:endParaRPr lang="en-US"/>
          </a:p>
        </p:txBody>
      </p:sp>
    </p:spTree>
    <p:extLst>
      <p:ext uri="{BB962C8B-B14F-4D97-AF65-F5344CB8AC3E}">
        <p14:creationId xmlns:p14="http://schemas.microsoft.com/office/powerpoint/2010/main" val="233341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F79E34-0BD8-40EE-8344-BC594DC53ADF}" type="datetime1">
              <a:rPr lang="en-CA" smtClean="0"/>
              <a:t>2026-05-25</a:t>
            </a:fld>
            <a:endParaRPr lang="fr-CA"/>
          </a:p>
        </p:txBody>
      </p:sp>
      <p:sp>
        <p:nvSpPr>
          <p:cNvPr id="5" name="Footer Placeholder 4"/>
          <p:cNvSpPr>
            <a:spLocks noGrp="1"/>
          </p:cNvSpPr>
          <p:nvPr>
            <p:ph type="ftr" sz="quarter" idx="11"/>
          </p:nvPr>
        </p:nvSpPr>
        <p:spPr>
          <a:xfrm>
            <a:off x="3686186" y="6459787"/>
            <a:ext cx="4822804" cy="365125"/>
          </a:xfrm>
          <a:prstGeom prst="rect">
            <a:avLst/>
          </a:prstGeom>
        </p:spPr>
        <p:txBody>
          <a:bodyPr/>
          <a:lstStyle/>
          <a:p>
            <a:endParaRPr lang="fr-CA"/>
          </a:p>
        </p:txBody>
      </p:sp>
      <p:sp>
        <p:nvSpPr>
          <p:cNvPr id="6" name="Slide Number Placeholder 5"/>
          <p:cNvSpPr>
            <a:spLocks noGrp="1"/>
          </p:cNvSpPr>
          <p:nvPr>
            <p:ph type="sldNum" sz="quarter" idx="12"/>
          </p:nvPr>
        </p:nvSpPr>
        <p:spPr/>
        <p:txBody>
          <a:bodyPr/>
          <a:lstStyle/>
          <a:p>
            <a:fld id="{52B199FE-8D1D-41C7-8040-B5BAD29DE590}" type="slidenum">
              <a:rPr lang="en-US" smtClean="0"/>
              <a:pPr/>
              <a:t>‹#›</a:t>
            </a:fld>
            <a:endParaRPr lang="en-US"/>
          </a:p>
        </p:txBody>
      </p:sp>
    </p:spTree>
    <p:extLst>
      <p:ext uri="{BB962C8B-B14F-4D97-AF65-F5344CB8AC3E}">
        <p14:creationId xmlns:p14="http://schemas.microsoft.com/office/powerpoint/2010/main" val="1658942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a:t>Click to edit Master title style</a:t>
            </a:r>
          </a:p>
        </p:txBody>
      </p:sp>
      <p:sp>
        <p:nvSpPr>
          <p:cNvPr id="3" name="Content Placeholder 2"/>
          <p:cNvSpPr>
            <a:spLocks noGrp="1"/>
          </p:cNvSpPr>
          <p:nvPr>
            <p:ph sz="half" idx="1"/>
          </p:nvPr>
        </p:nvSpPr>
        <p:spPr>
          <a:xfrm>
            <a:off x="914400" y="1981200"/>
            <a:ext cx="103632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0" y="4114800"/>
            <a:ext cx="103632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
          <p:cNvSpPr>
            <a:spLocks noGrp="1"/>
          </p:cNvSpPr>
          <p:nvPr>
            <p:ph type="sldNum" sz="quarter" idx="4"/>
          </p:nvPr>
        </p:nvSpPr>
        <p:spPr>
          <a:xfrm>
            <a:off x="9245600" y="6492876"/>
            <a:ext cx="2844800" cy="365125"/>
          </a:xfrm>
          <a:prstGeom prst="rect">
            <a:avLst/>
          </a:prstGeom>
        </p:spPr>
        <p:txBody>
          <a:bodyPr vert="horz" lIns="91440" tIns="45720" rIns="91440" bIns="45720" rtlCol="0" anchor="ctr"/>
          <a:lstStyle>
            <a:lvl1pPr algn="r">
              <a:defRPr sz="2000">
                <a:solidFill>
                  <a:schemeClr val="bg1"/>
                </a:solidFill>
                <a:latin typeface="+mn-lt"/>
              </a:defRPr>
            </a:lvl1pPr>
          </a:lstStyle>
          <a:p>
            <a:fld id="{52B199FE-8D1D-41C7-8040-B5BAD29DE590}" type="slidenum">
              <a:rPr lang="en-US" smtClean="0"/>
              <a:pPr/>
              <a:t>‹#›</a:t>
            </a:fld>
            <a:endParaRPr lang="en-US"/>
          </a:p>
        </p:txBody>
      </p:sp>
    </p:spTree>
    <p:extLst>
      <p:ext uri="{BB962C8B-B14F-4D97-AF65-F5344CB8AC3E}">
        <p14:creationId xmlns:p14="http://schemas.microsoft.com/office/powerpoint/2010/main" val="1588028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2502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614085" y="-104775"/>
            <a:ext cx="8968316"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5225"/>
            <a:ext cx="2844800" cy="476250"/>
          </a:xfrm>
          <a:prstGeom prst="rect">
            <a:avLst/>
          </a:prstGeom>
        </p:spPr>
        <p:txBody>
          <a:bodyPr/>
          <a:lstStyle>
            <a:lvl1pPr>
              <a:defRPr/>
            </a:lvl1pPr>
          </a:lstStyle>
          <a:p>
            <a:pPr>
              <a:defRPr/>
            </a:pPr>
            <a:fld id="{BD22FA03-7E85-4F0F-A4D1-A5BE2419CC2A}" type="datetime1">
              <a:rPr lang="en-CA" smtClean="0"/>
              <a:t>2026-05-25</a:t>
            </a:fld>
            <a:endParaRPr lang="en-US"/>
          </a:p>
        </p:txBody>
      </p:sp>
      <p:sp>
        <p:nvSpPr>
          <p:cNvPr id="7" name="Footer Placeholder 6"/>
          <p:cNvSpPr>
            <a:spLocks noGrp="1"/>
          </p:cNvSpPr>
          <p:nvPr>
            <p:ph type="ftr" sz="quarter" idx="11"/>
          </p:nvPr>
        </p:nvSpPr>
        <p:spPr>
          <a:xfrm>
            <a:off x="4165600" y="6245225"/>
            <a:ext cx="3860800" cy="476250"/>
          </a:xfrm>
          <a:prstGeom prst="rect">
            <a:avLst/>
          </a:prstGeo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8737600" y="6245225"/>
            <a:ext cx="2844800" cy="476250"/>
          </a:xfrm>
          <a:prstGeom prst="rect">
            <a:avLst/>
          </a:prstGeom>
        </p:spPr>
        <p:txBody>
          <a:bodyPr/>
          <a:lstStyle>
            <a:lvl1pPr>
              <a:defRPr/>
            </a:lvl1pPr>
          </a:lstStyle>
          <a:p>
            <a:pPr>
              <a:defRPr/>
            </a:pPr>
            <a:fld id="{03FA4ED5-182E-4A78-8792-6A646866FB2B}" type="slidenum">
              <a:rPr lang="en-US"/>
              <a:pPr>
                <a:defRPr/>
              </a:pPr>
              <a:t>‹#›</a:t>
            </a:fld>
            <a:endParaRPr lang="en-US"/>
          </a:p>
        </p:txBody>
      </p:sp>
    </p:spTree>
    <p:extLst>
      <p:ext uri="{BB962C8B-B14F-4D97-AF65-F5344CB8AC3E}">
        <p14:creationId xmlns:p14="http://schemas.microsoft.com/office/powerpoint/2010/main" val="3666417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dirty="0"/>
          </a:p>
        </p:txBody>
      </p:sp>
      <p:sp>
        <p:nvSpPr>
          <p:cNvPr id="9" name="Rectangle 8"/>
          <p:cNvSpPr/>
          <p:nvPr/>
        </p:nvSpPr>
        <p:spPr>
          <a:xfrm>
            <a:off x="17"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304800" y="286605"/>
            <a:ext cx="11506200" cy="62779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04800" y="1066801"/>
            <a:ext cx="11506200" cy="4802293"/>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04800" y="6459787"/>
            <a:ext cx="2472271" cy="365125"/>
          </a:xfrm>
          <a:prstGeom prst="rect">
            <a:avLst/>
          </a:prstGeom>
        </p:spPr>
        <p:txBody>
          <a:bodyPr vert="horz" lIns="91440" tIns="45720" rIns="91440" bIns="45720" rtlCol="0" anchor="ctr"/>
          <a:lstStyle>
            <a:lvl1pPr algn="l">
              <a:defRPr sz="2000" b="1">
                <a:solidFill>
                  <a:srgbClr val="FFFFFF"/>
                </a:solidFill>
              </a:defRPr>
            </a:lvl1pPr>
          </a:lstStyle>
          <a:p>
            <a:fld id="{54E9A082-B142-4E7E-A4C0-C98AB8032216}" type="datetime1">
              <a:rPr lang="en-CA" smtClean="0"/>
              <a:t>2026-05-25</a:t>
            </a:fld>
            <a:endParaRPr lang="fr-CA" dirty="0"/>
          </a:p>
        </p:txBody>
      </p:sp>
      <p:sp>
        <p:nvSpPr>
          <p:cNvPr id="6" name="Slide Number Placeholder 5"/>
          <p:cNvSpPr>
            <a:spLocks noGrp="1"/>
          </p:cNvSpPr>
          <p:nvPr>
            <p:ph type="sldNum" sz="quarter" idx="4"/>
          </p:nvPr>
        </p:nvSpPr>
        <p:spPr>
          <a:xfrm>
            <a:off x="10498975" y="6459787"/>
            <a:ext cx="1312025" cy="365125"/>
          </a:xfrm>
          <a:prstGeom prst="rect">
            <a:avLst/>
          </a:prstGeom>
        </p:spPr>
        <p:txBody>
          <a:bodyPr vert="horz" lIns="91440" tIns="45720" rIns="91440" bIns="45720" rtlCol="0" anchor="ctr"/>
          <a:lstStyle>
            <a:lvl1pPr algn="r">
              <a:defRPr sz="2000" b="1">
                <a:solidFill>
                  <a:srgbClr val="FFFFFF"/>
                </a:solidFill>
              </a:defRPr>
            </a:lvl1pPr>
          </a:lstStyle>
          <a:p>
            <a:fld id="{52B199FE-8D1D-41C7-8040-B5BAD29DE590}" type="slidenum">
              <a:rPr lang="en-US" smtClean="0"/>
              <a:pPr/>
              <a:t>‹#›</a:t>
            </a:fld>
            <a:endParaRPr lang="en-US"/>
          </a:p>
        </p:txBody>
      </p:sp>
      <p:cxnSp>
        <p:nvCxnSpPr>
          <p:cNvPr id="10" name="Straight Connector 9"/>
          <p:cNvCxnSpPr>
            <a:cxnSpLocks/>
          </p:cNvCxnSpPr>
          <p:nvPr/>
        </p:nvCxnSpPr>
        <p:spPr>
          <a:xfrm>
            <a:off x="304800" y="990600"/>
            <a:ext cx="115062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984814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hdr="0" ftr="0"/>
  <p:txStyles>
    <p:titleStyle>
      <a:lvl1pPr algn="l" defTabSz="685800" rtl="0" eaLnBrk="1" latinLnBrk="0" hangingPunct="1">
        <a:lnSpc>
          <a:spcPct val="85000"/>
        </a:lnSpc>
        <a:spcBef>
          <a:spcPct val="0"/>
        </a:spcBef>
        <a:buNone/>
        <a:defRPr sz="3600" kern="1200" cap="small" spc="-38" baseline="0">
          <a:solidFill>
            <a:srgbClr val="C00000"/>
          </a:solidFill>
          <a:latin typeface="+mn-lt"/>
          <a:ea typeface="+mj-ea"/>
          <a:cs typeface="+mj-cs"/>
        </a:defRPr>
      </a:lvl1pPr>
    </p:titleStyle>
    <p:bodyStyle>
      <a:lvl1pPr marL="361950" indent="-361950" algn="l" defTabSz="685800" rtl="0" eaLnBrk="1" latinLnBrk="0" hangingPunct="1">
        <a:lnSpc>
          <a:spcPct val="90000"/>
        </a:lnSpc>
        <a:spcBef>
          <a:spcPts val="900"/>
        </a:spcBef>
        <a:spcAft>
          <a:spcPts val="150"/>
        </a:spcAft>
        <a:buClr>
          <a:srgbClr val="C00000"/>
        </a:buClr>
        <a:buSzPct val="100000"/>
        <a:buFont typeface="Wingdings" panose="05000000000000000000" pitchFamily="2" charset="2"/>
        <a:buChar char="v"/>
        <a:defRPr sz="2400" kern="1200">
          <a:solidFill>
            <a:schemeClr val="tx1">
              <a:lumMod val="75000"/>
              <a:lumOff val="25000"/>
            </a:schemeClr>
          </a:solidFill>
          <a:latin typeface="+mn-lt"/>
          <a:ea typeface="+mn-ea"/>
          <a:cs typeface="+mn-cs"/>
        </a:defRPr>
      </a:lvl1pPr>
      <a:lvl2pPr marL="722313" indent="-360363" algn="l" defTabSz="685800" rtl="0" eaLnBrk="1" latinLnBrk="0" hangingPunct="1">
        <a:lnSpc>
          <a:spcPct val="90000"/>
        </a:lnSpc>
        <a:spcBef>
          <a:spcPts val="150"/>
        </a:spcBef>
        <a:spcAft>
          <a:spcPts val="300"/>
        </a:spcAft>
        <a:buClr>
          <a:srgbClr val="C00000"/>
        </a:buClr>
        <a:buFont typeface="Wingdings" panose="05000000000000000000" pitchFamily="2" charset="2"/>
        <a:buChar char="v"/>
        <a:defRPr sz="2000" kern="1200">
          <a:solidFill>
            <a:schemeClr val="tx1">
              <a:lumMod val="75000"/>
              <a:lumOff val="25000"/>
            </a:schemeClr>
          </a:solidFill>
          <a:latin typeface="+mn-lt"/>
          <a:ea typeface="+mn-ea"/>
          <a:cs typeface="+mn-cs"/>
        </a:defRPr>
      </a:lvl2pPr>
      <a:lvl3pPr marL="1073150" indent="-350838" algn="l" defTabSz="685800" rtl="0" eaLnBrk="1" latinLnBrk="0" hangingPunct="1">
        <a:lnSpc>
          <a:spcPct val="90000"/>
        </a:lnSpc>
        <a:spcBef>
          <a:spcPts val="150"/>
        </a:spcBef>
        <a:spcAft>
          <a:spcPts val="300"/>
        </a:spcAft>
        <a:buClr>
          <a:srgbClr val="C00000"/>
        </a:buClr>
        <a:buFont typeface="Wingdings" panose="05000000000000000000" pitchFamily="2" charset="2"/>
        <a:buChar char="v"/>
        <a:defRPr sz="1800" kern="1200">
          <a:solidFill>
            <a:schemeClr val="tx1">
              <a:lumMod val="75000"/>
              <a:lumOff val="25000"/>
            </a:schemeClr>
          </a:solidFill>
          <a:latin typeface="+mn-lt"/>
          <a:ea typeface="+mn-ea"/>
          <a:cs typeface="+mn-cs"/>
        </a:defRPr>
      </a:lvl3pPr>
      <a:lvl4pPr marL="1614488" indent="-136525" algn="l" defTabSz="685800" rtl="0" eaLnBrk="1" latinLnBrk="0" hangingPunct="1">
        <a:lnSpc>
          <a:spcPct val="90000"/>
        </a:lnSpc>
        <a:spcBef>
          <a:spcPts val="150"/>
        </a:spcBef>
        <a:spcAft>
          <a:spcPts val="300"/>
        </a:spcAft>
        <a:buClr>
          <a:srgbClr val="C00000"/>
        </a:buClr>
        <a:buFont typeface="Wingdings" panose="05000000000000000000" pitchFamily="2" charset="2"/>
        <a:buChar char="v"/>
        <a:defRPr sz="1600" kern="1200">
          <a:solidFill>
            <a:schemeClr val="tx1">
              <a:lumMod val="75000"/>
              <a:lumOff val="25000"/>
            </a:schemeClr>
          </a:solidFill>
          <a:latin typeface="+mn-lt"/>
          <a:ea typeface="+mn-ea"/>
          <a:cs typeface="+mn-cs"/>
        </a:defRPr>
      </a:lvl4pPr>
      <a:lvl5pPr marL="2155825" indent="-180975" algn="l" defTabSz="685800" rtl="0" eaLnBrk="1" latinLnBrk="0" hangingPunct="1">
        <a:lnSpc>
          <a:spcPct val="90000"/>
        </a:lnSpc>
        <a:spcBef>
          <a:spcPts val="150"/>
        </a:spcBef>
        <a:spcAft>
          <a:spcPts val="300"/>
        </a:spcAft>
        <a:buClr>
          <a:srgbClr val="C00000"/>
        </a:buClr>
        <a:buFont typeface="Wingdings" panose="05000000000000000000" pitchFamily="2" charset="2"/>
        <a:buChar char="v"/>
        <a:defRPr sz="140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s://pubmed.ncbi.nlm.nih.gov/17502480/" TargetMode="External"/><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jpeg"/><Relationship Id="rId7" Type="http://schemas.openxmlformats.org/officeDocument/2006/relationships/image" Target="../media/image15.png"/><Relationship Id="rId12"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13.jpeg"/><Relationship Id="rId15" Type="http://schemas.openxmlformats.org/officeDocument/2006/relationships/hyperlink" Target="https://pubmed.ncbi.nlm.nih.gov/17502480/" TargetMode="External"/><Relationship Id="rId10" Type="http://schemas.openxmlformats.org/officeDocument/2006/relationships/image" Target="../media/image18.jpeg"/><Relationship Id="rId4" Type="http://schemas.openxmlformats.org/officeDocument/2006/relationships/image" Target="../media/image12.jpeg"/><Relationship Id="rId9" Type="http://schemas.openxmlformats.org/officeDocument/2006/relationships/image" Target="../media/image1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9.jpg"/><Relationship Id="rId4" Type="http://schemas.openxmlformats.org/officeDocument/2006/relationships/image" Target="../media/image28.jpg"/></Relationships>
</file>

<file path=ppt/slides/_rels/slide6.xml.rels><?xml version="1.0" encoding="UTF-8" standalone="yes"?>
<Relationships xmlns="http://schemas.openxmlformats.org/package/2006/relationships"><Relationship Id="rId3" Type="http://schemas.openxmlformats.org/officeDocument/2006/relationships/hyperlink" Target="https://www.color-blindness.com/coblis-color-blindness-simulato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hyperlink" Target="https://jcs.biologists.org/content/133/4/jcs242834.long" TargetMode="Externa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hyperlink" Target="https://www.nature.com/collections/qghhq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www.nature.com/articles/s41596-020-0307-7" TargetMode="Externa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hyperlink" Target="https://www.nature.com/documents/nr-reporting-summary.pdf"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4.gif"/><Relationship Id="rId4" Type="http://schemas.openxmlformats.org/officeDocument/2006/relationships/image" Target="../media/image43.gif"/></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hyperlink" Target="https://pubmed.ncbi.nlm.nih.gov/32346721/" TargetMode="Externa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hyperlink" Target="https://pubmed.ncbi.nlm.nih.gov/32346721/" TargetMode="Externa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hyperlink" Target="https://pubmed.ncbi.nlm.nih.gov/32346721/"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hyperlink" Target="https://pubmed.ncbi.nlm.nih.gov/32346721/"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huygens.science.uva.nl/PlotsOfData/"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hyperlink" Target="https://huygens.science.uva.nl/PlotsOfData/" TargetMode="Externa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hyperlink" Target="https://www.microscopyu.com/gallery-images/opossum-kidney-cortex-epithelial-cells-ok-line-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hyperlink" Target="http://micro.magnet.fsu.edu/primer/techniques/fluorescence/gallery/cells/ptk1/ptk1cells.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hyperlink" Target="http://www.spandidos-publications.com/ol/4/3/44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810178-EF10-4081-B633-ABAFD3D738E4}"/>
              </a:ext>
            </a:extLst>
          </p:cNvPr>
          <p:cNvSpPr>
            <a:spLocks noGrp="1"/>
          </p:cNvSpPr>
          <p:nvPr>
            <p:ph type="title"/>
          </p:nvPr>
        </p:nvSpPr>
        <p:spPr/>
        <p:txBody>
          <a:bodyPr/>
          <a:lstStyle/>
          <a:p>
            <a:r>
              <a:rPr lang="en-CA" dirty="0"/>
              <a:t>Image Display Settings</a:t>
            </a:r>
          </a:p>
        </p:txBody>
      </p:sp>
      <p:sp>
        <p:nvSpPr>
          <p:cNvPr id="6" name="Text Placeholder 5">
            <a:extLst>
              <a:ext uri="{FF2B5EF4-FFF2-40B4-BE49-F238E27FC236}">
                <a16:creationId xmlns:a16="http://schemas.microsoft.com/office/drawing/2014/main" id="{EB8B79F9-C41D-42F4-BC67-C3357E05982E}"/>
              </a:ext>
            </a:extLst>
          </p:cNvPr>
          <p:cNvSpPr>
            <a:spLocks noGrp="1"/>
          </p:cNvSpPr>
          <p:nvPr>
            <p:ph type="body" idx="1"/>
          </p:nvPr>
        </p:nvSpPr>
        <p:spPr/>
        <p:txBody>
          <a:bodyPr/>
          <a:lstStyle/>
          <a:p>
            <a:endParaRPr lang="en-CA"/>
          </a:p>
        </p:txBody>
      </p:sp>
      <p:sp>
        <p:nvSpPr>
          <p:cNvPr id="3" name="Date Placeholder 2">
            <a:extLst>
              <a:ext uri="{FF2B5EF4-FFF2-40B4-BE49-F238E27FC236}">
                <a16:creationId xmlns:a16="http://schemas.microsoft.com/office/drawing/2014/main" id="{AD0AE82C-8F19-4E6B-BD2B-8A26761D8EE3}"/>
              </a:ext>
            </a:extLst>
          </p:cNvPr>
          <p:cNvSpPr>
            <a:spLocks noGrp="1"/>
          </p:cNvSpPr>
          <p:nvPr>
            <p:ph type="dt" sz="half" idx="10"/>
          </p:nvPr>
        </p:nvSpPr>
        <p:spPr/>
        <p:txBody>
          <a:bodyPr/>
          <a:lstStyle/>
          <a:p>
            <a:fld id="{4BFD278A-797B-48B3-8411-F6E1D3A1983A}" type="datetime1">
              <a:rPr lang="en-CA" smtClean="0"/>
              <a:t>2026-05-25</a:t>
            </a:fld>
            <a:endParaRPr lang="fr-CA"/>
          </a:p>
        </p:txBody>
      </p:sp>
      <p:sp>
        <p:nvSpPr>
          <p:cNvPr id="4" name="Slide Number Placeholder 3">
            <a:extLst>
              <a:ext uri="{FF2B5EF4-FFF2-40B4-BE49-F238E27FC236}">
                <a16:creationId xmlns:a16="http://schemas.microsoft.com/office/drawing/2014/main" id="{C93E2DA9-E6E2-4E67-AE18-E900B226ECAE}"/>
              </a:ext>
            </a:extLst>
          </p:cNvPr>
          <p:cNvSpPr>
            <a:spLocks noGrp="1"/>
          </p:cNvSpPr>
          <p:nvPr>
            <p:ph type="sldNum" sz="quarter" idx="12"/>
          </p:nvPr>
        </p:nvSpPr>
        <p:spPr/>
        <p:txBody>
          <a:bodyPr/>
          <a:lstStyle/>
          <a:p>
            <a:fld id="{52B199FE-8D1D-41C7-8040-B5BAD29DE590}" type="slidenum">
              <a:rPr lang="en-US" smtClean="0"/>
              <a:pPr/>
              <a:t>1</a:t>
            </a:fld>
            <a:endParaRPr lang="en-US"/>
          </a:p>
        </p:txBody>
      </p:sp>
    </p:spTree>
    <p:extLst>
      <p:ext uri="{BB962C8B-B14F-4D97-AF65-F5344CB8AC3E}">
        <p14:creationId xmlns:p14="http://schemas.microsoft.com/office/powerpoint/2010/main" val="2825761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568CFCE-177F-49C4-BD3B-BC824703908B}"/>
              </a:ext>
            </a:extLst>
          </p:cNvPr>
          <p:cNvSpPr>
            <a:spLocks noGrp="1"/>
          </p:cNvSpPr>
          <p:nvPr>
            <p:ph idx="1"/>
          </p:nvPr>
        </p:nvSpPr>
        <p:spPr/>
        <p:txBody>
          <a:bodyPr/>
          <a:lstStyle/>
          <a:p>
            <a:r>
              <a:rPr lang="en-CA" dirty="0"/>
              <a:t>Avoid blue and red look up tables.</a:t>
            </a:r>
          </a:p>
          <a:p>
            <a:r>
              <a:rPr lang="en-CA" dirty="0"/>
              <a:t>The human eye is most sensitive to green.</a:t>
            </a:r>
          </a:p>
          <a:p>
            <a:r>
              <a:rPr lang="en-CA" dirty="0"/>
              <a:t>Greyscale is best.</a:t>
            </a:r>
          </a:p>
          <a:p>
            <a:r>
              <a:rPr lang="en-CA" dirty="0"/>
              <a:t>Multicolour look up tables can highlight dim and bright features in the same image.</a:t>
            </a:r>
          </a:p>
        </p:txBody>
      </p:sp>
      <p:grpSp>
        <p:nvGrpSpPr>
          <p:cNvPr id="2" name="Group 18"/>
          <p:cNvGrpSpPr>
            <a:grpSpLocks noChangeAspect="1"/>
          </p:cNvGrpSpPr>
          <p:nvPr/>
        </p:nvGrpSpPr>
        <p:grpSpPr bwMode="auto">
          <a:xfrm>
            <a:off x="9601200" y="3297212"/>
            <a:ext cx="2110468" cy="2340000"/>
            <a:chOff x="6929438" y="2057400"/>
            <a:chExt cx="1482725" cy="1644650"/>
          </a:xfrm>
        </p:grpSpPr>
        <p:pic>
          <p:nvPicPr>
            <p:cNvPr id="67603" name="Picture 5"/>
            <p:cNvPicPr>
              <a:picLocks noChangeAspect="1" noChangeArrowheads="1"/>
            </p:cNvPicPr>
            <p:nvPr/>
          </p:nvPicPr>
          <p:blipFill>
            <a:blip r:embed="rId3" cstate="print"/>
            <a:srcRect/>
            <a:stretch>
              <a:fillRect/>
            </a:stretch>
          </p:blipFill>
          <p:spPr bwMode="auto">
            <a:xfrm>
              <a:off x="6929438" y="2057400"/>
              <a:ext cx="168275" cy="1639888"/>
            </a:xfrm>
            <a:prstGeom prst="rect">
              <a:avLst/>
            </a:prstGeom>
            <a:noFill/>
            <a:ln w="9525">
              <a:noFill/>
              <a:miter lim="800000"/>
              <a:headEnd/>
              <a:tailEnd/>
            </a:ln>
          </p:spPr>
        </p:pic>
        <p:pic>
          <p:nvPicPr>
            <p:cNvPr id="67604" name="Picture 6" descr="rainbow new contrast"/>
            <p:cNvPicPr>
              <a:picLocks noChangeAspect="1" noChangeArrowheads="1"/>
            </p:cNvPicPr>
            <p:nvPr/>
          </p:nvPicPr>
          <p:blipFill>
            <a:blip r:embed="rId4" cstate="print"/>
            <a:srcRect/>
            <a:stretch>
              <a:fillRect/>
            </a:stretch>
          </p:blipFill>
          <p:spPr bwMode="auto">
            <a:xfrm>
              <a:off x="7097713" y="2057400"/>
              <a:ext cx="1314450" cy="1644650"/>
            </a:xfrm>
            <a:prstGeom prst="rect">
              <a:avLst/>
            </a:prstGeom>
            <a:noFill/>
            <a:ln w="9525">
              <a:noFill/>
              <a:miter lim="800000"/>
              <a:headEnd/>
              <a:tailEnd/>
            </a:ln>
          </p:spPr>
        </p:pic>
      </p:grpSp>
      <p:grpSp>
        <p:nvGrpSpPr>
          <p:cNvPr id="3" name="Group 7"/>
          <p:cNvGrpSpPr>
            <a:grpSpLocks noChangeAspect="1"/>
          </p:cNvGrpSpPr>
          <p:nvPr/>
        </p:nvGrpSpPr>
        <p:grpSpPr bwMode="auto">
          <a:xfrm>
            <a:off x="4953000" y="3297212"/>
            <a:ext cx="2102344" cy="2340000"/>
            <a:chOff x="2688" y="672"/>
            <a:chExt cx="1152" cy="1154"/>
          </a:xfrm>
        </p:grpSpPr>
        <p:pic>
          <p:nvPicPr>
            <p:cNvPr id="67601" name="Picture 8" descr="paxillin-red"/>
            <p:cNvPicPr preferRelativeResize="0">
              <a:picLocks noChangeAspect="1" noChangeArrowheads="1"/>
            </p:cNvPicPr>
            <p:nvPr/>
          </p:nvPicPr>
          <p:blipFill>
            <a:blip r:embed="rId5" cstate="print">
              <a:lum bright="10000" contrast="10000"/>
            </a:blip>
            <a:srcRect/>
            <a:stretch>
              <a:fillRect/>
            </a:stretch>
          </p:blipFill>
          <p:spPr bwMode="auto">
            <a:xfrm>
              <a:off x="2817" y="674"/>
              <a:ext cx="1023" cy="1152"/>
            </a:xfrm>
            <a:prstGeom prst="rect">
              <a:avLst/>
            </a:prstGeom>
            <a:noFill/>
            <a:ln w="9525">
              <a:noFill/>
              <a:miter lim="800000"/>
              <a:headEnd/>
              <a:tailEnd/>
            </a:ln>
          </p:spPr>
        </p:pic>
        <p:pic>
          <p:nvPicPr>
            <p:cNvPr id="67602" name="Picture 9"/>
            <p:cNvPicPr>
              <a:picLocks noChangeAspect="1" noChangeArrowheads="1"/>
            </p:cNvPicPr>
            <p:nvPr/>
          </p:nvPicPr>
          <p:blipFill>
            <a:blip r:embed="rId6" cstate="print"/>
            <a:srcRect/>
            <a:stretch>
              <a:fillRect/>
            </a:stretch>
          </p:blipFill>
          <p:spPr bwMode="auto">
            <a:xfrm>
              <a:off x="2688" y="672"/>
              <a:ext cx="144" cy="1152"/>
            </a:xfrm>
            <a:prstGeom prst="rect">
              <a:avLst/>
            </a:prstGeom>
            <a:noFill/>
            <a:ln w="9525">
              <a:noFill/>
              <a:miter lim="800000"/>
              <a:headEnd/>
              <a:tailEnd/>
            </a:ln>
          </p:spPr>
        </p:pic>
      </p:grpSp>
      <p:grpSp>
        <p:nvGrpSpPr>
          <p:cNvPr id="4" name="Group 10"/>
          <p:cNvGrpSpPr>
            <a:grpSpLocks noChangeAspect="1"/>
          </p:cNvGrpSpPr>
          <p:nvPr/>
        </p:nvGrpSpPr>
        <p:grpSpPr bwMode="auto">
          <a:xfrm>
            <a:off x="314745" y="3297212"/>
            <a:ext cx="2090157" cy="2340000"/>
            <a:chOff x="460" y="432"/>
            <a:chExt cx="925" cy="1036"/>
          </a:xfrm>
        </p:grpSpPr>
        <p:pic>
          <p:nvPicPr>
            <p:cNvPr id="67599" name="Picture 11" descr="paxillin-blue"/>
            <p:cNvPicPr preferRelativeResize="0">
              <a:picLocks noChangeAspect="1" noChangeArrowheads="1"/>
            </p:cNvPicPr>
            <p:nvPr/>
          </p:nvPicPr>
          <p:blipFill>
            <a:blip r:embed="rId7" cstate="print">
              <a:lum bright="10000" contrast="10000"/>
            </a:blip>
            <a:srcRect/>
            <a:stretch>
              <a:fillRect/>
            </a:stretch>
          </p:blipFill>
          <p:spPr bwMode="auto">
            <a:xfrm>
              <a:off x="558" y="434"/>
              <a:ext cx="827" cy="1034"/>
            </a:xfrm>
            <a:prstGeom prst="rect">
              <a:avLst/>
            </a:prstGeom>
            <a:noFill/>
            <a:ln w="9525">
              <a:noFill/>
              <a:miter lim="800000"/>
              <a:headEnd/>
              <a:tailEnd/>
            </a:ln>
          </p:spPr>
        </p:pic>
        <p:pic>
          <p:nvPicPr>
            <p:cNvPr id="67600" name="Picture 12"/>
            <p:cNvPicPr>
              <a:picLocks noChangeAspect="1" noChangeArrowheads="1"/>
            </p:cNvPicPr>
            <p:nvPr/>
          </p:nvPicPr>
          <p:blipFill>
            <a:blip r:embed="rId8" cstate="print"/>
            <a:srcRect/>
            <a:stretch>
              <a:fillRect/>
            </a:stretch>
          </p:blipFill>
          <p:spPr bwMode="auto">
            <a:xfrm>
              <a:off x="460" y="432"/>
              <a:ext cx="116" cy="1034"/>
            </a:xfrm>
            <a:prstGeom prst="rect">
              <a:avLst/>
            </a:prstGeom>
            <a:noFill/>
            <a:ln w="9525">
              <a:noFill/>
              <a:miter lim="800000"/>
              <a:headEnd/>
              <a:tailEnd/>
            </a:ln>
          </p:spPr>
        </p:pic>
      </p:grpSp>
      <p:grpSp>
        <p:nvGrpSpPr>
          <p:cNvPr id="5" name="Group 13"/>
          <p:cNvGrpSpPr>
            <a:grpSpLocks noChangeAspect="1"/>
          </p:cNvGrpSpPr>
          <p:nvPr/>
        </p:nvGrpSpPr>
        <p:grpSpPr bwMode="auto">
          <a:xfrm>
            <a:off x="2590800" y="3297212"/>
            <a:ext cx="2132813" cy="2340000"/>
            <a:chOff x="1375" y="672"/>
            <a:chExt cx="1169" cy="1154"/>
          </a:xfrm>
        </p:grpSpPr>
        <p:pic>
          <p:nvPicPr>
            <p:cNvPr id="67597" name="Picture 14" descr="paxillin-green"/>
            <p:cNvPicPr>
              <a:picLocks noChangeAspect="1" noChangeArrowheads="1"/>
            </p:cNvPicPr>
            <p:nvPr/>
          </p:nvPicPr>
          <p:blipFill>
            <a:blip r:embed="rId9" cstate="print">
              <a:lum bright="10000" contrast="10000"/>
            </a:blip>
            <a:srcRect/>
            <a:stretch>
              <a:fillRect/>
            </a:stretch>
          </p:blipFill>
          <p:spPr bwMode="auto">
            <a:xfrm>
              <a:off x="1519" y="672"/>
              <a:ext cx="1025" cy="1154"/>
            </a:xfrm>
            <a:prstGeom prst="rect">
              <a:avLst/>
            </a:prstGeom>
            <a:noFill/>
            <a:ln w="9525">
              <a:noFill/>
              <a:miter lim="800000"/>
              <a:headEnd/>
              <a:tailEnd/>
            </a:ln>
          </p:spPr>
        </p:pic>
        <p:pic>
          <p:nvPicPr>
            <p:cNvPr id="67598" name="Picture 15"/>
            <p:cNvPicPr>
              <a:picLocks noChangeAspect="1" noChangeArrowheads="1"/>
            </p:cNvPicPr>
            <p:nvPr/>
          </p:nvPicPr>
          <p:blipFill>
            <a:blip r:embed="rId10" cstate="print"/>
            <a:srcRect/>
            <a:stretch>
              <a:fillRect/>
            </a:stretch>
          </p:blipFill>
          <p:spPr bwMode="auto">
            <a:xfrm>
              <a:off x="1375" y="672"/>
              <a:ext cx="144" cy="1152"/>
            </a:xfrm>
            <a:prstGeom prst="rect">
              <a:avLst/>
            </a:prstGeom>
            <a:noFill/>
            <a:ln w="9525">
              <a:noFill/>
              <a:miter lim="800000"/>
              <a:headEnd/>
              <a:tailEnd/>
            </a:ln>
          </p:spPr>
        </p:pic>
      </p:grpSp>
      <p:grpSp>
        <p:nvGrpSpPr>
          <p:cNvPr id="6" name="Group 16"/>
          <p:cNvGrpSpPr>
            <a:grpSpLocks noChangeAspect="1"/>
          </p:cNvGrpSpPr>
          <p:nvPr/>
        </p:nvGrpSpPr>
        <p:grpSpPr bwMode="auto">
          <a:xfrm>
            <a:off x="7239000" y="3298800"/>
            <a:ext cx="2132813" cy="2340000"/>
            <a:chOff x="3792" y="673"/>
            <a:chExt cx="1169" cy="1154"/>
          </a:xfrm>
        </p:grpSpPr>
        <p:pic>
          <p:nvPicPr>
            <p:cNvPr id="67595" name="Picture 17" descr="paxillin-grayscale"/>
            <p:cNvPicPr>
              <a:picLocks noChangeAspect="1" noChangeArrowheads="1"/>
            </p:cNvPicPr>
            <p:nvPr/>
          </p:nvPicPr>
          <p:blipFill>
            <a:blip r:embed="rId11" cstate="print">
              <a:lum bright="10000" contrast="10000"/>
            </a:blip>
            <a:srcRect/>
            <a:stretch>
              <a:fillRect/>
            </a:stretch>
          </p:blipFill>
          <p:spPr bwMode="auto">
            <a:xfrm>
              <a:off x="3936" y="673"/>
              <a:ext cx="1025" cy="1154"/>
            </a:xfrm>
            <a:prstGeom prst="rect">
              <a:avLst/>
            </a:prstGeom>
            <a:noFill/>
            <a:ln w="9525">
              <a:noFill/>
              <a:miter lim="800000"/>
              <a:headEnd/>
              <a:tailEnd/>
            </a:ln>
          </p:spPr>
        </p:pic>
        <p:pic>
          <p:nvPicPr>
            <p:cNvPr id="67596" name="Picture 18"/>
            <p:cNvPicPr>
              <a:picLocks noChangeAspect="1" noChangeArrowheads="1"/>
            </p:cNvPicPr>
            <p:nvPr/>
          </p:nvPicPr>
          <p:blipFill>
            <a:blip r:embed="rId12" cstate="print"/>
            <a:srcRect/>
            <a:stretch>
              <a:fillRect/>
            </a:stretch>
          </p:blipFill>
          <p:spPr bwMode="auto">
            <a:xfrm>
              <a:off x="3792" y="674"/>
              <a:ext cx="152" cy="1152"/>
            </a:xfrm>
            <a:prstGeom prst="rect">
              <a:avLst/>
            </a:prstGeom>
            <a:noFill/>
            <a:ln w="9525">
              <a:noFill/>
              <a:miter lim="800000"/>
              <a:headEnd/>
              <a:tailEnd/>
            </a:ln>
          </p:spPr>
        </p:pic>
      </p:grpSp>
      <p:sp>
        <p:nvSpPr>
          <p:cNvPr id="67592" name="Line 19"/>
          <p:cNvSpPr>
            <a:spLocks noChangeShapeType="1"/>
          </p:cNvSpPr>
          <p:nvPr/>
        </p:nvSpPr>
        <p:spPr bwMode="auto">
          <a:xfrm>
            <a:off x="4253400" y="5049812"/>
            <a:ext cx="304800" cy="0"/>
          </a:xfrm>
          <a:prstGeom prst="line">
            <a:avLst/>
          </a:prstGeom>
          <a:noFill/>
          <a:ln w="28575">
            <a:solidFill>
              <a:schemeClr val="bg1"/>
            </a:solidFill>
            <a:round/>
            <a:headEnd/>
            <a:tailEnd/>
          </a:ln>
        </p:spPr>
        <p:txBody>
          <a:bodyPr/>
          <a:lstStyle/>
          <a:p>
            <a:endParaRPr lang="en-CA"/>
          </a:p>
        </p:txBody>
      </p:sp>
      <p:sp>
        <p:nvSpPr>
          <p:cNvPr id="67593" name="Title 20"/>
          <p:cNvSpPr>
            <a:spLocks noGrp="1"/>
          </p:cNvSpPr>
          <p:nvPr>
            <p:ph type="title"/>
          </p:nvPr>
        </p:nvSpPr>
        <p:spPr/>
        <p:txBody>
          <a:bodyPr/>
          <a:lstStyle/>
          <a:p>
            <a:r>
              <a:rPr lang="en-US"/>
              <a:t>Image Display: Look Up Tables (LUTs)</a:t>
            </a:r>
          </a:p>
        </p:txBody>
      </p:sp>
      <p:sp>
        <p:nvSpPr>
          <p:cNvPr id="67594" name="TextBox 19"/>
          <p:cNvSpPr txBox="1">
            <a:spLocks noChangeArrowheads="1"/>
          </p:cNvSpPr>
          <p:nvPr/>
        </p:nvSpPr>
        <p:spPr bwMode="auto">
          <a:xfrm>
            <a:off x="4526692" y="6477000"/>
            <a:ext cx="3138616" cy="307777"/>
          </a:xfrm>
          <a:prstGeom prst="rect">
            <a:avLst/>
          </a:prstGeom>
          <a:noFill/>
          <a:ln w="9525">
            <a:noFill/>
            <a:miter lim="800000"/>
            <a:headEnd/>
            <a:tailEnd/>
          </a:ln>
        </p:spPr>
        <p:txBody>
          <a:bodyPr wrap="none">
            <a:spAutoFit/>
          </a:bodyPr>
          <a:lstStyle/>
          <a:p>
            <a:pPr algn="ctr"/>
            <a:r>
              <a:rPr lang="en-US" sz="1400" dirty="0">
                <a:solidFill>
                  <a:schemeClr val="bg1"/>
                </a:solidFill>
                <a:hlinkClick r:id="rId13">
                  <a:extLst>
                    <a:ext uri="{A12FA001-AC4F-418D-AE19-62706E023703}">
                      <ahyp:hlinkClr xmlns:ahyp="http://schemas.microsoft.com/office/drawing/2018/hyperlinkcolor" val="tx"/>
                    </a:ext>
                  </a:extLst>
                </a:hlinkClick>
              </a:rPr>
              <a:t>Brown, J Cell Sci., 120, 1703-1705 (2007)</a:t>
            </a:r>
            <a:endParaRPr lang="en-US" sz="1400" dirty="0">
              <a:solidFill>
                <a:schemeClr val="bg1"/>
              </a:solidFill>
            </a:endParaRPr>
          </a:p>
        </p:txBody>
      </p:sp>
      <p:sp>
        <p:nvSpPr>
          <p:cNvPr id="8" name="Date Placeholder 7">
            <a:extLst>
              <a:ext uri="{FF2B5EF4-FFF2-40B4-BE49-F238E27FC236}">
                <a16:creationId xmlns:a16="http://schemas.microsoft.com/office/drawing/2014/main" id="{34302C43-6FB3-4E67-BB0E-0E52FE1DFCB3}"/>
              </a:ext>
            </a:extLst>
          </p:cNvPr>
          <p:cNvSpPr>
            <a:spLocks noGrp="1"/>
          </p:cNvSpPr>
          <p:nvPr>
            <p:ph type="dt" sz="half" idx="10"/>
          </p:nvPr>
        </p:nvSpPr>
        <p:spPr/>
        <p:txBody>
          <a:bodyPr/>
          <a:lstStyle/>
          <a:p>
            <a:fld id="{DE976E87-AC17-4B55-B857-2869979052D2}" type="datetime1">
              <a:rPr lang="en-CA" smtClean="0"/>
              <a:t>2026-05-25</a:t>
            </a:fld>
            <a:endParaRPr lang="fr-CA"/>
          </a:p>
        </p:txBody>
      </p:sp>
      <p:sp>
        <p:nvSpPr>
          <p:cNvPr id="9" name="Slide Number Placeholder 8">
            <a:extLst>
              <a:ext uri="{FF2B5EF4-FFF2-40B4-BE49-F238E27FC236}">
                <a16:creationId xmlns:a16="http://schemas.microsoft.com/office/drawing/2014/main" id="{225FBB41-5881-4C14-86B5-E509673C81CC}"/>
              </a:ext>
            </a:extLst>
          </p:cNvPr>
          <p:cNvSpPr>
            <a:spLocks noGrp="1"/>
          </p:cNvSpPr>
          <p:nvPr>
            <p:ph type="sldNum" sz="quarter" idx="12"/>
          </p:nvPr>
        </p:nvSpPr>
        <p:spPr/>
        <p:txBody>
          <a:bodyPr/>
          <a:lstStyle/>
          <a:p>
            <a:fld id="{52B199FE-8D1D-41C7-8040-B5BAD29DE590}"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noChangeAspect="1"/>
          </p:cNvGrpSpPr>
          <p:nvPr/>
        </p:nvGrpSpPr>
        <p:grpSpPr bwMode="auto">
          <a:xfrm rot="5400000">
            <a:off x="1165870" y="2280444"/>
            <a:ext cx="2741612" cy="1371600"/>
            <a:chOff x="10499" y="17411"/>
            <a:chExt cx="1441" cy="721"/>
          </a:xfrm>
        </p:grpSpPr>
        <p:pic>
          <p:nvPicPr>
            <p:cNvPr id="69668" name="Picture 5" descr="linear"/>
            <p:cNvPicPr>
              <a:picLocks noChangeAspect="1" noChangeArrowheads="1"/>
            </p:cNvPicPr>
            <p:nvPr/>
          </p:nvPicPr>
          <p:blipFill>
            <a:blip r:embed="rId3" cstate="print"/>
            <a:srcRect/>
            <a:stretch>
              <a:fillRect/>
            </a:stretch>
          </p:blipFill>
          <p:spPr bwMode="auto">
            <a:xfrm>
              <a:off x="10500" y="17411"/>
              <a:ext cx="1440" cy="721"/>
            </a:xfrm>
            <a:prstGeom prst="rect">
              <a:avLst/>
            </a:prstGeom>
            <a:noFill/>
            <a:ln w="9525">
              <a:noFill/>
              <a:miter lim="800000"/>
              <a:headEnd/>
              <a:tailEnd/>
            </a:ln>
          </p:spPr>
        </p:pic>
        <p:sp>
          <p:nvSpPr>
            <p:cNvPr id="69669" name="Rectangle 6"/>
            <p:cNvSpPr>
              <a:spLocks noChangeAspect="1" noChangeArrowheads="1"/>
            </p:cNvSpPr>
            <p:nvPr/>
          </p:nvSpPr>
          <p:spPr bwMode="auto">
            <a:xfrm>
              <a:off x="10499" y="17411"/>
              <a:ext cx="1440" cy="720"/>
            </a:xfrm>
            <a:prstGeom prst="rect">
              <a:avLst/>
            </a:prstGeom>
            <a:noFill/>
            <a:ln w="28575" algn="ctr">
              <a:solidFill>
                <a:schemeClr val="bg1"/>
              </a:solidFill>
              <a:miter lim="800000"/>
              <a:headEnd/>
              <a:tailEnd/>
            </a:ln>
          </p:spPr>
          <p:txBody>
            <a:bodyPr wrap="none" anchor="ctr"/>
            <a:lstStyle/>
            <a:p>
              <a:endParaRPr lang="en-US" sz="2400"/>
            </a:p>
          </p:txBody>
        </p:sp>
      </p:grpSp>
      <p:pic>
        <p:nvPicPr>
          <p:cNvPr id="69666" name="Picture 14" descr="brightness"/>
          <p:cNvPicPr>
            <a:picLocks noChangeAspect="1" noChangeArrowheads="1"/>
          </p:cNvPicPr>
          <p:nvPr/>
        </p:nvPicPr>
        <p:blipFill>
          <a:blip r:embed="rId4" cstate="print"/>
          <a:srcRect/>
          <a:stretch>
            <a:fillRect/>
          </a:stretch>
        </p:blipFill>
        <p:spPr bwMode="auto">
          <a:xfrm rot="5400000">
            <a:off x="5828732" y="2277906"/>
            <a:ext cx="2739710" cy="1371600"/>
          </a:xfrm>
          <a:prstGeom prst="rect">
            <a:avLst/>
          </a:prstGeom>
          <a:noFill/>
          <a:ln w="9525">
            <a:noFill/>
            <a:miter lim="800000"/>
            <a:headEnd/>
            <a:tailEnd/>
          </a:ln>
        </p:spPr>
      </p:pic>
      <p:sp>
        <p:nvSpPr>
          <p:cNvPr id="69667" name="Rectangle 15"/>
          <p:cNvSpPr>
            <a:spLocks noChangeAspect="1" noChangeArrowheads="1"/>
          </p:cNvSpPr>
          <p:nvPr/>
        </p:nvSpPr>
        <p:spPr bwMode="auto">
          <a:xfrm rot="5400000">
            <a:off x="5829683" y="2280759"/>
            <a:ext cx="2739710" cy="1369698"/>
          </a:xfrm>
          <a:prstGeom prst="rect">
            <a:avLst/>
          </a:prstGeom>
          <a:noFill/>
          <a:ln w="28575" algn="ctr">
            <a:solidFill>
              <a:schemeClr val="bg1"/>
            </a:solidFill>
            <a:miter lim="800000"/>
            <a:headEnd/>
            <a:tailEnd/>
          </a:ln>
        </p:spPr>
        <p:txBody>
          <a:bodyPr wrap="none" anchor="ctr"/>
          <a:lstStyle/>
          <a:p>
            <a:endParaRPr lang="en-US" sz="2400"/>
          </a:p>
        </p:txBody>
      </p:sp>
      <p:pic>
        <p:nvPicPr>
          <p:cNvPr id="69664" name="Picture 17" descr="contrast"/>
          <p:cNvPicPr>
            <a:picLocks noChangeAspect="1" noChangeArrowheads="1"/>
          </p:cNvPicPr>
          <p:nvPr/>
        </p:nvPicPr>
        <p:blipFill>
          <a:blip r:embed="rId5" cstate="print"/>
          <a:srcRect/>
          <a:stretch>
            <a:fillRect/>
          </a:stretch>
        </p:blipFill>
        <p:spPr bwMode="auto">
          <a:xfrm rot="5400000">
            <a:off x="7316945" y="2279493"/>
            <a:ext cx="2739709" cy="1371600"/>
          </a:xfrm>
          <a:prstGeom prst="rect">
            <a:avLst/>
          </a:prstGeom>
          <a:noFill/>
          <a:ln w="9525">
            <a:noFill/>
            <a:miter lim="800000"/>
            <a:headEnd/>
            <a:tailEnd/>
          </a:ln>
        </p:spPr>
      </p:pic>
      <p:sp>
        <p:nvSpPr>
          <p:cNvPr id="69665" name="Rectangle 18"/>
          <p:cNvSpPr>
            <a:spLocks noChangeAspect="1" noChangeArrowheads="1"/>
          </p:cNvSpPr>
          <p:nvPr/>
        </p:nvSpPr>
        <p:spPr bwMode="auto">
          <a:xfrm rot="5400000">
            <a:off x="7315994" y="2282346"/>
            <a:ext cx="2739709" cy="1369698"/>
          </a:xfrm>
          <a:prstGeom prst="rect">
            <a:avLst/>
          </a:prstGeom>
          <a:noFill/>
          <a:ln w="28575" algn="ctr">
            <a:solidFill>
              <a:schemeClr val="bg1"/>
            </a:solidFill>
            <a:miter lim="800000"/>
            <a:headEnd/>
            <a:tailEnd/>
          </a:ln>
        </p:spPr>
        <p:txBody>
          <a:bodyPr wrap="none" anchor="ctr"/>
          <a:lstStyle/>
          <a:p>
            <a:endParaRPr lang="en-US" sz="2400"/>
          </a:p>
        </p:txBody>
      </p:sp>
      <p:pic>
        <p:nvPicPr>
          <p:cNvPr id="69662" name="Picture 20" descr="all three"/>
          <p:cNvPicPr>
            <a:picLocks noChangeAspect="1" noChangeArrowheads="1"/>
          </p:cNvPicPr>
          <p:nvPr/>
        </p:nvPicPr>
        <p:blipFill>
          <a:blip r:embed="rId6" cstate="print"/>
          <a:srcRect/>
          <a:stretch>
            <a:fillRect/>
          </a:stretch>
        </p:blipFill>
        <p:spPr bwMode="auto">
          <a:xfrm rot="5400000">
            <a:off x="8760653" y="2282668"/>
            <a:ext cx="2739709" cy="1371600"/>
          </a:xfrm>
          <a:prstGeom prst="rect">
            <a:avLst/>
          </a:prstGeom>
          <a:noFill/>
          <a:ln w="9525">
            <a:noFill/>
            <a:miter lim="800000"/>
            <a:headEnd/>
            <a:tailEnd/>
          </a:ln>
        </p:spPr>
      </p:pic>
      <p:sp>
        <p:nvSpPr>
          <p:cNvPr id="69663" name="Rectangle 21"/>
          <p:cNvSpPr>
            <a:spLocks noChangeAspect="1" noChangeArrowheads="1"/>
          </p:cNvSpPr>
          <p:nvPr/>
        </p:nvSpPr>
        <p:spPr bwMode="auto">
          <a:xfrm rot="5400000">
            <a:off x="8761604" y="2285521"/>
            <a:ext cx="2739709" cy="1369698"/>
          </a:xfrm>
          <a:prstGeom prst="rect">
            <a:avLst/>
          </a:prstGeom>
          <a:noFill/>
          <a:ln w="28575" algn="ctr">
            <a:solidFill>
              <a:schemeClr val="bg1"/>
            </a:solidFill>
            <a:miter lim="800000"/>
            <a:headEnd/>
            <a:tailEnd/>
          </a:ln>
        </p:spPr>
        <p:txBody>
          <a:bodyPr wrap="none" anchor="ctr"/>
          <a:lstStyle/>
          <a:p>
            <a:endParaRPr lang="en-US" sz="2400"/>
          </a:p>
        </p:txBody>
      </p:sp>
      <p:pic>
        <p:nvPicPr>
          <p:cNvPr id="15384" name="Picture 24"/>
          <p:cNvPicPr>
            <a:picLocks noChangeAspect="1" noChangeArrowheads="1"/>
          </p:cNvPicPr>
          <p:nvPr/>
        </p:nvPicPr>
        <p:blipFill>
          <a:blip r:embed="rId7" cstate="print"/>
          <a:srcRect/>
          <a:stretch>
            <a:fillRect/>
          </a:stretch>
        </p:blipFill>
        <p:spPr bwMode="auto">
          <a:xfrm>
            <a:off x="6550965" y="4451350"/>
            <a:ext cx="1262850" cy="1440000"/>
          </a:xfrm>
          <a:prstGeom prst="rect">
            <a:avLst/>
          </a:prstGeom>
          <a:noFill/>
          <a:ln w="9525">
            <a:solidFill>
              <a:schemeClr val="bg1"/>
            </a:solidFill>
            <a:miter lim="800000"/>
            <a:headEnd/>
            <a:tailEnd/>
          </a:ln>
        </p:spPr>
      </p:pic>
      <p:sp>
        <p:nvSpPr>
          <p:cNvPr id="15385" name="Text Box 25"/>
          <p:cNvSpPr txBox="1">
            <a:spLocks noChangeArrowheads="1"/>
          </p:cNvSpPr>
          <p:nvPr/>
        </p:nvSpPr>
        <p:spPr bwMode="auto">
          <a:xfrm>
            <a:off x="6514375" y="1219200"/>
            <a:ext cx="1486625" cy="461665"/>
          </a:xfrm>
          <a:prstGeom prst="rect">
            <a:avLst/>
          </a:prstGeom>
          <a:noFill/>
          <a:ln w="9525">
            <a:noFill/>
            <a:miter lim="800000"/>
            <a:headEnd/>
            <a:tailEnd/>
          </a:ln>
        </p:spPr>
        <p:txBody>
          <a:bodyPr wrap="none">
            <a:spAutoFit/>
          </a:bodyPr>
          <a:lstStyle/>
          <a:p>
            <a:pPr>
              <a:defRPr/>
            </a:pPr>
            <a:r>
              <a:rPr lang="en-US" sz="2400" dirty="0"/>
              <a:t>brightness</a:t>
            </a:r>
          </a:p>
        </p:txBody>
      </p:sp>
      <p:pic>
        <p:nvPicPr>
          <p:cNvPr id="15386" name="Picture 26"/>
          <p:cNvPicPr>
            <a:picLocks noChangeAspect="1" noChangeArrowheads="1"/>
          </p:cNvPicPr>
          <p:nvPr/>
        </p:nvPicPr>
        <p:blipFill>
          <a:blip r:embed="rId8" cstate="print"/>
          <a:srcRect/>
          <a:stretch>
            <a:fillRect/>
          </a:stretch>
        </p:blipFill>
        <p:spPr bwMode="auto">
          <a:xfrm>
            <a:off x="8039178" y="4449763"/>
            <a:ext cx="1256728" cy="1440000"/>
          </a:xfrm>
          <a:prstGeom prst="rect">
            <a:avLst/>
          </a:prstGeom>
          <a:noFill/>
          <a:ln w="9525">
            <a:solidFill>
              <a:schemeClr val="bg1"/>
            </a:solidFill>
            <a:miter lim="800000"/>
            <a:headEnd/>
            <a:tailEnd/>
          </a:ln>
        </p:spPr>
      </p:pic>
      <p:sp>
        <p:nvSpPr>
          <p:cNvPr id="15387" name="Text Box 27"/>
          <p:cNvSpPr txBox="1">
            <a:spLocks noChangeArrowheads="1"/>
          </p:cNvSpPr>
          <p:nvPr/>
        </p:nvSpPr>
        <p:spPr bwMode="auto">
          <a:xfrm>
            <a:off x="8139112" y="1220788"/>
            <a:ext cx="1203406" cy="461665"/>
          </a:xfrm>
          <a:prstGeom prst="rect">
            <a:avLst/>
          </a:prstGeom>
          <a:noFill/>
          <a:ln w="9525">
            <a:noFill/>
            <a:miter lim="800000"/>
            <a:headEnd/>
            <a:tailEnd/>
          </a:ln>
        </p:spPr>
        <p:txBody>
          <a:bodyPr wrap="none">
            <a:spAutoFit/>
          </a:bodyPr>
          <a:lstStyle/>
          <a:p>
            <a:pPr>
              <a:defRPr/>
            </a:pPr>
            <a:r>
              <a:rPr lang="en-US" sz="2400" dirty="0"/>
              <a:t>contrast</a:t>
            </a:r>
          </a:p>
        </p:txBody>
      </p:sp>
      <p:pic>
        <p:nvPicPr>
          <p:cNvPr id="15388" name="Picture 28"/>
          <p:cNvPicPr>
            <a:picLocks noChangeAspect="1" noChangeArrowheads="1"/>
          </p:cNvPicPr>
          <p:nvPr/>
        </p:nvPicPr>
        <p:blipFill>
          <a:blip r:embed="rId9" cstate="print"/>
          <a:srcRect/>
          <a:stretch>
            <a:fillRect/>
          </a:stretch>
        </p:blipFill>
        <p:spPr bwMode="auto">
          <a:xfrm>
            <a:off x="9482886" y="4454525"/>
            <a:ext cx="1261314" cy="1440000"/>
          </a:xfrm>
          <a:prstGeom prst="rect">
            <a:avLst/>
          </a:prstGeom>
          <a:noFill/>
          <a:ln w="9525">
            <a:solidFill>
              <a:schemeClr val="bg1"/>
            </a:solidFill>
            <a:miter lim="800000"/>
            <a:headEnd/>
            <a:tailEnd/>
          </a:ln>
        </p:spPr>
      </p:pic>
      <p:sp>
        <p:nvSpPr>
          <p:cNvPr id="15389" name="Text Box 29"/>
          <p:cNvSpPr txBox="1">
            <a:spLocks noChangeArrowheads="1"/>
          </p:cNvSpPr>
          <p:nvPr/>
        </p:nvSpPr>
        <p:spPr bwMode="auto">
          <a:xfrm>
            <a:off x="9524083" y="1220788"/>
            <a:ext cx="1296317" cy="461665"/>
          </a:xfrm>
          <a:prstGeom prst="rect">
            <a:avLst/>
          </a:prstGeom>
          <a:noFill/>
          <a:ln w="9525">
            <a:noFill/>
            <a:miter lim="800000"/>
            <a:headEnd/>
            <a:tailEnd/>
          </a:ln>
        </p:spPr>
        <p:txBody>
          <a:bodyPr wrap="none">
            <a:spAutoFit/>
          </a:bodyPr>
          <a:lstStyle/>
          <a:p>
            <a:pPr>
              <a:defRPr/>
            </a:pPr>
            <a:r>
              <a:rPr lang="en-US" sz="2400" dirty="0"/>
              <a:t>All Three</a:t>
            </a:r>
          </a:p>
        </p:txBody>
      </p:sp>
      <p:sp>
        <p:nvSpPr>
          <p:cNvPr id="25613" name="Text Box 30"/>
          <p:cNvSpPr txBox="1">
            <a:spLocks noChangeArrowheads="1"/>
          </p:cNvSpPr>
          <p:nvPr/>
        </p:nvSpPr>
        <p:spPr bwMode="auto">
          <a:xfrm>
            <a:off x="2088477" y="1219200"/>
            <a:ext cx="896399" cy="461665"/>
          </a:xfrm>
          <a:prstGeom prst="rect">
            <a:avLst/>
          </a:prstGeom>
          <a:noFill/>
          <a:ln w="9525" algn="ctr">
            <a:noFill/>
            <a:miter lim="800000"/>
            <a:headEnd/>
            <a:tailEnd/>
          </a:ln>
        </p:spPr>
        <p:txBody>
          <a:bodyPr wrap="none">
            <a:spAutoFit/>
          </a:bodyPr>
          <a:lstStyle/>
          <a:p>
            <a:pPr algn="ctr" defTabSz="4702175">
              <a:defRPr/>
            </a:pPr>
            <a:r>
              <a:rPr lang="en-US" sz="2400" dirty="0"/>
              <a:t>linear</a:t>
            </a:r>
          </a:p>
        </p:txBody>
      </p:sp>
      <p:grpSp>
        <p:nvGrpSpPr>
          <p:cNvPr id="7" name="Group 10"/>
          <p:cNvGrpSpPr>
            <a:grpSpLocks noChangeAspect="1"/>
          </p:cNvGrpSpPr>
          <p:nvPr/>
        </p:nvGrpSpPr>
        <p:grpSpPr bwMode="auto">
          <a:xfrm rot="5400000">
            <a:off x="4249737" y="2266950"/>
            <a:ext cx="2741613" cy="1403350"/>
            <a:chOff x="13642" y="17523"/>
            <a:chExt cx="1441" cy="738"/>
          </a:xfrm>
        </p:grpSpPr>
        <p:pic>
          <p:nvPicPr>
            <p:cNvPr id="69660" name="Picture 11" descr="gamma 0point5"/>
            <p:cNvPicPr>
              <a:picLocks noChangeAspect="1" noChangeArrowheads="1"/>
            </p:cNvPicPr>
            <p:nvPr/>
          </p:nvPicPr>
          <p:blipFill>
            <a:blip r:embed="rId10" cstate="print"/>
            <a:srcRect/>
            <a:stretch>
              <a:fillRect/>
            </a:stretch>
          </p:blipFill>
          <p:spPr bwMode="auto">
            <a:xfrm>
              <a:off x="13642" y="17523"/>
              <a:ext cx="1440" cy="721"/>
            </a:xfrm>
            <a:prstGeom prst="rect">
              <a:avLst/>
            </a:prstGeom>
            <a:noFill/>
            <a:ln w="9525">
              <a:noFill/>
              <a:miter lim="800000"/>
              <a:headEnd/>
              <a:tailEnd/>
            </a:ln>
          </p:spPr>
        </p:pic>
        <p:sp>
          <p:nvSpPr>
            <p:cNvPr id="25628" name="Rectangle 12"/>
            <p:cNvSpPr>
              <a:spLocks noChangeAspect="1" noChangeArrowheads="1"/>
            </p:cNvSpPr>
            <p:nvPr/>
          </p:nvSpPr>
          <p:spPr bwMode="auto">
            <a:xfrm>
              <a:off x="13643" y="17541"/>
              <a:ext cx="1440" cy="720"/>
            </a:xfrm>
            <a:prstGeom prst="rect">
              <a:avLst/>
            </a:prstGeom>
            <a:noFill/>
            <a:ln w="28575" algn="ctr">
              <a:solidFill>
                <a:schemeClr val="bg1"/>
              </a:solidFill>
              <a:miter lim="800000"/>
              <a:headEnd/>
              <a:tailEnd/>
            </a:ln>
          </p:spPr>
          <p:txBody>
            <a:bodyPr wrap="none" anchor="ctr"/>
            <a:lstStyle/>
            <a:p>
              <a:pPr>
                <a:defRPr/>
              </a:pPr>
              <a:endParaRPr lang="en-US" sz="2400"/>
            </a:p>
          </p:txBody>
        </p:sp>
      </p:grpSp>
      <p:pic>
        <p:nvPicPr>
          <p:cNvPr id="69658" name="Picture 23"/>
          <p:cNvPicPr>
            <a:picLocks noChangeAspect="1" noChangeArrowheads="1"/>
          </p:cNvPicPr>
          <p:nvPr/>
        </p:nvPicPr>
        <p:blipFill>
          <a:blip r:embed="rId11" cstate="print"/>
          <a:srcRect/>
          <a:stretch>
            <a:fillRect/>
          </a:stretch>
        </p:blipFill>
        <p:spPr bwMode="auto">
          <a:xfrm>
            <a:off x="4972128" y="4449762"/>
            <a:ext cx="1261314" cy="1440000"/>
          </a:xfrm>
          <a:prstGeom prst="rect">
            <a:avLst/>
          </a:prstGeom>
          <a:noFill/>
          <a:ln w="9525">
            <a:solidFill>
              <a:schemeClr val="bg1"/>
            </a:solidFill>
            <a:miter lim="800000"/>
            <a:headEnd/>
            <a:tailEnd/>
          </a:ln>
        </p:spPr>
      </p:pic>
      <p:sp>
        <p:nvSpPr>
          <p:cNvPr id="25626" name="Text Box 31"/>
          <p:cNvSpPr txBox="1">
            <a:spLocks noChangeArrowheads="1"/>
          </p:cNvSpPr>
          <p:nvPr/>
        </p:nvSpPr>
        <p:spPr bwMode="auto">
          <a:xfrm>
            <a:off x="4835525" y="1219200"/>
            <a:ext cx="1565275" cy="461963"/>
          </a:xfrm>
          <a:prstGeom prst="rect">
            <a:avLst/>
          </a:prstGeom>
          <a:noFill/>
          <a:ln w="9525" algn="ctr">
            <a:noFill/>
            <a:miter lim="800000"/>
            <a:headEnd/>
            <a:tailEnd/>
          </a:ln>
        </p:spPr>
        <p:txBody>
          <a:bodyPr wrap="none">
            <a:spAutoFit/>
          </a:bodyPr>
          <a:lstStyle/>
          <a:p>
            <a:pPr algn="ctr" defTabSz="4702175">
              <a:defRPr/>
            </a:pPr>
            <a:r>
              <a:rPr lang="en-US" sz="2400" dirty="0"/>
              <a:t>gamma 0.5</a:t>
            </a:r>
          </a:p>
        </p:txBody>
      </p:sp>
      <p:grpSp>
        <p:nvGrpSpPr>
          <p:cNvPr id="9" name="Group 7"/>
          <p:cNvGrpSpPr>
            <a:grpSpLocks noChangeAspect="1"/>
          </p:cNvGrpSpPr>
          <p:nvPr/>
        </p:nvGrpSpPr>
        <p:grpSpPr bwMode="auto">
          <a:xfrm rot="5400000">
            <a:off x="2740025" y="2282826"/>
            <a:ext cx="2741613" cy="1379538"/>
            <a:chOff x="12168" y="17595"/>
            <a:chExt cx="1441" cy="726"/>
          </a:xfrm>
        </p:grpSpPr>
        <p:pic>
          <p:nvPicPr>
            <p:cNvPr id="69655" name="Picture 8" descr="gamma-2"/>
            <p:cNvPicPr>
              <a:picLocks noChangeAspect="1" noChangeArrowheads="1"/>
            </p:cNvPicPr>
            <p:nvPr/>
          </p:nvPicPr>
          <p:blipFill>
            <a:blip r:embed="rId12" cstate="print"/>
            <a:srcRect/>
            <a:stretch>
              <a:fillRect/>
            </a:stretch>
          </p:blipFill>
          <p:spPr bwMode="auto">
            <a:xfrm>
              <a:off x="12169" y="17600"/>
              <a:ext cx="1440" cy="721"/>
            </a:xfrm>
            <a:prstGeom prst="rect">
              <a:avLst/>
            </a:prstGeom>
            <a:noFill/>
            <a:ln w="9525">
              <a:noFill/>
              <a:miter lim="800000"/>
              <a:headEnd/>
              <a:tailEnd/>
            </a:ln>
          </p:spPr>
        </p:pic>
        <p:sp>
          <p:nvSpPr>
            <p:cNvPr id="25623" name="Rectangle 9"/>
            <p:cNvSpPr>
              <a:spLocks noChangeAspect="1" noChangeArrowheads="1"/>
            </p:cNvSpPr>
            <p:nvPr/>
          </p:nvSpPr>
          <p:spPr bwMode="auto">
            <a:xfrm>
              <a:off x="12168" y="17595"/>
              <a:ext cx="1440" cy="720"/>
            </a:xfrm>
            <a:prstGeom prst="rect">
              <a:avLst/>
            </a:prstGeom>
            <a:noFill/>
            <a:ln w="28575" algn="ctr">
              <a:solidFill>
                <a:schemeClr val="bg1"/>
              </a:solidFill>
              <a:miter lim="800000"/>
              <a:headEnd/>
              <a:tailEnd/>
            </a:ln>
          </p:spPr>
          <p:txBody>
            <a:bodyPr wrap="none" anchor="ctr"/>
            <a:lstStyle/>
            <a:p>
              <a:pPr>
                <a:defRPr/>
              </a:pPr>
              <a:endParaRPr lang="en-US" sz="2400"/>
            </a:p>
          </p:txBody>
        </p:sp>
      </p:grpSp>
      <p:pic>
        <p:nvPicPr>
          <p:cNvPr id="69653" name="Picture 22"/>
          <p:cNvPicPr>
            <a:picLocks noChangeAspect="1" noChangeArrowheads="1"/>
          </p:cNvPicPr>
          <p:nvPr/>
        </p:nvPicPr>
        <p:blipFill>
          <a:blip r:embed="rId13" cstate="print"/>
          <a:srcRect/>
          <a:stretch>
            <a:fillRect/>
          </a:stretch>
        </p:blipFill>
        <p:spPr bwMode="auto">
          <a:xfrm>
            <a:off x="3425903" y="4451350"/>
            <a:ext cx="1261314" cy="1440000"/>
          </a:xfrm>
          <a:prstGeom prst="rect">
            <a:avLst/>
          </a:prstGeom>
          <a:noFill/>
          <a:ln w="9525">
            <a:solidFill>
              <a:schemeClr val="bg1"/>
            </a:solidFill>
            <a:miter lim="800000"/>
            <a:headEnd/>
            <a:tailEnd/>
          </a:ln>
        </p:spPr>
      </p:pic>
      <p:sp>
        <p:nvSpPr>
          <p:cNvPr id="25621" name="Text Box 32"/>
          <p:cNvSpPr txBox="1">
            <a:spLocks noChangeArrowheads="1"/>
          </p:cNvSpPr>
          <p:nvPr/>
        </p:nvSpPr>
        <p:spPr bwMode="auto">
          <a:xfrm>
            <a:off x="3408362" y="1219201"/>
            <a:ext cx="1333500" cy="461963"/>
          </a:xfrm>
          <a:prstGeom prst="rect">
            <a:avLst/>
          </a:prstGeom>
          <a:noFill/>
          <a:ln w="9525" algn="ctr">
            <a:noFill/>
            <a:miter lim="800000"/>
            <a:headEnd/>
            <a:tailEnd/>
          </a:ln>
        </p:spPr>
        <p:txBody>
          <a:bodyPr wrap="none">
            <a:spAutoFit/>
          </a:bodyPr>
          <a:lstStyle/>
          <a:p>
            <a:pPr algn="ctr" defTabSz="4702175">
              <a:defRPr/>
            </a:pPr>
            <a:r>
              <a:rPr lang="en-US" sz="2400" dirty="0"/>
              <a:t>gamma 2</a:t>
            </a:r>
          </a:p>
        </p:txBody>
      </p:sp>
      <p:pic>
        <p:nvPicPr>
          <p:cNvPr id="69647" name="Picture 33"/>
          <p:cNvPicPr>
            <a:picLocks noChangeAspect="1" noChangeArrowheads="1"/>
          </p:cNvPicPr>
          <p:nvPr/>
        </p:nvPicPr>
        <p:blipFill>
          <a:blip r:embed="rId14" cstate="print"/>
          <a:srcRect/>
          <a:stretch>
            <a:fillRect/>
          </a:stretch>
        </p:blipFill>
        <p:spPr bwMode="auto">
          <a:xfrm>
            <a:off x="1889054" y="4459288"/>
            <a:ext cx="1276847" cy="1440000"/>
          </a:xfrm>
          <a:prstGeom prst="rect">
            <a:avLst/>
          </a:prstGeom>
          <a:noFill/>
          <a:ln w="9525">
            <a:solidFill>
              <a:schemeClr val="bg1"/>
            </a:solidFill>
            <a:miter lim="800000"/>
            <a:headEnd/>
            <a:tailEnd/>
          </a:ln>
        </p:spPr>
      </p:pic>
      <p:sp>
        <p:nvSpPr>
          <p:cNvPr id="25617" name="Text Box 34"/>
          <p:cNvSpPr txBox="1">
            <a:spLocks noChangeArrowheads="1"/>
          </p:cNvSpPr>
          <p:nvPr/>
        </p:nvSpPr>
        <p:spPr bwMode="auto">
          <a:xfrm>
            <a:off x="5344693" y="5821363"/>
            <a:ext cx="2102692" cy="461665"/>
          </a:xfrm>
          <a:prstGeom prst="rect">
            <a:avLst/>
          </a:prstGeom>
          <a:noFill/>
          <a:ln w="9525" algn="ctr">
            <a:noFill/>
            <a:miter lim="800000"/>
            <a:headEnd/>
            <a:tailEnd/>
          </a:ln>
        </p:spPr>
        <p:txBody>
          <a:bodyPr wrap="none">
            <a:spAutoFit/>
          </a:bodyPr>
          <a:lstStyle/>
          <a:p>
            <a:pPr algn="ctr" defTabSz="4702175">
              <a:defRPr/>
            </a:pPr>
            <a:r>
              <a:rPr lang="en-US" sz="2400"/>
              <a:t>Image Intensity</a:t>
            </a:r>
          </a:p>
        </p:txBody>
      </p:sp>
      <p:sp>
        <p:nvSpPr>
          <p:cNvPr id="25618" name="Text Box 35"/>
          <p:cNvSpPr txBox="1">
            <a:spLocks noChangeArrowheads="1"/>
          </p:cNvSpPr>
          <p:nvPr/>
        </p:nvSpPr>
        <p:spPr bwMode="auto">
          <a:xfrm rot="-5400000">
            <a:off x="779057" y="4741457"/>
            <a:ext cx="1268488" cy="830997"/>
          </a:xfrm>
          <a:prstGeom prst="rect">
            <a:avLst/>
          </a:prstGeom>
          <a:noFill/>
          <a:ln w="9525" algn="ctr">
            <a:noFill/>
            <a:miter lim="800000"/>
            <a:headEnd/>
            <a:tailEnd/>
          </a:ln>
        </p:spPr>
        <p:txBody>
          <a:bodyPr wrap="none">
            <a:spAutoFit/>
          </a:bodyPr>
          <a:lstStyle/>
          <a:p>
            <a:pPr algn="ctr" defTabSz="4702175">
              <a:defRPr/>
            </a:pPr>
            <a:r>
              <a:rPr lang="en-US" sz="2400" dirty="0"/>
              <a:t>Display</a:t>
            </a:r>
          </a:p>
          <a:p>
            <a:pPr algn="ctr" defTabSz="4702175">
              <a:defRPr/>
            </a:pPr>
            <a:r>
              <a:rPr lang="en-US" sz="2400" dirty="0"/>
              <a:t>Intensity</a:t>
            </a:r>
          </a:p>
        </p:txBody>
      </p:sp>
      <p:sp>
        <p:nvSpPr>
          <p:cNvPr id="69650" name="Title 37"/>
          <p:cNvSpPr>
            <a:spLocks noGrp="1"/>
          </p:cNvSpPr>
          <p:nvPr>
            <p:ph type="title"/>
          </p:nvPr>
        </p:nvSpPr>
        <p:spPr/>
        <p:txBody>
          <a:bodyPr>
            <a:normAutofit/>
          </a:bodyPr>
          <a:lstStyle/>
          <a:p>
            <a:r>
              <a:rPr lang="en-US" dirty="0"/>
              <a:t>Image Display: Gamma, Brightness and Contrast</a:t>
            </a:r>
          </a:p>
        </p:txBody>
      </p:sp>
      <p:sp>
        <p:nvSpPr>
          <p:cNvPr id="38" name="TextBox 19">
            <a:extLst>
              <a:ext uri="{FF2B5EF4-FFF2-40B4-BE49-F238E27FC236}">
                <a16:creationId xmlns:a16="http://schemas.microsoft.com/office/drawing/2014/main" id="{3C5F8FB0-30DB-4CC7-B0FA-36842CD182F5}"/>
              </a:ext>
            </a:extLst>
          </p:cNvPr>
          <p:cNvSpPr txBox="1">
            <a:spLocks noChangeArrowheads="1"/>
          </p:cNvSpPr>
          <p:nvPr/>
        </p:nvSpPr>
        <p:spPr bwMode="auto">
          <a:xfrm>
            <a:off x="4526692" y="6477000"/>
            <a:ext cx="3138616" cy="307777"/>
          </a:xfrm>
          <a:prstGeom prst="rect">
            <a:avLst/>
          </a:prstGeom>
          <a:noFill/>
          <a:ln w="9525">
            <a:noFill/>
            <a:miter lim="800000"/>
            <a:headEnd/>
            <a:tailEnd/>
          </a:ln>
        </p:spPr>
        <p:txBody>
          <a:bodyPr wrap="none">
            <a:spAutoFit/>
          </a:bodyPr>
          <a:lstStyle/>
          <a:p>
            <a:pPr algn="ctr"/>
            <a:r>
              <a:rPr lang="en-US" sz="1400" dirty="0">
                <a:solidFill>
                  <a:schemeClr val="bg1"/>
                </a:solidFill>
                <a:hlinkClick r:id="rId15">
                  <a:extLst>
                    <a:ext uri="{A12FA001-AC4F-418D-AE19-62706E023703}">
                      <ahyp:hlinkClr xmlns:ahyp="http://schemas.microsoft.com/office/drawing/2018/hyperlinkcolor" val="tx"/>
                    </a:ext>
                  </a:extLst>
                </a:hlinkClick>
              </a:rPr>
              <a:t>Brown, J Cell Sci., 120, 1703-1705 (2007)</a:t>
            </a:r>
            <a:endParaRPr lang="en-US" sz="1400" dirty="0">
              <a:solidFill>
                <a:schemeClr val="bg1"/>
              </a:solidFill>
            </a:endParaRPr>
          </a:p>
        </p:txBody>
      </p:sp>
      <p:sp>
        <p:nvSpPr>
          <p:cNvPr id="10" name="Date Placeholder 9">
            <a:extLst>
              <a:ext uri="{FF2B5EF4-FFF2-40B4-BE49-F238E27FC236}">
                <a16:creationId xmlns:a16="http://schemas.microsoft.com/office/drawing/2014/main" id="{A22379C3-DA7A-4CB9-9B5E-B0F6F2CFCB96}"/>
              </a:ext>
            </a:extLst>
          </p:cNvPr>
          <p:cNvSpPr>
            <a:spLocks noGrp="1"/>
          </p:cNvSpPr>
          <p:nvPr>
            <p:ph type="dt" sz="half" idx="10"/>
          </p:nvPr>
        </p:nvSpPr>
        <p:spPr/>
        <p:txBody>
          <a:bodyPr/>
          <a:lstStyle/>
          <a:p>
            <a:fld id="{F41A79B8-CE2B-45CE-A0C4-CDDADB8F7DF6}" type="datetime1">
              <a:rPr lang="en-CA" smtClean="0"/>
              <a:t>2026-05-25</a:t>
            </a:fld>
            <a:endParaRPr lang="fr-CA"/>
          </a:p>
        </p:txBody>
      </p:sp>
      <p:sp>
        <p:nvSpPr>
          <p:cNvPr id="11" name="Slide Number Placeholder 10">
            <a:extLst>
              <a:ext uri="{FF2B5EF4-FFF2-40B4-BE49-F238E27FC236}">
                <a16:creationId xmlns:a16="http://schemas.microsoft.com/office/drawing/2014/main" id="{15B134DA-C313-4A0D-A520-C70BB1C0803A}"/>
              </a:ext>
            </a:extLst>
          </p:cNvPr>
          <p:cNvSpPr>
            <a:spLocks noGrp="1"/>
          </p:cNvSpPr>
          <p:nvPr>
            <p:ph type="sldNum" sz="quarter" idx="12"/>
          </p:nvPr>
        </p:nvSpPr>
        <p:spPr/>
        <p:txBody>
          <a:bodyPr/>
          <a:lstStyle/>
          <a:p>
            <a:fld id="{52B199FE-8D1D-41C7-8040-B5BAD29DE590}"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6"/>
          <p:cNvPicPr>
            <a:picLocks noChangeAspect="1" noChangeArrowheads="1"/>
          </p:cNvPicPr>
          <p:nvPr/>
        </p:nvPicPr>
        <p:blipFill>
          <a:blip r:embed="rId3" cstate="print"/>
          <a:srcRect/>
          <a:stretch>
            <a:fillRect/>
          </a:stretch>
        </p:blipFill>
        <p:spPr bwMode="auto">
          <a:xfrm>
            <a:off x="2439989" y="1143000"/>
            <a:ext cx="3089275" cy="3200400"/>
          </a:xfrm>
          <a:prstGeom prst="rect">
            <a:avLst/>
          </a:prstGeom>
          <a:noFill/>
          <a:ln w="9525">
            <a:noFill/>
            <a:miter lim="800000"/>
            <a:headEnd/>
            <a:tailEnd/>
          </a:ln>
        </p:spPr>
      </p:pic>
      <p:sp>
        <p:nvSpPr>
          <p:cNvPr id="70659" name="Rectangle 2"/>
          <p:cNvSpPr>
            <a:spLocks noGrp="1" noChangeArrowheads="1"/>
          </p:cNvSpPr>
          <p:nvPr>
            <p:ph type="title"/>
          </p:nvPr>
        </p:nvSpPr>
        <p:spPr/>
        <p:txBody>
          <a:bodyPr/>
          <a:lstStyle/>
          <a:p>
            <a:pPr eaLnBrk="1" hangingPunct="1"/>
            <a:r>
              <a:rPr lang="en-US" dirty="0"/>
              <a:t>Image Display: Gamma Factor Enhances Dim Features</a:t>
            </a:r>
          </a:p>
        </p:txBody>
      </p:sp>
      <p:pic>
        <p:nvPicPr>
          <p:cNvPr id="70660" name="Picture 7"/>
          <p:cNvPicPr>
            <a:picLocks noChangeArrowheads="1"/>
          </p:cNvPicPr>
          <p:nvPr/>
        </p:nvPicPr>
        <p:blipFill>
          <a:blip r:embed="rId4" cstate="print"/>
          <a:srcRect/>
          <a:stretch>
            <a:fillRect/>
          </a:stretch>
        </p:blipFill>
        <p:spPr bwMode="auto">
          <a:xfrm>
            <a:off x="2438401" y="4535488"/>
            <a:ext cx="3090863" cy="1408112"/>
          </a:xfrm>
          <a:prstGeom prst="rect">
            <a:avLst/>
          </a:prstGeom>
          <a:noFill/>
          <a:ln w="9525">
            <a:noFill/>
            <a:miter lim="800000"/>
            <a:headEnd/>
            <a:tailEnd/>
          </a:ln>
        </p:spPr>
      </p:pic>
      <p:sp>
        <p:nvSpPr>
          <p:cNvPr id="70661" name="TextBox 7"/>
          <p:cNvSpPr txBox="1">
            <a:spLocks noChangeArrowheads="1"/>
          </p:cNvSpPr>
          <p:nvPr/>
        </p:nvSpPr>
        <p:spPr bwMode="auto">
          <a:xfrm>
            <a:off x="3619500" y="6477000"/>
            <a:ext cx="4953000" cy="307777"/>
          </a:xfrm>
          <a:prstGeom prst="rect">
            <a:avLst/>
          </a:prstGeom>
          <a:noFill/>
          <a:ln w="9525">
            <a:noFill/>
            <a:miter lim="800000"/>
            <a:headEnd/>
            <a:tailEnd/>
          </a:ln>
        </p:spPr>
        <p:txBody>
          <a:bodyPr>
            <a:spAutoFit/>
          </a:bodyPr>
          <a:lstStyle/>
          <a:p>
            <a:pPr algn="ctr"/>
            <a:r>
              <a:rPr lang="en-US" sz="1400" dirty="0">
                <a:solidFill>
                  <a:schemeClr val="bg1"/>
                </a:solidFill>
              </a:rPr>
              <a:t>Zeiss LSM 510 Confocal Manual</a:t>
            </a:r>
          </a:p>
        </p:txBody>
      </p:sp>
      <p:pic>
        <p:nvPicPr>
          <p:cNvPr id="15" name="Picture 4"/>
          <p:cNvPicPr>
            <a:picLocks noChangeAspect="1" noChangeArrowheads="1"/>
          </p:cNvPicPr>
          <p:nvPr/>
        </p:nvPicPr>
        <p:blipFill>
          <a:blip r:embed="rId5" cstate="print"/>
          <a:srcRect/>
          <a:stretch>
            <a:fillRect/>
          </a:stretch>
        </p:blipFill>
        <p:spPr bwMode="auto">
          <a:xfrm>
            <a:off x="6554789" y="1143000"/>
            <a:ext cx="3089275" cy="3200400"/>
          </a:xfrm>
          <a:prstGeom prst="rect">
            <a:avLst/>
          </a:prstGeom>
          <a:noFill/>
          <a:ln w="9525">
            <a:noFill/>
            <a:miter lim="800000"/>
            <a:headEnd/>
            <a:tailEnd/>
          </a:ln>
        </p:spPr>
      </p:pic>
      <p:pic>
        <p:nvPicPr>
          <p:cNvPr id="21" name="Picture 5"/>
          <p:cNvPicPr>
            <a:picLocks noChangeArrowheads="1"/>
          </p:cNvPicPr>
          <p:nvPr/>
        </p:nvPicPr>
        <p:blipFill>
          <a:blip r:embed="rId6" cstate="print"/>
          <a:srcRect/>
          <a:stretch>
            <a:fillRect/>
          </a:stretch>
        </p:blipFill>
        <p:spPr bwMode="auto">
          <a:xfrm>
            <a:off x="6553201" y="4495800"/>
            <a:ext cx="3090863" cy="1466850"/>
          </a:xfrm>
          <a:prstGeom prst="rect">
            <a:avLst/>
          </a:prstGeom>
          <a:noFill/>
          <a:ln w="9525">
            <a:noFill/>
            <a:miter lim="800000"/>
            <a:headEnd/>
            <a:tailEnd/>
          </a:ln>
        </p:spPr>
      </p:pic>
      <p:sp>
        <p:nvSpPr>
          <p:cNvPr id="8" name="TextBox 7"/>
          <p:cNvSpPr txBox="1"/>
          <p:nvPr/>
        </p:nvSpPr>
        <p:spPr>
          <a:xfrm>
            <a:off x="3642166" y="5943600"/>
            <a:ext cx="955711" cy="461665"/>
          </a:xfrm>
          <a:prstGeom prst="rect">
            <a:avLst/>
          </a:prstGeom>
          <a:noFill/>
        </p:spPr>
        <p:txBody>
          <a:bodyPr wrap="none">
            <a:spAutoFit/>
          </a:bodyPr>
          <a:lstStyle/>
          <a:p>
            <a:pPr algn="ctr">
              <a:defRPr/>
            </a:pPr>
            <a:r>
              <a:rPr lang="en-US" sz="2400" dirty="0"/>
              <a:t>Linear</a:t>
            </a:r>
          </a:p>
        </p:txBody>
      </p:sp>
      <p:sp>
        <p:nvSpPr>
          <p:cNvPr id="9" name="TextBox 8"/>
          <p:cNvSpPr txBox="1"/>
          <p:nvPr/>
        </p:nvSpPr>
        <p:spPr>
          <a:xfrm>
            <a:off x="7478044" y="5943600"/>
            <a:ext cx="1513556" cy="461665"/>
          </a:xfrm>
          <a:prstGeom prst="rect">
            <a:avLst/>
          </a:prstGeom>
          <a:noFill/>
        </p:spPr>
        <p:txBody>
          <a:bodyPr wrap="none">
            <a:spAutoFit/>
          </a:bodyPr>
          <a:lstStyle/>
          <a:p>
            <a:pPr algn="ctr">
              <a:defRPr/>
            </a:pPr>
            <a:r>
              <a:rPr lang="en-US" sz="2400" dirty="0"/>
              <a:t>Non-linear</a:t>
            </a:r>
          </a:p>
        </p:txBody>
      </p:sp>
      <p:sp>
        <p:nvSpPr>
          <p:cNvPr id="2" name="Date Placeholder 1">
            <a:extLst>
              <a:ext uri="{FF2B5EF4-FFF2-40B4-BE49-F238E27FC236}">
                <a16:creationId xmlns:a16="http://schemas.microsoft.com/office/drawing/2014/main" id="{60931473-5CED-4459-89AB-C094B38CA0A8}"/>
              </a:ext>
            </a:extLst>
          </p:cNvPr>
          <p:cNvSpPr>
            <a:spLocks noGrp="1"/>
          </p:cNvSpPr>
          <p:nvPr>
            <p:ph type="dt" sz="half" idx="10"/>
          </p:nvPr>
        </p:nvSpPr>
        <p:spPr/>
        <p:txBody>
          <a:bodyPr/>
          <a:lstStyle/>
          <a:p>
            <a:fld id="{19E2CF85-B757-4B48-A288-6E58BF3005EA}" type="datetime1">
              <a:rPr lang="en-CA" smtClean="0"/>
              <a:t>2026-05-25</a:t>
            </a:fld>
            <a:endParaRPr lang="fr-CA"/>
          </a:p>
        </p:txBody>
      </p:sp>
      <p:sp>
        <p:nvSpPr>
          <p:cNvPr id="3" name="Slide Number Placeholder 2">
            <a:extLst>
              <a:ext uri="{FF2B5EF4-FFF2-40B4-BE49-F238E27FC236}">
                <a16:creationId xmlns:a16="http://schemas.microsoft.com/office/drawing/2014/main" id="{0398D07B-D6FA-41B4-B346-568329FE2732}"/>
              </a:ext>
            </a:extLst>
          </p:cNvPr>
          <p:cNvSpPr>
            <a:spLocks noGrp="1"/>
          </p:cNvSpPr>
          <p:nvPr>
            <p:ph type="sldNum" sz="quarter" idx="12"/>
          </p:nvPr>
        </p:nvSpPr>
        <p:spPr/>
        <p:txBody>
          <a:bodyPr/>
          <a:lstStyle/>
          <a:p>
            <a:fld id="{52B199FE-8D1D-41C7-8040-B5BAD29DE590}"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picture containing invertebrate&#10;&#10;Description automatically generated">
            <a:extLst>
              <a:ext uri="{FF2B5EF4-FFF2-40B4-BE49-F238E27FC236}">
                <a16:creationId xmlns:a16="http://schemas.microsoft.com/office/drawing/2014/main" id="{7A60237A-534A-496F-BFFC-8677C42B950A}"/>
              </a:ext>
            </a:extLst>
          </p:cNvPr>
          <p:cNvPicPr>
            <a:picLocks noChangeAspect="1"/>
          </p:cNvPicPr>
          <p:nvPr/>
        </p:nvPicPr>
        <p:blipFill>
          <a:blip r:embed="rId3"/>
          <a:stretch>
            <a:fillRect/>
          </a:stretch>
        </p:blipFill>
        <p:spPr>
          <a:xfrm>
            <a:off x="7428000" y="2932200"/>
            <a:ext cx="3240000" cy="3240000"/>
          </a:xfrm>
          <a:prstGeom prst="rect">
            <a:avLst/>
          </a:prstGeom>
        </p:spPr>
      </p:pic>
      <p:sp>
        <p:nvSpPr>
          <p:cNvPr id="68610" name="Title 1"/>
          <p:cNvSpPr>
            <a:spLocks noGrp="1"/>
          </p:cNvSpPr>
          <p:nvPr>
            <p:ph type="title"/>
          </p:nvPr>
        </p:nvSpPr>
        <p:spPr/>
        <p:txBody>
          <a:bodyPr/>
          <a:lstStyle/>
          <a:p>
            <a:r>
              <a:rPr lang="en-US"/>
              <a:t>Image Display: Colour Overlays</a:t>
            </a:r>
          </a:p>
        </p:txBody>
      </p:sp>
      <p:sp>
        <p:nvSpPr>
          <p:cNvPr id="3" name="Content Placeholder 2">
            <a:extLst>
              <a:ext uri="{FF2B5EF4-FFF2-40B4-BE49-F238E27FC236}">
                <a16:creationId xmlns:a16="http://schemas.microsoft.com/office/drawing/2014/main" id="{D3B9CC89-1943-4C2A-9A0E-1F57E589EA61}"/>
              </a:ext>
            </a:extLst>
          </p:cNvPr>
          <p:cNvSpPr>
            <a:spLocks noGrp="1"/>
          </p:cNvSpPr>
          <p:nvPr>
            <p:ph idx="1"/>
          </p:nvPr>
        </p:nvSpPr>
        <p:spPr>
          <a:xfrm>
            <a:off x="304800" y="1066801"/>
            <a:ext cx="11430000" cy="4802293"/>
          </a:xfrm>
        </p:spPr>
        <p:txBody>
          <a:bodyPr/>
          <a:lstStyle/>
          <a:p>
            <a:r>
              <a:rPr lang="en-CA" sz="2400" dirty="0">
                <a:solidFill>
                  <a:schemeClr val="tx1"/>
                </a:solidFill>
              </a:rPr>
              <a:t>Use greyscale for individual images and only colour in overlays.</a:t>
            </a:r>
          </a:p>
          <a:p>
            <a:r>
              <a:rPr lang="en-CA" dirty="0">
                <a:solidFill>
                  <a:schemeClr val="tx1"/>
                </a:solidFill>
              </a:rPr>
              <a:t>Make the font of the protein/target name the colour it is in the overlay image.</a:t>
            </a:r>
            <a:endParaRPr lang="en-CA" sz="2400" dirty="0">
              <a:solidFill>
                <a:schemeClr val="tx1"/>
              </a:solidFill>
            </a:endParaRPr>
          </a:p>
          <a:p>
            <a:r>
              <a:rPr lang="en-CA" sz="2400" dirty="0">
                <a:solidFill>
                  <a:schemeClr val="tx1"/>
                </a:solidFill>
              </a:rPr>
              <a:t>Use arrows to highlight common features.</a:t>
            </a:r>
          </a:p>
          <a:p>
            <a:r>
              <a:rPr lang="en-CA" dirty="0">
                <a:solidFill>
                  <a:schemeClr val="tx1"/>
                </a:solidFill>
              </a:rPr>
              <a:t>Avoid red and green, it is not colour blind friendly.</a:t>
            </a:r>
            <a:endParaRPr lang="en-CA" sz="2400" dirty="0">
              <a:solidFill>
                <a:schemeClr val="tx1"/>
              </a:solidFill>
            </a:endParaRPr>
          </a:p>
          <a:p>
            <a:endParaRPr lang="en-CA" dirty="0">
              <a:solidFill>
                <a:schemeClr val="tx1"/>
              </a:solidFill>
            </a:endParaRPr>
          </a:p>
        </p:txBody>
      </p:sp>
      <p:pic>
        <p:nvPicPr>
          <p:cNvPr id="10" name="Picture 9" descr="A close-up of a leaf&#10;&#10;Description automatically generated with medium confidence">
            <a:extLst>
              <a:ext uri="{FF2B5EF4-FFF2-40B4-BE49-F238E27FC236}">
                <a16:creationId xmlns:a16="http://schemas.microsoft.com/office/drawing/2014/main" id="{6D2B84E1-ECAA-4E71-9BE6-FAE40F6398D8}"/>
              </a:ext>
            </a:extLst>
          </p:cNvPr>
          <p:cNvPicPr>
            <a:picLocks noChangeAspect="1"/>
          </p:cNvPicPr>
          <p:nvPr/>
        </p:nvPicPr>
        <p:blipFill>
          <a:blip r:embed="rId4"/>
          <a:stretch>
            <a:fillRect/>
          </a:stretch>
        </p:blipFill>
        <p:spPr>
          <a:xfrm>
            <a:off x="3922800" y="2932200"/>
            <a:ext cx="3240000" cy="3240000"/>
          </a:xfrm>
          <a:prstGeom prst="rect">
            <a:avLst/>
          </a:prstGeom>
        </p:spPr>
      </p:pic>
      <p:pic>
        <p:nvPicPr>
          <p:cNvPr id="11" name="Picture 10" descr="A close-up of a planet&#10;&#10;Description automatically generated with low confidence">
            <a:extLst>
              <a:ext uri="{FF2B5EF4-FFF2-40B4-BE49-F238E27FC236}">
                <a16:creationId xmlns:a16="http://schemas.microsoft.com/office/drawing/2014/main" id="{DB3AEC29-9C81-444E-87AC-55EA243A7207}"/>
              </a:ext>
            </a:extLst>
          </p:cNvPr>
          <p:cNvPicPr>
            <a:picLocks noChangeAspect="1"/>
          </p:cNvPicPr>
          <p:nvPr/>
        </p:nvPicPr>
        <p:blipFill>
          <a:blip r:embed="rId5"/>
          <a:stretch>
            <a:fillRect/>
          </a:stretch>
        </p:blipFill>
        <p:spPr>
          <a:xfrm>
            <a:off x="381000" y="2932200"/>
            <a:ext cx="3240000" cy="3240000"/>
          </a:xfrm>
          <a:prstGeom prst="rect">
            <a:avLst/>
          </a:prstGeom>
        </p:spPr>
      </p:pic>
      <p:sp>
        <p:nvSpPr>
          <p:cNvPr id="12" name="TextBox 11">
            <a:extLst>
              <a:ext uri="{FF2B5EF4-FFF2-40B4-BE49-F238E27FC236}">
                <a16:creationId xmlns:a16="http://schemas.microsoft.com/office/drawing/2014/main" id="{FA14002D-CBEA-4DF5-AFB2-38922D3B6C67}"/>
              </a:ext>
            </a:extLst>
          </p:cNvPr>
          <p:cNvSpPr txBox="1"/>
          <p:nvPr/>
        </p:nvSpPr>
        <p:spPr>
          <a:xfrm>
            <a:off x="4495800" y="5715000"/>
            <a:ext cx="2693366" cy="461665"/>
          </a:xfrm>
          <a:prstGeom prst="rect">
            <a:avLst/>
          </a:prstGeom>
          <a:solidFill>
            <a:srgbClr val="000000">
              <a:alpha val="50196"/>
            </a:srgbClr>
          </a:solidFill>
        </p:spPr>
        <p:txBody>
          <a:bodyPr wrap="none" rtlCol="0">
            <a:spAutoFit/>
          </a:bodyPr>
          <a:lstStyle/>
          <a:p>
            <a:r>
              <a:rPr lang="en-US" sz="2400" dirty="0">
                <a:solidFill>
                  <a:srgbClr val="FF00FF"/>
                </a:solidFill>
              </a:rPr>
              <a:t>Actin Phalloidin-405</a:t>
            </a:r>
            <a:endParaRPr lang="en-CA" sz="2400" dirty="0">
              <a:solidFill>
                <a:srgbClr val="FF00FF"/>
              </a:solidFill>
            </a:endParaRPr>
          </a:p>
        </p:txBody>
      </p:sp>
      <p:sp>
        <p:nvSpPr>
          <p:cNvPr id="13" name="TextBox 12">
            <a:extLst>
              <a:ext uri="{FF2B5EF4-FFF2-40B4-BE49-F238E27FC236}">
                <a16:creationId xmlns:a16="http://schemas.microsoft.com/office/drawing/2014/main" id="{616AEA74-A552-4C97-83F1-319AB4B745EF}"/>
              </a:ext>
            </a:extLst>
          </p:cNvPr>
          <p:cNvSpPr txBox="1"/>
          <p:nvPr/>
        </p:nvSpPr>
        <p:spPr>
          <a:xfrm>
            <a:off x="1787576" y="5715000"/>
            <a:ext cx="1793824" cy="461665"/>
          </a:xfrm>
          <a:prstGeom prst="rect">
            <a:avLst/>
          </a:prstGeom>
          <a:solidFill>
            <a:srgbClr val="000000">
              <a:alpha val="50196"/>
            </a:srgbClr>
          </a:solidFill>
        </p:spPr>
        <p:txBody>
          <a:bodyPr wrap="none" rtlCol="0">
            <a:spAutoFit/>
          </a:bodyPr>
          <a:lstStyle/>
          <a:p>
            <a:r>
              <a:rPr lang="en-US" sz="2400" dirty="0">
                <a:solidFill>
                  <a:srgbClr val="00B050"/>
                </a:solidFill>
              </a:rPr>
              <a:t>Paxillin-EGFP</a:t>
            </a:r>
            <a:endParaRPr lang="en-CA" sz="2400" dirty="0">
              <a:solidFill>
                <a:srgbClr val="00B050"/>
              </a:solidFill>
            </a:endParaRPr>
          </a:p>
        </p:txBody>
      </p:sp>
      <p:sp>
        <p:nvSpPr>
          <p:cNvPr id="15" name="TextBox 8">
            <a:extLst>
              <a:ext uri="{FF2B5EF4-FFF2-40B4-BE49-F238E27FC236}">
                <a16:creationId xmlns:a16="http://schemas.microsoft.com/office/drawing/2014/main" id="{0EA79AEC-3E44-48DA-8F7B-6D1ACA078C29}"/>
              </a:ext>
            </a:extLst>
          </p:cNvPr>
          <p:cNvSpPr txBox="1">
            <a:spLocks noChangeArrowheads="1"/>
          </p:cNvSpPr>
          <p:nvPr/>
        </p:nvSpPr>
        <p:spPr bwMode="auto">
          <a:xfrm>
            <a:off x="3923258" y="6477000"/>
            <a:ext cx="4345485" cy="307777"/>
          </a:xfrm>
          <a:prstGeom prst="rect">
            <a:avLst/>
          </a:prstGeom>
          <a:noFill/>
          <a:ln w="9525">
            <a:noFill/>
            <a:miter lim="800000"/>
            <a:headEnd/>
            <a:tailEnd/>
          </a:ln>
        </p:spPr>
        <p:txBody>
          <a:bodyPr wrap="none">
            <a:spAutoFit/>
          </a:bodyPr>
          <a:lstStyle/>
          <a:p>
            <a:pPr algn="ctr"/>
            <a:r>
              <a:rPr lang="en-US" sz="1400" dirty="0">
                <a:solidFill>
                  <a:schemeClr val="bg1"/>
                </a:solidFill>
              </a:rPr>
              <a:t>Claire Brown, McGill  Advanced BioImaging Facility (ABIF)</a:t>
            </a:r>
          </a:p>
        </p:txBody>
      </p:sp>
      <p:sp>
        <p:nvSpPr>
          <p:cNvPr id="4" name="Date Placeholder 3">
            <a:extLst>
              <a:ext uri="{FF2B5EF4-FFF2-40B4-BE49-F238E27FC236}">
                <a16:creationId xmlns:a16="http://schemas.microsoft.com/office/drawing/2014/main" id="{0F462655-A0A9-445F-A270-542DE7F15EF5}"/>
              </a:ext>
            </a:extLst>
          </p:cNvPr>
          <p:cNvSpPr>
            <a:spLocks noGrp="1"/>
          </p:cNvSpPr>
          <p:nvPr>
            <p:ph type="dt" sz="half" idx="10"/>
          </p:nvPr>
        </p:nvSpPr>
        <p:spPr/>
        <p:txBody>
          <a:bodyPr/>
          <a:lstStyle/>
          <a:p>
            <a:fld id="{B7E4048F-89F6-4B5D-8F21-C2AC9AED8BA7}" type="datetime1">
              <a:rPr lang="en-CA" smtClean="0"/>
              <a:t>2026-05-25</a:t>
            </a:fld>
            <a:endParaRPr lang="fr-CA"/>
          </a:p>
        </p:txBody>
      </p:sp>
      <p:sp>
        <p:nvSpPr>
          <p:cNvPr id="5" name="Slide Number Placeholder 4">
            <a:extLst>
              <a:ext uri="{FF2B5EF4-FFF2-40B4-BE49-F238E27FC236}">
                <a16:creationId xmlns:a16="http://schemas.microsoft.com/office/drawing/2014/main" id="{BE55972B-6C4A-4343-992E-62253EDD5950}"/>
              </a:ext>
            </a:extLst>
          </p:cNvPr>
          <p:cNvSpPr>
            <a:spLocks noGrp="1"/>
          </p:cNvSpPr>
          <p:nvPr>
            <p:ph type="sldNum" sz="quarter" idx="12"/>
          </p:nvPr>
        </p:nvSpPr>
        <p:spPr/>
        <p:txBody>
          <a:bodyPr/>
          <a:lstStyle/>
          <a:p>
            <a:fld id="{52B199FE-8D1D-41C7-8040-B5BAD29DE590}"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C030D-CD0D-57F4-D416-2BD15C94402D}"/>
              </a:ext>
            </a:extLst>
          </p:cNvPr>
          <p:cNvSpPr>
            <a:spLocks noGrp="1"/>
          </p:cNvSpPr>
          <p:nvPr>
            <p:ph type="title"/>
          </p:nvPr>
        </p:nvSpPr>
        <p:spPr/>
        <p:txBody>
          <a:bodyPr/>
          <a:lstStyle/>
          <a:p>
            <a:r>
              <a:rPr lang="en-CA" dirty="0"/>
              <a:t>Colour Blind Checker – Can Be Used for Event Flyers as Well</a:t>
            </a:r>
          </a:p>
        </p:txBody>
      </p:sp>
      <p:sp>
        <p:nvSpPr>
          <p:cNvPr id="3" name="Content Placeholder 2">
            <a:extLst>
              <a:ext uri="{FF2B5EF4-FFF2-40B4-BE49-F238E27FC236}">
                <a16:creationId xmlns:a16="http://schemas.microsoft.com/office/drawing/2014/main" id="{AEA867F8-36F8-49D0-70A7-F33A1009BF6C}"/>
              </a:ext>
            </a:extLst>
          </p:cNvPr>
          <p:cNvSpPr>
            <a:spLocks noGrp="1"/>
          </p:cNvSpPr>
          <p:nvPr>
            <p:ph idx="1"/>
          </p:nvPr>
        </p:nvSpPr>
        <p:spPr/>
        <p:txBody>
          <a:bodyPr/>
          <a:lstStyle/>
          <a:p>
            <a:pPr marL="0" indent="0">
              <a:buNone/>
            </a:pPr>
            <a:r>
              <a:rPr lang="en-CA" dirty="0">
                <a:hlinkClick r:id="rId3"/>
              </a:rPr>
              <a:t>https://www.color-blindness.com/coblis-color-blindness-simulator/</a:t>
            </a:r>
            <a:endParaRPr lang="en-CA" dirty="0"/>
          </a:p>
        </p:txBody>
      </p:sp>
      <p:sp>
        <p:nvSpPr>
          <p:cNvPr id="4" name="Date Placeholder 3">
            <a:extLst>
              <a:ext uri="{FF2B5EF4-FFF2-40B4-BE49-F238E27FC236}">
                <a16:creationId xmlns:a16="http://schemas.microsoft.com/office/drawing/2014/main" id="{2B53EFF8-2EC6-2D26-1B2D-809A94905844}"/>
              </a:ext>
            </a:extLst>
          </p:cNvPr>
          <p:cNvSpPr>
            <a:spLocks noGrp="1"/>
          </p:cNvSpPr>
          <p:nvPr>
            <p:ph type="dt" sz="half" idx="10"/>
          </p:nvPr>
        </p:nvSpPr>
        <p:spPr/>
        <p:txBody>
          <a:bodyPr/>
          <a:lstStyle/>
          <a:p>
            <a:fld id="{7A05C028-F2A6-4C4E-AEED-FDAD8CE09F2C}" type="datetime1">
              <a:rPr lang="en-CA" smtClean="0"/>
              <a:t>2026-05-25</a:t>
            </a:fld>
            <a:endParaRPr lang="fr-CA"/>
          </a:p>
        </p:txBody>
      </p:sp>
      <p:sp>
        <p:nvSpPr>
          <p:cNvPr id="5" name="Slide Number Placeholder 4">
            <a:extLst>
              <a:ext uri="{FF2B5EF4-FFF2-40B4-BE49-F238E27FC236}">
                <a16:creationId xmlns:a16="http://schemas.microsoft.com/office/drawing/2014/main" id="{600DE0AD-E832-7134-3464-38C4AC62400D}"/>
              </a:ext>
            </a:extLst>
          </p:cNvPr>
          <p:cNvSpPr>
            <a:spLocks noGrp="1"/>
          </p:cNvSpPr>
          <p:nvPr>
            <p:ph type="sldNum" sz="quarter" idx="12"/>
          </p:nvPr>
        </p:nvSpPr>
        <p:spPr/>
        <p:txBody>
          <a:bodyPr/>
          <a:lstStyle/>
          <a:p>
            <a:fld id="{52B199FE-8D1D-41C7-8040-B5BAD29DE590}" type="slidenum">
              <a:rPr lang="en-US" smtClean="0"/>
              <a:pPr/>
              <a:t>6</a:t>
            </a:fld>
            <a:endParaRPr lang="en-US"/>
          </a:p>
        </p:txBody>
      </p:sp>
      <p:pic>
        <p:nvPicPr>
          <p:cNvPr id="13" name="Picture 12">
            <a:extLst>
              <a:ext uri="{FF2B5EF4-FFF2-40B4-BE49-F238E27FC236}">
                <a16:creationId xmlns:a16="http://schemas.microsoft.com/office/drawing/2014/main" id="{83185692-D9B2-7D87-084A-C231679444A5}"/>
              </a:ext>
            </a:extLst>
          </p:cNvPr>
          <p:cNvPicPr>
            <a:picLocks noChangeAspect="1"/>
          </p:cNvPicPr>
          <p:nvPr/>
        </p:nvPicPr>
        <p:blipFill>
          <a:blip r:embed="rId4"/>
          <a:stretch>
            <a:fillRect/>
          </a:stretch>
        </p:blipFill>
        <p:spPr>
          <a:xfrm>
            <a:off x="2057400" y="1649195"/>
            <a:ext cx="7764540" cy="4599205"/>
          </a:xfrm>
          <a:prstGeom prst="rect">
            <a:avLst/>
          </a:prstGeom>
        </p:spPr>
      </p:pic>
      <p:sp>
        <p:nvSpPr>
          <p:cNvPr id="6" name="TextBox 8">
            <a:extLst>
              <a:ext uri="{FF2B5EF4-FFF2-40B4-BE49-F238E27FC236}">
                <a16:creationId xmlns:a16="http://schemas.microsoft.com/office/drawing/2014/main" id="{A7AF7FC2-12D1-4B8C-0B05-338BABCCFC5E}"/>
              </a:ext>
            </a:extLst>
          </p:cNvPr>
          <p:cNvSpPr txBox="1">
            <a:spLocks noChangeArrowheads="1"/>
          </p:cNvSpPr>
          <p:nvPr/>
        </p:nvSpPr>
        <p:spPr bwMode="auto">
          <a:xfrm>
            <a:off x="3923258" y="6477000"/>
            <a:ext cx="4345485" cy="307777"/>
          </a:xfrm>
          <a:prstGeom prst="rect">
            <a:avLst/>
          </a:prstGeom>
          <a:noFill/>
          <a:ln w="9525">
            <a:noFill/>
            <a:miter lim="800000"/>
            <a:headEnd/>
            <a:tailEnd/>
          </a:ln>
        </p:spPr>
        <p:txBody>
          <a:bodyPr wrap="none">
            <a:spAutoFit/>
          </a:bodyPr>
          <a:lstStyle/>
          <a:p>
            <a:pPr algn="ctr"/>
            <a:r>
              <a:rPr lang="en-US" sz="1400" dirty="0">
                <a:solidFill>
                  <a:schemeClr val="bg1"/>
                </a:solidFill>
              </a:rPr>
              <a:t>Claire Brown, McGill  Advanced BioImaging Facility (ABIF)</a:t>
            </a:r>
          </a:p>
        </p:txBody>
      </p:sp>
    </p:spTree>
    <p:extLst>
      <p:ext uri="{BB962C8B-B14F-4D97-AF65-F5344CB8AC3E}">
        <p14:creationId xmlns:p14="http://schemas.microsoft.com/office/powerpoint/2010/main" val="1091716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D33A-861B-B2BB-8F24-01E60D917D19}"/>
              </a:ext>
            </a:extLst>
          </p:cNvPr>
          <p:cNvSpPr>
            <a:spLocks noGrp="1"/>
          </p:cNvSpPr>
          <p:nvPr>
            <p:ph type="title"/>
          </p:nvPr>
        </p:nvSpPr>
        <p:spPr/>
        <p:txBody>
          <a:bodyPr/>
          <a:lstStyle/>
          <a:p>
            <a:r>
              <a:rPr lang="en-CA" dirty="0"/>
              <a:t>Scale Bars and Time Stamps</a:t>
            </a:r>
          </a:p>
        </p:txBody>
      </p:sp>
      <p:sp>
        <p:nvSpPr>
          <p:cNvPr id="3" name="Content Placeholder 2">
            <a:extLst>
              <a:ext uri="{FF2B5EF4-FFF2-40B4-BE49-F238E27FC236}">
                <a16:creationId xmlns:a16="http://schemas.microsoft.com/office/drawing/2014/main" id="{3E241BBF-B7B1-A236-9060-679AF38247A0}"/>
              </a:ext>
            </a:extLst>
          </p:cNvPr>
          <p:cNvSpPr>
            <a:spLocks noGrp="1"/>
          </p:cNvSpPr>
          <p:nvPr>
            <p:ph idx="1"/>
          </p:nvPr>
        </p:nvSpPr>
        <p:spPr>
          <a:xfrm>
            <a:off x="304800" y="1369907"/>
            <a:ext cx="4191000" cy="4802293"/>
          </a:xfrm>
        </p:spPr>
        <p:txBody>
          <a:bodyPr>
            <a:normAutofit/>
          </a:bodyPr>
          <a:lstStyle/>
          <a:p>
            <a:r>
              <a:rPr lang="en-CA" dirty="0"/>
              <a:t>Scale bars need to be displayed. The size can be on the image of in the figure caption.</a:t>
            </a:r>
          </a:p>
          <a:p>
            <a:r>
              <a:rPr lang="en-CA" dirty="0"/>
              <a:t>If there are regions of interest that are zoomed in on there should be a separate scale bar.</a:t>
            </a:r>
          </a:p>
          <a:p>
            <a:r>
              <a:rPr lang="en-CA" dirty="0"/>
              <a:t>If timelapse is done, the time stamp is required. </a:t>
            </a:r>
          </a:p>
          <a:p>
            <a:r>
              <a:rPr lang="en-GB" dirty="0"/>
              <a:t>Scale bars are 10 μm for whole-cell images and 2 μm for magnified images.</a:t>
            </a:r>
            <a:endParaRPr lang="en-CA" dirty="0"/>
          </a:p>
        </p:txBody>
      </p:sp>
      <p:sp>
        <p:nvSpPr>
          <p:cNvPr id="4" name="Date Placeholder 3">
            <a:extLst>
              <a:ext uri="{FF2B5EF4-FFF2-40B4-BE49-F238E27FC236}">
                <a16:creationId xmlns:a16="http://schemas.microsoft.com/office/drawing/2014/main" id="{04D61383-7411-53EB-D183-041C2875804B}"/>
              </a:ext>
            </a:extLst>
          </p:cNvPr>
          <p:cNvSpPr>
            <a:spLocks noGrp="1"/>
          </p:cNvSpPr>
          <p:nvPr>
            <p:ph type="dt" sz="half" idx="10"/>
          </p:nvPr>
        </p:nvSpPr>
        <p:spPr/>
        <p:txBody>
          <a:bodyPr/>
          <a:lstStyle/>
          <a:p>
            <a:fld id="{7A05C028-F2A6-4C4E-AEED-FDAD8CE09F2C}" type="datetime1">
              <a:rPr lang="en-CA" smtClean="0"/>
              <a:t>2026-05-25</a:t>
            </a:fld>
            <a:endParaRPr lang="fr-CA"/>
          </a:p>
        </p:txBody>
      </p:sp>
      <p:sp>
        <p:nvSpPr>
          <p:cNvPr id="5" name="Slide Number Placeholder 4">
            <a:extLst>
              <a:ext uri="{FF2B5EF4-FFF2-40B4-BE49-F238E27FC236}">
                <a16:creationId xmlns:a16="http://schemas.microsoft.com/office/drawing/2014/main" id="{379CB802-A37C-12DA-ADC6-45D6BDDFF32F}"/>
              </a:ext>
            </a:extLst>
          </p:cNvPr>
          <p:cNvSpPr>
            <a:spLocks noGrp="1"/>
          </p:cNvSpPr>
          <p:nvPr>
            <p:ph type="sldNum" sz="quarter" idx="12"/>
          </p:nvPr>
        </p:nvSpPr>
        <p:spPr/>
        <p:txBody>
          <a:bodyPr/>
          <a:lstStyle/>
          <a:p>
            <a:fld id="{52B199FE-8D1D-41C7-8040-B5BAD29DE590}" type="slidenum">
              <a:rPr lang="en-US" smtClean="0"/>
              <a:pPr/>
              <a:t>7</a:t>
            </a:fld>
            <a:endParaRPr lang="en-US"/>
          </a:p>
        </p:txBody>
      </p:sp>
      <p:pic>
        <p:nvPicPr>
          <p:cNvPr id="11" name="Picture 10">
            <a:extLst>
              <a:ext uri="{FF2B5EF4-FFF2-40B4-BE49-F238E27FC236}">
                <a16:creationId xmlns:a16="http://schemas.microsoft.com/office/drawing/2014/main" id="{B7DF7076-DC38-8EF9-1595-BE4C8848F86A}"/>
              </a:ext>
            </a:extLst>
          </p:cNvPr>
          <p:cNvPicPr>
            <a:picLocks noChangeAspect="1"/>
          </p:cNvPicPr>
          <p:nvPr/>
        </p:nvPicPr>
        <p:blipFill rotWithShape="1">
          <a:blip r:embed="rId2"/>
          <a:srcRect l="2502" r="2011"/>
          <a:stretch/>
        </p:blipFill>
        <p:spPr>
          <a:xfrm>
            <a:off x="4572000" y="1066801"/>
            <a:ext cx="7239000" cy="4571999"/>
          </a:xfrm>
          <a:prstGeom prst="rect">
            <a:avLst/>
          </a:prstGeom>
        </p:spPr>
      </p:pic>
      <p:sp>
        <p:nvSpPr>
          <p:cNvPr id="12" name="Footer Placeholder 4">
            <a:extLst>
              <a:ext uri="{FF2B5EF4-FFF2-40B4-BE49-F238E27FC236}">
                <a16:creationId xmlns:a16="http://schemas.microsoft.com/office/drawing/2014/main" id="{0F05C22F-8D5D-0042-D7E0-A755131EC723}"/>
              </a:ext>
            </a:extLst>
          </p:cNvPr>
          <p:cNvSpPr txBox="1">
            <a:spLocks/>
          </p:cNvSpPr>
          <p:nvPr/>
        </p:nvSpPr>
        <p:spPr>
          <a:xfrm>
            <a:off x="3235325" y="6477000"/>
            <a:ext cx="5721350" cy="287338"/>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CA" sz="1400" dirty="0">
                <a:solidFill>
                  <a:schemeClr val="bg1"/>
                </a:solidFill>
                <a:hlinkClick r:id="rId3">
                  <a:extLst>
                    <a:ext uri="{A12FA001-AC4F-418D-AE19-62706E023703}">
                      <ahyp:hlinkClr xmlns:ahyp="http://schemas.microsoft.com/office/drawing/2018/hyperlinkcolor" val="tx"/>
                    </a:ext>
                  </a:extLst>
                </a:hlinkClick>
              </a:rPr>
              <a:t>Kiepas et al, J. Cell Sci. (2020) </a:t>
            </a:r>
            <a:r>
              <a:rPr lang="fr-FR" sz="1400" dirty="0">
                <a:solidFill>
                  <a:schemeClr val="bg1"/>
                </a:solidFill>
                <a:hlinkClick r:id="rId3">
                  <a:extLst>
                    <a:ext uri="{A12FA001-AC4F-418D-AE19-62706E023703}">
                      <ahyp:hlinkClr xmlns:ahyp="http://schemas.microsoft.com/office/drawing/2018/hyperlinkcolor" val="tx"/>
                    </a:ext>
                  </a:extLst>
                </a:hlinkClick>
              </a:rPr>
              <a:t>133, jcs242834. doi:10.1242/jcs.242834</a:t>
            </a:r>
            <a:endParaRPr lang="fr-FR" sz="1400" dirty="0">
              <a:solidFill>
                <a:schemeClr val="bg1"/>
              </a:solidFill>
            </a:endParaRPr>
          </a:p>
        </p:txBody>
      </p:sp>
    </p:spTree>
    <p:extLst>
      <p:ext uri="{BB962C8B-B14F-4D97-AF65-F5344CB8AC3E}">
        <p14:creationId xmlns:p14="http://schemas.microsoft.com/office/powerpoint/2010/main" val="3771627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273-46F9-7123-692D-4750BDD12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05224-77E7-F83F-FAEA-2051665AE6D4}"/>
              </a:ext>
            </a:extLst>
          </p:cNvPr>
          <p:cNvSpPr>
            <a:spLocks noGrp="1"/>
          </p:cNvSpPr>
          <p:nvPr>
            <p:ph type="title"/>
          </p:nvPr>
        </p:nvSpPr>
        <p:spPr/>
        <p:txBody>
          <a:bodyPr/>
          <a:lstStyle/>
          <a:p>
            <a:r>
              <a:rPr lang="en-US" dirty="0"/>
              <a:t>Detailed Figure Captions and Scale Bars are Needed</a:t>
            </a:r>
          </a:p>
        </p:txBody>
      </p:sp>
      <p:sp>
        <p:nvSpPr>
          <p:cNvPr id="21" name="Date Placeholder 20">
            <a:extLst>
              <a:ext uri="{FF2B5EF4-FFF2-40B4-BE49-F238E27FC236}">
                <a16:creationId xmlns:a16="http://schemas.microsoft.com/office/drawing/2014/main" id="{AB70D49F-8481-076A-C41D-479422F5AFAE}"/>
              </a:ext>
            </a:extLst>
          </p:cNvPr>
          <p:cNvSpPr>
            <a:spLocks noGrp="1"/>
          </p:cNvSpPr>
          <p:nvPr>
            <p:ph type="dt" sz="half" idx="10"/>
          </p:nvPr>
        </p:nvSpPr>
        <p:spPr/>
        <p:txBody>
          <a:bodyPr/>
          <a:lstStyle/>
          <a:p>
            <a:fld id="{8146C933-6C81-4438-AE52-8F6BFA74AB00}" type="datetime1">
              <a:rPr lang="en-CA" smtClean="0"/>
              <a:t>2026-05-25</a:t>
            </a:fld>
            <a:endParaRPr lang="fr-CA"/>
          </a:p>
        </p:txBody>
      </p:sp>
      <p:sp>
        <p:nvSpPr>
          <p:cNvPr id="22" name="Slide Number Placeholder 21">
            <a:extLst>
              <a:ext uri="{FF2B5EF4-FFF2-40B4-BE49-F238E27FC236}">
                <a16:creationId xmlns:a16="http://schemas.microsoft.com/office/drawing/2014/main" id="{6272BDC9-8181-B21B-AF55-434A5CA12378}"/>
              </a:ext>
            </a:extLst>
          </p:cNvPr>
          <p:cNvSpPr>
            <a:spLocks noGrp="1"/>
          </p:cNvSpPr>
          <p:nvPr>
            <p:ph type="sldNum" sz="quarter" idx="12"/>
          </p:nvPr>
        </p:nvSpPr>
        <p:spPr/>
        <p:txBody>
          <a:bodyPr/>
          <a:lstStyle/>
          <a:p>
            <a:fld id="{52B199FE-8D1D-41C7-8040-B5BAD29DE590}" type="slidenum">
              <a:rPr lang="en-US" smtClean="0"/>
              <a:pPr/>
              <a:t>8</a:t>
            </a:fld>
            <a:endParaRPr lang="en-US"/>
          </a:p>
        </p:txBody>
      </p:sp>
      <p:pic>
        <p:nvPicPr>
          <p:cNvPr id="3" name="Picture 2">
            <a:extLst>
              <a:ext uri="{FF2B5EF4-FFF2-40B4-BE49-F238E27FC236}">
                <a16:creationId xmlns:a16="http://schemas.microsoft.com/office/drawing/2014/main" id="{A5F8F1AB-DB32-457D-5929-6D740518333A}"/>
              </a:ext>
            </a:extLst>
          </p:cNvPr>
          <p:cNvPicPr>
            <a:picLocks noChangeAspect="1"/>
          </p:cNvPicPr>
          <p:nvPr/>
        </p:nvPicPr>
        <p:blipFill rotWithShape="1">
          <a:blip r:embed="rId3"/>
          <a:srcRect r="28695" b="35577"/>
          <a:stretch/>
        </p:blipFill>
        <p:spPr>
          <a:xfrm>
            <a:off x="1791536" y="1126132"/>
            <a:ext cx="8038264" cy="3533572"/>
          </a:xfrm>
          <a:prstGeom prst="rect">
            <a:avLst/>
          </a:prstGeom>
        </p:spPr>
      </p:pic>
      <p:pic>
        <p:nvPicPr>
          <p:cNvPr id="6" name="Picture 5">
            <a:extLst>
              <a:ext uri="{FF2B5EF4-FFF2-40B4-BE49-F238E27FC236}">
                <a16:creationId xmlns:a16="http://schemas.microsoft.com/office/drawing/2014/main" id="{255CE980-B60A-FD9E-3681-5B58C8A395C2}"/>
              </a:ext>
            </a:extLst>
          </p:cNvPr>
          <p:cNvPicPr>
            <a:picLocks noChangeAspect="1"/>
          </p:cNvPicPr>
          <p:nvPr/>
        </p:nvPicPr>
        <p:blipFill rotWithShape="1">
          <a:blip r:embed="rId4"/>
          <a:srcRect b="15748"/>
          <a:stretch/>
        </p:blipFill>
        <p:spPr>
          <a:xfrm>
            <a:off x="1447397" y="4729715"/>
            <a:ext cx="9297206" cy="1366285"/>
          </a:xfrm>
          <a:prstGeom prst="rect">
            <a:avLst/>
          </a:prstGeom>
        </p:spPr>
      </p:pic>
      <p:sp>
        <p:nvSpPr>
          <p:cNvPr id="4" name="TextBox 8">
            <a:extLst>
              <a:ext uri="{FF2B5EF4-FFF2-40B4-BE49-F238E27FC236}">
                <a16:creationId xmlns:a16="http://schemas.microsoft.com/office/drawing/2014/main" id="{EF45E524-B52C-F7B4-3F22-1A8E3EC0B671}"/>
              </a:ext>
            </a:extLst>
          </p:cNvPr>
          <p:cNvSpPr txBox="1">
            <a:spLocks noChangeArrowheads="1"/>
          </p:cNvSpPr>
          <p:nvPr/>
        </p:nvSpPr>
        <p:spPr bwMode="auto">
          <a:xfrm>
            <a:off x="3923258" y="6477000"/>
            <a:ext cx="4345485" cy="307777"/>
          </a:xfrm>
          <a:prstGeom prst="rect">
            <a:avLst/>
          </a:prstGeom>
          <a:noFill/>
          <a:ln w="9525">
            <a:noFill/>
            <a:miter lim="800000"/>
            <a:headEnd/>
            <a:tailEnd/>
          </a:ln>
        </p:spPr>
        <p:txBody>
          <a:bodyPr wrap="none">
            <a:spAutoFit/>
          </a:bodyPr>
          <a:lstStyle/>
          <a:p>
            <a:pPr algn="ctr"/>
            <a:r>
              <a:rPr lang="en-US" sz="1400" dirty="0">
                <a:solidFill>
                  <a:schemeClr val="bg1"/>
                </a:solidFill>
              </a:rPr>
              <a:t>Claire Brown, McGill  Advanced BioImaging Facility (ABIF)</a:t>
            </a:r>
          </a:p>
        </p:txBody>
      </p:sp>
    </p:spTree>
    <p:extLst>
      <p:ext uri="{BB962C8B-B14F-4D97-AF65-F5344CB8AC3E}">
        <p14:creationId xmlns:p14="http://schemas.microsoft.com/office/powerpoint/2010/main" val="1212738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F0DBAD8-F246-446C-A950-DB55D65B6B10}"/>
              </a:ext>
            </a:extLst>
          </p:cNvPr>
          <p:cNvSpPr>
            <a:spLocks noGrp="1"/>
          </p:cNvSpPr>
          <p:nvPr>
            <p:ph type="title"/>
          </p:nvPr>
        </p:nvSpPr>
        <p:spPr/>
        <p:txBody>
          <a:bodyPr/>
          <a:lstStyle/>
          <a:p>
            <a:r>
              <a:rPr lang="en-CA" dirty="0"/>
              <a:t>Sampling &amp; Statistics</a:t>
            </a:r>
          </a:p>
        </p:txBody>
      </p:sp>
      <p:sp>
        <p:nvSpPr>
          <p:cNvPr id="7" name="Text Placeholder 6">
            <a:extLst>
              <a:ext uri="{FF2B5EF4-FFF2-40B4-BE49-F238E27FC236}">
                <a16:creationId xmlns:a16="http://schemas.microsoft.com/office/drawing/2014/main" id="{DC4B04EC-BDC2-4939-9EF6-219FEE6DE598}"/>
              </a:ext>
            </a:extLst>
          </p:cNvPr>
          <p:cNvSpPr>
            <a:spLocks noGrp="1"/>
          </p:cNvSpPr>
          <p:nvPr>
            <p:ph type="body" idx="1"/>
          </p:nvPr>
        </p:nvSpPr>
        <p:spPr/>
        <p:txBody>
          <a:bodyPr/>
          <a:lstStyle/>
          <a:p>
            <a:endParaRPr lang="en-CA"/>
          </a:p>
        </p:txBody>
      </p:sp>
      <p:sp>
        <p:nvSpPr>
          <p:cNvPr id="4" name="Date Placeholder 3">
            <a:extLst>
              <a:ext uri="{FF2B5EF4-FFF2-40B4-BE49-F238E27FC236}">
                <a16:creationId xmlns:a16="http://schemas.microsoft.com/office/drawing/2014/main" id="{E6D0AF03-CE7C-450C-894E-1EE215D49CDC}"/>
              </a:ext>
            </a:extLst>
          </p:cNvPr>
          <p:cNvSpPr>
            <a:spLocks noGrp="1"/>
          </p:cNvSpPr>
          <p:nvPr>
            <p:ph type="dt" sz="half" idx="10"/>
          </p:nvPr>
        </p:nvSpPr>
        <p:spPr/>
        <p:txBody>
          <a:bodyPr/>
          <a:lstStyle/>
          <a:p>
            <a:fld id="{1888068C-96D2-498B-A059-64658E560D9E}" type="datetime1">
              <a:rPr lang="en-CA" smtClean="0"/>
              <a:t>2026-05-25</a:t>
            </a:fld>
            <a:endParaRPr lang="fr-CA"/>
          </a:p>
        </p:txBody>
      </p:sp>
      <p:sp>
        <p:nvSpPr>
          <p:cNvPr id="5" name="Slide Number Placeholder 4">
            <a:extLst>
              <a:ext uri="{FF2B5EF4-FFF2-40B4-BE49-F238E27FC236}">
                <a16:creationId xmlns:a16="http://schemas.microsoft.com/office/drawing/2014/main" id="{2B678489-E0F3-4DB1-8397-6FBA6BE791C1}"/>
              </a:ext>
            </a:extLst>
          </p:cNvPr>
          <p:cNvSpPr>
            <a:spLocks noGrp="1"/>
          </p:cNvSpPr>
          <p:nvPr>
            <p:ph type="sldNum" sz="quarter" idx="12"/>
          </p:nvPr>
        </p:nvSpPr>
        <p:spPr/>
        <p:txBody>
          <a:bodyPr/>
          <a:lstStyle/>
          <a:p>
            <a:fld id="{52B199FE-8D1D-41C7-8040-B5BAD29DE590}" type="slidenum">
              <a:rPr lang="en-US" smtClean="0"/>
              <a:pPr/>
              <a:t>9</a:t>
            </a:fld>
            <a:endParaRPr lang="en-US"/>
          </a:p>
        </p:txBody>
      </p:sp>
    </p:spTree>
    <p:extLst>
      <p:ext uri="{BB962C8B-B14F-4D97-AF65-F5344CB8AC3E}">
        <p14:creationId xmlns:p14="http://schemas.microsoft.com/office/powerpoint/2010/main" val="1410004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2622E1-4CC2-42B0-80AE-7E2212978072}"/>
              </a:ext>
            </a:extLst>
          </p:cNvPr>
          <p:cNvSpPr>
            <a:spLocks noGrp="1"/>
          </p:cNvSpPr>
          <p:nvPr>
            <p:ph type="title"/>
          </p:nvPr>
        </p:nvSpPr>
        <p:spPr/>
        <p:txBody>
          <a:bodyPr/>
          <a:lstStyle/>
          <a:p>
            <a:r>
              <a:rPr lang="en-CA" dirty="0"/>
              <a:t>Statistics/Data Display are Important</a:t>
            </a:r>
          </a:p>
        </p:txBody>
      </p:sp>
      <p:pic>
        <p:nvPicPr>
          <p:cNvPr id="1026" name="Picture 2" descr="A population distribution and a distribution of sample means.">
            <a:extLst>
              <a:ext uri="{FF2B5EF4-FFF2-40B4-BE49-F238E27FC236}">
                <a16:creationId xmlns:a16="http://schemas.microsoft.com/office/drawing/2014/main" id="{5F36E7E4-B020-4BFC-8834-646C287F6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14252"/>
            <a:ext cx="2814638" cy="41817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982D049-B301-41AA-A78F-53297E1124E7}"/>
              </a:ext>
            </a:extLst>
          </p:cNvPr>
          <p:cNvSpPr txBox="1"/>
          <p:nvPr/>
        </p:nvSpPr>
        <p:spPr>
          <a:xfrm>
            <a:off x="685800" y="1219200"/>
            <a:ext cx="2814638" cy="707886"/>
          </a:xfrm>
          <a:prstGeom prst="rect">
            <a:avLst/>
          </a:prstGeom>
          <a:noFill/>
        </p:spPr>
        <p:txBody>
          <a:bodyPr wrap="square" rtlCol="0">
            <a:spAutoFit/>
          </a:bodyPr>
          <a:lstStyle/>
          <a:p>
            <a:pPr algn="ctr"/>
            <a:r>
              <a:rPr lang="en-CA" sz="2000" dirty="0"/>
              <a:t>These two data sets have the same mean</a:t>
            </a:r>
          </a:p>
        </p:txBody>
      </p:sp>
      <p:sp>
        <p:nvSpPr>
          <p:cNvPr id="7" name="TextBox 6">
            <a:extLst>
              <a:ext uri="{FF2B5EF4-FFF2-40B4-BE49-F238E27FC236}">
                <a16:creationId xmlns:a16="http://schemas.microsoft.com/office/drawing/2014/main" id="{199DE4A5-329C-44AE-AC2F-D8220BA81C7C}"/>
              </a:ext>
            </a:extLst>
          </p:cNvPr>
          <p:cNvSpPr txBox="1"/>
          <p:nvPr/>
        </p:nvSpPr>
        <p:spPr>
          <a:xfrm>
            <a:off x="5486400" y="1720319"/>
            <a:ext cx="3468770" cy="461665"/>
          </a:xfrm>
          <a:prstGeom prst="rect">
            <a:avLst/>
          </a:prstGeom>
        </p:spPr>
        <p:style>
          <a:lnRef idx="0">
            <a:schemeClr val="accent3"/>
          </a:lnRef>
          <a:fillRef idx="3">
            <a:schemeClr val="accent3"/>
          </a:fillRef>
          <a:effectRef idx="3">
            <a:schemeClr val="accent3"/>
          </a:effectRef>
          <a:fontRef idx="minor">
            <a:schemeClr val="lt1"/>
          </a:fontRef>
        </p:style>
        <p:txBody>
          <a:bodyPr wrap="none" rtlCol="0">
            <a:spAutoFit/>
          </a:bodyPr>
          <a:lstStyle/>
          <a:p>
            <a:pPr algn="ctr"/>
            <a:r>
              <a:rPr lang="en-CA" sz="2400" dirty="0">
                <a:solidFill>
                  <a:schemeClr val="bg1"/>
                </a:solidFill>
              </a:rPr>
              <a:t>Nature Statistics Webpage</a:t>
            </a:r>
          </a:p>
        </p:txBody>
      </p:sp>
      <p:sp>
        <p:nvSpPr>
          <p:cNvPr id="8" name="TextBox 7">
            <a:extLst>
              <a:ext uri="{FF2B5EF4-FFF2-40B4-BE49-F238E27FC236}">
                <a16:creationId xmlns:a16="http://schemas.microsoft.com/office/drawing/2014/main" id="{CCE3B08C-63E5-4D1D-B1A3-E66E16ECE7CE}"/>
              </a:ext>
            </a:extLst>
          </p:cNvPr>
          <p:cNvSpPr txBox="1"/>
          <p:nvPr/>
        </p:nvSpPr>
        <p:spPr>
          <a:xfrm>
            <a:off x="4069669" y="6474023"/>
            <a:ext cx="3596947" cy="307777"/>
          </a:xfrm>
          <a:prstGeom prst="rect">
            <a:avLst/>
          </a:prstGeom>
          <a:noFill/>
        </p:spPr>
        <p:txBody>
          <a:bodyPr wrap="none" rtlCol="0">
            <a:spAutoFit/>
          </a:bodyPr>
          <a:lstStyle/>
          <a:p>
            <a:pPr algn="ctr"/>
            <a:r>
              <a:rPr lang="en-CA" sz="1400" dirty="0">
                <a:solidFill>
                  <a:schemeClr val="bg1"/>
                </a:solidFill>
                <a:hlinkClick r:id="rId4">
                  <a:extLst>
                    <a:ext uri="{A12FA001-AC4F-418D-AE19-62706E023703}">
                      <ahyp:hlinkClr xmlns:ahyp="http://schemas.microsoft.com/office/drawing/2018/hyperlinkcolor" val="tx"/>
                    </a:ext>
                  </a:extLst>
                </a:hlinkClick>
              </a:rPr>
              <a:t>https://www.nature.com/collections/qghhqm/</a:t>
            </a:r>
            <a:endParaRPr lang="en-CA" sz="1400" dirty="0">
              <a:solidFill>
                <a:schemeClr val="bg1"/>
              </a:solidFill>
            </a:endParaRPr>
          </a:p>
        </p:txBody>
      </p:sp>
      <p:pic>
        <p:nvPicPr>
          <p:cNvPr id="9" name="Picture 8">
            <a:extLst>
              <a:ext uri="{FF2B5EF4-FFF2-40B4-BE49-F238E27FC236}">
                <a16:creationId xmlns:a16="http://schemas.microsoft.com/office/drawing/2014/main" id="{9A42E973-FA0B-46FD-8A7B-FB4FF5BF878B}"/>
              </a:ext>
            </a:extLst>
          </p:cNvPr>
          <p:cNvPicPr>
            <a:picLocks noChangeAspect="1"/>
          </p:cNvPicPr>
          <p:nvPr/>
        </p:nvPicPr>
        <p:blipFill rotWithShape="1">
          <a:blip r:embed="rId5"/>
          <a:srcRect l="11877" t="50000" r="43333" b="16522"/>
          <a:stretch/>
        </p:blipFill>
        <p:spPr>
          <a:xfrm>
            <a:off x="4069669" y="2925904"/>
            <a:ext cx="7543800" cy="3170096"/>
          </a:xfrm>
          <a:prstGeom prst="rect">
            <a:avLst/>
          </a:prstGeom>
        </p:spPr>
      </p:pic>
      <p:sp>
        <p:nvSpPr>
          <p:cNvPr id="2" name="Date Placeholder 1">
            <a:extLst>
              <a:ext uri="{FF2B5EF4-FFF2-40B4-BE49-F238E27FC236}">
                <a16:creationId xmlns:a16="http://schemas.microsoft.com/office/drawing/2014/main" id="{2508C640-F642-4742-AF75-56E56D5260B9}"/>
              </a:ext>
            </a:extLst>
          </p:cNvPr>
          <p:cNvSpPr>
            <a:spLocks noGrp="1"/>
          </p:cNvSpPr>
          <p:nvPr>
            <p:ph type="dt" sz="half" idx="10"/>
          </p:nvPr>
        </p:nvSpPr>
        <p:spPr/>
        <p:txBody>
          <a:bodyPr/>
          <a:lstStyle/>
          <a:p>
            <a:fld id="{BE75DAC6-0489-47A8-B17E-C0212781561E}" type="datetime1">
              <a:rPr lang="en-CA" smtClean="0"/>
              <a:t>2026-05-25</a:t>
            </a:fld>
            <a:endParaRPr lang="fr-CA"/>
          </a:p>
        </p:txBody>
      </p:sp>
      <p:sp>
        <p:nvSpPr>
          <p:cNvPr id="3" name="Slide Number Placeholder 2">
            <a:extLst>
              <a:ext uri="{FF2B5EF4-FFF2-40B4-BE49-F238E27FC236}">
                <a16:creationId xmlns:a16="http://schemas.microsoft.com/office/drawing/2014/main" id="{964630F9-0547-4B73-8B8B-81F3104D793B}"/>
              </a:ext>
            </a:extLst>
          </p:cNvPr>
          <p:cNvSpPr>
            <a:spLocks noGrp="1"/>
          </p:cNvSpPr>
          <p:nvPr>
            <p:ph type="sldNum" sz="quarter" idx="12"/>
          </p:nvPr>
        </p:nvSpPr>
        <p:spPr/>
        <p:txBody>
          <a:bodyPr/>
          <a:lstStyle/>
          <a:p>
            <a:fld id="{52B199FE-8D1D-41C7-8040-B5BAD29DE590}" type="slidenum">
              <a:rPr lang="en-US" smtClean="0"/>
              <a:pPr/>
              <a:t>10</a:t>
            </a:fld>
            <a:endParaRPr lang="en-US"/>
          </a:p>
        </p:txBody>
      </p:sp>
    </p:spTree>
    <p:extLst>
      <p:ext uri="{BB962C8B-B14F-4D97-AF65-F5344CB8AC3E}">
        <p14:creationId xmlns:p14="http://schemas.microsoft.com/office/powerpoint/2010/main" val="1977879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527C-72DD-4514-918D-C283A05573FB}"/>
              </a:ext>
            </a:extLst>
          </p:cNvPr>
          <p:cNvSpPr>
            <a:spLocks noGrp="1"/>
          </p:cNvSpPr>
          <p:nvPr>
            <p:ph type="title"/>
          </p:nvPr>
        </p:nvSpPr>
        <p:spPr/>
        <p:txBody>
          <a:bodyPr/>
          <a:lstStyle/>
          <a:p>
            <a:r>
              <a:rPr lang="en-CA" dirty="0"/>
              <a:t>Box Plot</a:t>
            </a:r>
          </a:p>
        </p:txBody>
      </p:sp>
      <p:sp>
        <p:nvSpPr>
          <p:cNvPr id="3" name="TextBox 2">
            <a:extLst>
              <a:ext uri="{FF2B5EF4-FFF2-40B4-BE49-F238E27FC236}">
                <a16:creationId xmlns:a16="http://schemas.microsoft.com/office/drawing/2014/main" id="{078C210D-9C35-4EE3-9912-A4FE7F641814}"/>
              </a:ext>
            </a:extLst>
          </p:cNvPr>
          <p:cNvSpPr txBox="1"/>
          <p:nvPr/>
        </p:nvSpPr>
        <p:spPr>
          <a:xfrm>
            <a:off x="10141838" y="5080337"/>
            <a:ext cx="1516762" cy="1015663"/>
          </a:xfrm>
          <a:prstGeom prst="rect">
            <a:avLst/>
          </a:prstGeom>
          <a:noFill/>
        </p:spPr>
        <p:txBody>
          <a:bodyPr wrap="none" rtlCol="0">
            <a:spAutoFit/>
          </a:bodyPr>
          <a:lstStyle/>
          <a:p>
            <a:pPr defTabSz="463550"/>
            <a:r>
              <a:rPr lang="en-CA" sz="2000" dirty="0"/>
              <a:t>*     P&gt;0.050 </a:t>
            </a:r>
          </a:p>
          <a:p>
            <a:pPr defTabSz="463550"/>
            <a:r>
              <a:rPr lang="en-CA" sz="2000" dirty="0"/>
              <a:t>**    P&lt;0.010</a:t>
            </a:r>
          </a:p>
          <a:p>
            <a:pPr defTabSz="463550"/>
            <a:r>
              <a:rPr lang="en-CA" sz="2000" dirty="0"/>
              <a:t>*** 	P&lt;0.001</a:t>
            </a:r>
          </a:p>
        </p:txBody>
      </p:sp>
      <p:pic>
        <p:nvPicPr>
          <p:cNvPr id="4" name="Picture 3" descr="Project Path: E:\00-Quantitative Quagmire\Figure\Statistics\Quantitative Quagmire Figures.opju&#10;PE Folder: /Quantitative Quagmire Figures/How Much Data is Enough Adhesions/&#10;Short Name: Graph1">
            <a:extLst>
              <a:ext uri="{FF2B5EF4-FFF2-40B4-BE49-F238E27FC236}">
                <a16:creationId xmlns:a16="http://schemas.microsoft.com/office/drawing/2014/main" id="{798EE8AC-7E53-4392-AAAD-44765EBDD575}"/>
              </a:ext>
            </a:extLst>
          </p:cNvPr>
          <p:cNvPicPr>
            <a:picLocks noChangeAspect="1"/>
          </p:cNvPicPr>
          <p:nvPr/>
        </p:nvPicPr>
        <p:blipFill>
          <a:blip r:embed="rId3"/>
          <a:stretch>
            <a:fillRect/>
          </a:stretch>
        </p:blipFill>
        <p:spPr>
          <a:xfrm>
            <a:off x="1809641" y="1143000"/>
            <a:ext cx="6719256" cy="5143500"/>
          </a:xfrm>
          <a:prstGeom prst="rect">
            <a:avLst/>
          </a:prstGeom>
          <a:solidFill>
            <a:schemeClr val="bg1"/>
          </a:solidFill>
        </p:spPr>
      </p:pic>
      <p:cxnSp>
        <p:nvCxnSpPr>
          <p:cNvPr id="8" name="Straight Arrow Connector 7">
            <a:extLst>
              <a:ext uri="{FF2B5EF4-FFF2-40B4-BE49-F238E27FC236}">
                <a16:creationId xmlns:a16="http://schemas.microsoft.com/office/drawing/2014/main" id="{27ABF8B5-B4F6-4C5A-B7DD-E92BFD50E0FB}"/>
              </a:ext>
            </a:extLst>
          </p:cNvPr>
          <p:cNvCxnSpPr>
            <a:cxnSpLocks/>
          </p:cNvCxnSpPr>
          <p:nvPr/>
        </p:nvCxnSpPr>
        <p:spPr>
          <a:xfrm flipH="1">
            <a:off x="7084369" y="2038124"/>
            <a:ext cx="523117" cy="6896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C6533E8-4924-408E-A804-899D5B7D35B4}"/>
              </a:ext>
            </a:extLst>
          </p:cNvPr>
          <p:cNvSpPr txBox="1"/>
          <p:nvPr/>
        </p:nvSpPr>
        <p:spPr>
          <a:xfrm>
            <a:off x="7451909" y="1607403"/>
            <a:ext cx="1615891" cy="707886"/>
          </a:xfrm>
          <a:prstGeom prst="rect">
            <a:avLst/>
          </a:prstGeom>
          <a:noFill/>
        </p:spPr>
        <p:txBody>
          <a:bodyPr wrap="none" rtlCol="0">
            <a:spAutoFit/>
          </a:bodyPr>
          <a:lstStyle/>
          <a:p>
            <a:pPr algn="ctr"/>
            <a:r>
              <a:rPr lang="en-CA" sz="2000" dirty="0"/>
              <a:t>1.5x Standard</a:t>
            </a:r>
          </a:p>
          <a:p>
            <a:pPr algn="ctr"/>
            <a:r>
              <a:rPr lang="en-CA" sz="2000" dirty="0"/>
              <a:t>Deviation</a:t>
            </a:r>
          </a:p>
        </p:txBody>
      </p:sp>
      <p:cxnSp>
        <p:nvCxnSpPr>
          <p:cNvPr id="12" name="Straight Arrow Connector 11">
            <a:extLst>
              <a:ext uri="{FF2B5EF4-FFF2-40B4-BE49-F238E27FC236}">
                <a16:creationId xmlns:a16="http://schemas.microsoft.com/office/drawing/2014/main" id="{B7403DD2-A3E5-4868-AE5B-9B99E20F102B}"/>
              </a:ext>
            </a:extLst>
          </p:cNvPr>
          <p:cNvCxnSpPr>
            <a:cxnSpLocks/>
          </p:cNvCxnSpPr>
          <p:nvPr/>
        </p:nvCxnSpPr>
        <p:spPr>
          <a:xfrm flipH="1" flipV="1">
            <a:off x="7202241" y="4914884"/>
            <a:ext cx="481488" cy="23211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2BA97EB-5EDA-4DBB-9813-C1DBD6BCF917}"/>
              </a:ext>
            </a:extLst>
          </p:cNvPr>
          <p:cNvSpPr txBox="1"/>
          <p:nvPr/>
        </p:nvSpPr>
        <p:spPr>
          <a:xfrm>
            <a:off x="7451909" y="4724400"/>
            <a:ext cx="1615891" cy="707886"/>
          </a:xfrm>
          <a:prstGeom prst="rect">
            <a:avLst/>
          </a:prstGeom>
          <a:noFill/>
        </p:spPr>
        <p:txBody>
          <a:bodyPr wrap="none" rtlCol="0">
            <a:spAutoFit/>
          </a:bodyPr>
          <a:lstStyle/>
          <a:p>
            <a:pPr algn="ctr"/>
            <a:r>
              <a:rPr lang="en-CA" sz="2000" dirty="0"/>
              <a:t>1.5x Standard</a:t>
            </a:r>
          </a:p>
          <a:p>
            <a:pPr algn="ctr"/>
            <a:r>
              <a:rPr lang="en-CA" sz="2000" dirty="0"/>
              <a:t>Deviation</a:t>
            </a:r>
          </a:p>
        </p:txBody>
      </p:sp>
      <p:cxnSp>
        <p:nvCxnSpPr>
          <p:cNvPr id="16" name="Straight Arrow Connector 15">
            <a:extLst>
              <a:ext uri="{FF2B5EF4-FFF2-40B4-BE49-F238E27FC236}">
                <a16:creationId xmlns:a16="http://schemas.microsoft.com/office/drawing/2014/main" id="{6DBF3E5B-2015-45BE-8D3B-6511C3AAB21A}"/>
              </a:ext>
            </a:extLst>
          </p:cNvPr>
          <p:cNvCxnSpPr/>
          <p:nvPr/>
        </p:nvCxnSpPr>
        <p:spPr>
          <a:xfrm flipH="1">
            <a:off x="6523409" y="2971800"/>
            <a:ext cx="919576" cy="74295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01C1FC3-85CC-4DAB-8A2E-A940FBD34139}"/>
              </a:ext>
            </a:extLst>
          </p:cNvPr>
          <p:cNvSpPr txBox="1"/>
          <p:nvPr/>
        </p:nvSpPr>
        <p:spPr>
          <a:xfrm>
            <a:off x="7607486" y="2758999"/>
            <a:ext cx="790601" cy="400110"/>
          </a:xfrm>
          <a:prstGeom prst="rect">
            <a:avLst/>
          </a:prstGeom>
          <a:noFill/>
        </p:spPr>
        <p:txBody>
          <a:bodyPr wrap="none" rtlCol="0">
            <a:spAutoFit/>
          </a:bodyPr>
          <a:lstStyle/>
          <a:p>
            <a:pPr algn="ctr"/>
            <a:r>
              <a:rPr lang="en-CA" sz="2000" dirty="0"/>
              <a:t>Mean</a:t>
            </a:r>
          </a:p>
        </p:txBody>
      </p:sp>
      <p:cxnSp>
        <p:nvCxnSpPr>
          <p:cNvPr id="19" name="Straight Arrow Connector 18">
            <a:extLst>
              <a:ext uri="{FF2B5EF4-FFF2-40B4-BE49-F238E27FC236}">
                <a16:creationId xmlns:a16="http://schemas.microsoft.com/office/drawing/2014/main" id="{8C18B148-74F0-4A9B-AA6D-440628A19B4D}"/>
              </a:ext>
            </a:extLst>
          </p:cNvPr>
          <p:cNvCxnSpPr/>
          <p:nvPr/>
        </p:nvCxnSpPr>
        <p:spPr>
          <a:xfrm>
            <a:off x="3323009" y="3581400"/>
            <a:ext cx="457200" cy="9144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C340B79-0CE8-4D3C-BC04-2CCC7B1B97D9}"/>
              </a:ext>
            </a:extLst>
          </p:cNvPr>
          <p:cNvSpPr txBox="1"/>
          <p:nvPr/>
        </p:nvSpPr>
        <p:spPr>
          <a:xfrm>
            <a:off x="2973426" y="3313213"/>
            <a:ext cx="771366" cy="307777"/>
          </a:xfrm>
          <a:prstGeom prst="rect">
            <a:avLst/>
          </a:prstGeom>
          <a:noFill/>
        </p:spPr>
        <p:txBody>
          <a:bodyPr wrap="none" rtlCol="0">
            <a:spAutoFit/>
          </a:bodyPr>
          <a:lstStyle/>
          <a:p>
            <a:pPr algn="ctr"/>
            <a:r>
              <a:rPr lang="en-CA" sz="1400" dirty="0"/>
              <a:t>Median</a:t>
            </a:r>
          </a:p>
        </p:txBody>
      </p:sp>
      <p:cxnSp>
        <p:nvCxnSpPr>
          <p:cNvPr id="22" name="Straight Arrow Connector 21">
            <a:extLst>
              <a:ext uri="{FF2B5EF4-FFF2-40B4-BE49-F238E27FC236}">
                <a16:creationId xmlns:a16="http://schemas.microsoft.com/office/drawing/2014/main" id="{159D7A57-FE5D-4268-B91F-FAB51273984B}"/>
              </a:ext>
            </a:extLst>
          </p:cNvPr>
          <p:cNvCxnSpPr>
            <a:cxnSpLocks/>
          </p:cNvCxnSpPr>
          <p:nvPr/>
        </p:nvCxnSpPr>
        <p:spPr>
          <a:xfrm flipH="1">
            <a:off x="4811592" y="3297139"/>
            <a:ext cx="187817" cy="62865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3A7449-6814-438C-8AE2-EEC141D834E7}"/>
              </a:ext>
            </a:extLst>
          </p:cNvPr>
          <p:cNvSpPr txBox="1"/>
          <p:nvPr/>
        </p:nvSpPr>
        <p:spPr>
          <a:xfrm>
            <a:off x="4169316" y="2570203"/>
            <a:ext cx="1999906" cy="707886"/>
          </a:xfrm>
          <a:prstGeom prst="rect">
            <a:avLst/>
          </a:prstGeom>
          <a:noFill/>
        </p:spPr>
        <p:txBody>
          <a:bodyPr wrap="square" rtlCol="0">
            <a:spAutoFit/>
          </a:bodyPr>
          <a:lstStyle/>
          <a:p>
            <a:pPr algn="ctr"/>
            <a:r>
              <a:rPr lang="en-CA" sz="2000" dirty="0"/>
              <a:t>75</a:t>
            </a:r>
            <a:r>
              <a:rPr lang="en-CA" sz="2000" baseline="30000" dirty="0"/>
              <a:t>th</a:t>
            </a:r>
            <a:r>
              <a:rPr lang="en-CA" sz="2000" dirty="0"/>
              <a:t> percentile</a:t>
            </a:r>
          </a:p>
          <a:p>
            <a:pPr algn="ctr"/>
            <a:r>
              <a:rPr lang="en-CA" sz="2000" dirty="0"/>
              <a:t>of the data</a:t>
            </a:r>
          </a:p>
        </p:txBody>
      </p:sp>
      <p:cxnSp>
        <p:nvCxnSpPr>
          <p:cNvPr id="26" name="Straight Arrow Connector 25">
            <a:extLst>
              <a:ext uri="{FF2B5EF4-FFF2-40B4-BE49-F238E27FC236}">
                <a16:creationId xmlns:a16="http://schemas.microsoft.com/office/drawing/2014/main" id="{9FB0E117-3C72-402E-A229-615484DB67BB}"/>
              </a:ext>
            </a:extLst>
          </p:cNvPr>
          <p:cNvCxnSpPr/>
          <p:nvPr/>
        </p:nvCxnSpPr>
        <p:spPr>
          <a:xfrm flipH="1" flipV="1">
            <a:off x="4811593" y="4724400"/>
            <a:ext cx="357677" cy="19048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7C77B5D-EC48-4388-A0BB-14230CD719D6}"/>
              </a:ext>
            </a:extLst>
          </p:cNvPr>
          <p:cNvSpPr txBox="1"/>
          <p:nvPr/>
        </p:nvSpPr>
        <p:spPr>
          <a:xfrm>
            <a:off x="4648200" y="4470737"/>
            <a:ext cx="1647329" cy="1015663"/>
          </a:xfrm>
          <a:prstGeom prst="rect">
            <a:avLst/>
          </a:prstGeom>
          <a:noFill/>
        </p:spPr>
        <p:txBody>
          <a:bodyPr wrap="square" rtlCol="0">
            <a:spAutoFit/>
          </a:bodyPr>
          <a:lstStyle/>
          <a:p>
            <a:pPr algn="ctr"/>
            <a:r>
              <a:rPr lang="en-CA" sz="2000" dirty="0"/>
              <a:t>25</a:t>
            </a:r>
            <a:r>
              <a:rPr lang="en-CA" sz="2000" baseline="30000" dirty="0"/>
              <a:t>th</a:t>
            </a:r>
            <a:r>
              <a:rPr lang="en-CA" sz="2000" dirty="0"/>
              <a:t> percentile</a:t>
            </a:r>
          </a:p>
          <a:p>
            <a:pPr algn="ctr"/>
            <a:r>
              <a:rPr lang="en-CA" sz="2000" dirty="0"/>
              <a:t>of the data</a:t>
            </a:r>
          </a:p>
        </p:txBody>
      </p:sp>
      <p:sp>
        <p:nvSpPr>
          <p:cNvPr id="28" name="TextBox 27">
            <a:extLst>
              <a:ext uri="{FF2B5EF4-FFF2-40B4-BE49-F238E27FC236}">
                <a16:creationId xmlns:a16="http://schemas.microsoft.com/office/drawing/2014/main" id="{29A22FBC-F444-483B-B613-8DF5222A3DDE}"/>
              </a:ext>
            </a:extLst>
          </p:cNvPr>
          <p:cNvSpPr txBox="1"/>
          <p:nvPr/>
        </p:nvSpPr>
        <p:spPr>
          <a:xfrm>
            <a:off x="9368751" y="1393692"/>
            <a:ext cx="2311790" cy="1569660"/>
          </a:xfrm>
          <a:prstGeom prst="rect">
            <a:avLst/>
          </a:prstGeom>
          <a:solidFill>
            <a:schemeClr val="tx2">
              <a:lumMod val="20000"/>
              <a:lumOff val="80000"/>
            </a:schemeClr>
          </a:solidFill>
        </p:spPr>
        <p:txBody>
          <a:bodyPr wrap="square" rtlCol="0">
            <a:spAutoFit/>
          </a:bodyPr>
          <a:lstStyle/>
          <a:p>
            <a:pPr algn="ctr"/>
            <a:r>
              <a:rPr lang="en-CA" sz="2400" dirty="0"/>
              <a:t>All data points are shown. Outliers are easy to identify.</a:t>
            </a:r>
          </a:p>
        </p:txBody>
      </p:sp>
      <p:sp>
        <p:nvSpPr>
          <p:cNvPr id="30" name="TextBox 29">
            <a:extLst>
              <a:ext uri="{FF2B5EF4-FFF2-40B4-BE49-F238E27FC236}">
                <a16:creationId xmlns:a16="http://schemas.microsoft.com/office/drawing/2014/main" id="{79291D9F-0836-4A6B-A0F4-53A6C3525FE4}"/>
              </a:ext>
            </a:extLst>
          </p:cNvPr>
          <p:cNvSpPr txBox="1"/>
          <p:nvPr/>
        </p:nvSpPr>
        <p:spPr>
          <a:xfrm>
            <a:off x="4973701" y="1713011"/>
            <a:ext cx="569387" cy="400110"/>
          </a:xfrm>
          <a:prstGeom prst="rect">
            <a:avLst/>
          </a:prstGeom>
          <a:noFill/>
        </p:spPr>
        <p:txBody>
          <a:bodyPr wrap="none" rtlCol="0">
            <a:spAutoFit/>
          </a:bodyPr>
          <a:lstStyle/>
          <a:p>
            <a:pPr algn="ctr"/>
            <a:r>
              <a:rPr lang="en-CA" sz="2000" dirty="0"/>
              <a:t>***</a:t>
            </a:r>
          </a:p>
        </p:txBody>
      </p:sp>
      <p:cxnSp>
        <p:nvCxnSpPr>
          <p:cNvPr id="34" name="Straight Connector 33">
            <a:extLst>
              <a:ext uri="{FF2B5EF4-FFF2-40B4-BE49-F238E27FC236}">
                <a16:creationId xmlns:a16="http://schemas.microsoft.com/office/drawing/2014/main" id="{886B2422-545F-4FEF-A1DC-23F3D20B0B3F}"/>
              </a:ext>
            </a:extLst>
          </p:cNvPr>
          <p:cNvCxnSpPr>
            <a:cxnSpLocks/>
          </p:cNvCxnSpPr>
          <p:nvPr/>
        </p:nvCxnSpPr>
        <p:spPr>
          <a:xfrm flipV="1">
            <a:off x="4085009" y="1962724"/>
            <a:ext cx="2438400" cy="18476"/>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4D474C03-59DD-4D70-A0A6-5C69166E341F}"/>
              </a:ext>
            </a:extLst>
          </p:cNvPr>
          <p:cNvSpPr>
            <a:spLocks noGrp="1"/>
          </p:cNvSpPr>
          <p:nvPr>
            <p:ph type="dt" sz="half" idx="10"/>
          </p:nvPr>
        </p:nvSpPr>
        <p:spPr/>
        <p:txBody>
          <a:bodyPr/>
          <a:lstStyle/>
          <a:p>
            <a:fld id="{6F771F52-D435-4490-A277-91963A1D45A8}" type="datetime1">
              <a:rPr lang="en-CA" smtClean="0"/>
              <a:t>2026-05-25</a:t>
            </a:fld>
            <a:endParaRPr lang="fr-CA"/>
          </a:p>
        </p:txBody>
      </p:sp>
      <p:sp>
        <p:nvSpPr>
          <p:cNvPr id="6" name="Slide Number Placeholder 5">
            <a:extLst>
              <a:ext uri="{FF2B5EF4-FFF2-40B4-BE49-F238E27FC236}">
                <a16:creationId xmlns:a16="http://schemas.microsoft.com/office/drawing/2014/main" id="{D4DDA873-2B6E-4470-BE53-18B52FEE627A}"/>
              </a:ext>
            </a:extLst>
          </p:cNvPr>
          <p:cNvSpPr>
            <a:spLocks noGrp="1"/>
          </p:cNvSpPr>
          <p:nvPr>
            <p:ph type="sldNum" sz="quarter" idx="12"/>
          </p:nvPr>
        </p:nvSpPr>
        <p:spPr/>
        <p:txBody>
          <a:bodyPr/>
          <a:lstStyle/>
          <a:p>
            <a:fld id="{52B199FE-8D1D-41C7-8040-B5BAD29DE590}" type="slidenum">
              <a:rPr lang="en-US" smtClean="0"/>
              <a:pPr/>
              <a:t>11</a:t>
            </a:fld>
            <a:endParaRPr lang="en-US"/>
          </a:p>
        </p:txBody>
      </p:sp>
    </p:spTree>
    <p:extLst>
      <p:ext uri="{BB962C8B-B14F-4D97-AF65-F5344CB8AC3E}">
        <p14:creationId xmlns:p14="http://schemas.microsoft.com/office/powerpoint/2010/main" val="2870385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527C-72DD-4514-918D-C283A05573FB}"/>
              </a:ext>
            </a:extLst>
          </p:cNvPr>
          <p:cNvSpPr>
            <a:spLocks noGrp="1"/>
          </p:cNvSpPr>
          <p:nvPr>
            <p:ph type="title"/>
          </p:nvPr>
        </p:nvSpPr>
        <p:spPr>
          <a:xfrm>
            <a:off x="381000" y="314485"/>
            <a:ext cx="11430000" cy="674420"/>
          </a:xfrm>
        </p:spPr>
        <p:txBody>
          <a:bodyPr anchor="b">
            <a:normAutofit/>
          </a:bodyPr>
          <a:lstStyle/>
          <a:p>
            <a:r>
              <a:rPr lang="en-CA" dirty="0"/>
              <a:t>Box Plot vs Bar Chart</a:t>
            </a:r>
          </a:p>
        </p:txBody>
      </p:sp>
      <p:pic>
        <p:nvPicPr>
          <p:cNvPr id="7" name="Picture 6">
            <a:extLst>
              <a:ext uri="{FF2B5EF4-FFF2-40B4-BE49-F238E27FC236}">
                <a16:creationId xmlns:a16="http://schemas.microsoft.com/office/drawing/2014/main" id="{B0451F34-350B-4756-A1B2-83B49A1BE942}"/>
              </a:ext>
            </a:extLst>
          </p:cNvPr>
          <p:cNvPicPr>
            <a:picLocks noChangeAspect="1"/>
          </p:cNvPicPr>
          <p:nvPr/>
        </p:nvPicPr>
        <p:blipFill>
          <a:blip r:embed="rId3"/>
          <a:stretch>
            <a:fillRect/>
          </a:stretch>
        </p:blipFill>
        <p:spPr>
          <a:xfrm>
            <a:off x="381000" y="1230296"/>
            <a:ext cx="5654039" cy="4551501"/>
          </a:xfrm>
          <a:prstGeom prst="rect">
            <a:avLst/>
          </a:prstGeom>
          <a:noFill/>
        </p:spPr>
      </p:pic>
      <p:pic>
        <p:nvPicPr>
          <p:cNvPr id="8" name="Picture 7">
            <a:extLst>
              <a:ext uri="{FF2B5EF4-FFF2-40B4-BE49-F238E27FC236}">
                <a16:creationId xmlns:a16="http://schemas.microsoft.com/office/drawing/2014/main" id="{305C0F9A-A8D3-4C03-B5FB-A21ABF9561E1}"/>
              </a:ext>
            </a:extLst>
          </p:cNvPr>
          <p:cNvPicPr>
            <a:picLocks noChangeAspect="1"/>
          </p:cNvPicPr>
          <p:nvPr/>
        </p:nvPicPr>
        <p:blipFill>
          <a:blip r:embed="rId4"/>
          <a:stretch>
            <a:fillRect/>
          </a:stretch>
        </p:blipFill>
        <p:spPr>
          <a:xfrm>
            <a:off x="6217920" y="1233858"/>
            <a:ext cx="5593080" cy="4544378"/>
          </a:xfrm>
          <a:prstGeom prst="rect">
            <a:avLst/>
          </a:prstGeom>
          <a:noFill/>
        </p:spPr>
      </p:pic>
      <p:sp>
        <p:nvSpPr>
          <p:cNvPr id="13" name="Date Placeholder 4">
            <a:extLst>
              <a:ext uri="{FF2B5EF4-FFF2-40B4-BE49-F238E27FC236}">
                <a16:creationId xmlns:a16="http://schemas.microsoft.com/office/drawing/2014/main" id="{34F04E5A-7386-408E-86F9-981252247756}"/>
              </a:ext>
            </a:extLst>
          </p:cNvPr>
          <p:cNvSpPr>
            <a:spLocks noGrp="1"/>
          </p:cNvSpPr>
          <p:nvPr>
            <p:ph type="dt" sz="half" idx="10"/>
          </p:nvPr>
        </p:nvSpPr>
        <p:spPr>
          <a:xfrm>
            <a:off x="304800" y="6459787"/>
            <a:ext cx="2472271" cy="365125"/>
          </a:xfrm>
        </p:spPr>
        <p:txBody>
          <a:bodyPr/>
          <a:lstStyle/>
          <a:p>
            <a:pPr>
              <a:spcAft>
                <a:spcPts val="600"/>
              </a:spcAft>
            </a:pPr>
            <a:fld id="{3DACF352-9355-4CEC-8BF5-973BBA7961B1}" type="datetime1">
              <a:rPr lang="en-CA" smtClean="0"/>
              <a:t>2026-05-25</a:t>
            </a:fld>
            <a:endParaRPr lang="fr-CA"/>
          </a:p>
        </p:txBody>
      </p:sp>
      <p:sp>
        <p:nvSpPr>
          <p:cNvPr id="3" name="Slide Number Placeholder 2">
            <a:extLst>
              <a:ext uri="{FF2B5EF4-FFF2-40B4-BE49-F238E27FC236}">
                <a16:creationId xmlns:a16="http://schemas.microsoft.com/office/drawing/2014/main" id="{BD8FD8A7-2475-43BA-AEFA-BDE723A1116D}"/>
              </a:ext>
            </a:extLst>
          </p:cNvPr>
          <p:cNvSpPr>
            <a:spLocks noGrp="1"/>
          </p:cNvSpPr>
          <p:nvPr>
            <p:ph type="sldNum" sz="quarter" idx="12"/>
          </p:nvPr>
        </p:nvSpPr>
        <p:spPr/>
        <p:txBody>
          <a:bodyPr/>
          <a:lstStyle/>
          <a:p>
            <a:fld id="{52B199FE-8D1D-41C7-8040-B5BAD29DE590}" type="slidenum">
              <a:rPr lang="en-US" smtClean="0"/>
              <a:pPr/>
              <a:t>12</a:t>
            </a:fld>
            <a:endParaRPr lang="en-US"/>
          </a:p>
        </p:txBody>
      </p:sp>
    </p:spTree>
    <p:extLst>
      <p:ext uri="{BB962C8B-B14F-4D97-AF65-F5344CB8AC3E}">
        <p14:creationId xmlns:p14="http://schemas.microsoft.com/office/powerpoint/2010/main" val="926259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Quantitative Data</a:t>
            </a:r>
          </a:p>
        </p:txBody>
      </p:sp>
      <p:sp>
        <p:nvSpPr>
          <p:cNvPr id="4" name="Content Placeholder 3">
            <a:extLst>
              <a:ext uri="{FF2B5EF4-FFF2-40B4-BE49-F238E27FC236}">
                <a16:creationId xmlns:a16="http://schemas.microsoft.com/office/drawing/2014/main" id="{0BC769F8-C7C4-46AD-9C25-D6943505DF22}"/>
              </a:ext>
            </a:extLst>
          </p:cNvPr>
          <p:cNvSpPr>
            <a:spLocks noGrp="1"/>
          </p:cNvSpPr>
          <p:nvPr>
            <p:ph idx="1"/>
          </p:nvPr>
        </p:nvSpPr>
        <p:spPr/>
        <p:txBody>
          <a:bodyPr>
            <a:normAutofit/>
          </a:bodyPr>
          <a:lstStyle/>
          <a:p>
            <a:r>
              <a:rPr lang="en-US" dirty="0"/>
              <a:t>Experimental replicates. Three complete experiments, three different days.</a:t>
            </a:r>
          </a:p>
          <a:p>
            <a:r>
              <a:rPr lang="en-US" dirty="0"/>
              <a:t>Take at least 10 images per sample.</a:t>
            </a:r>
          </a:p>
          <a:p>
            <a:r>
              <a:rPr lang="en-US" dirty="0"/>
              <a:t>Have a minimum of 30 cells per sample.</a:t>
            </a:r>
          </a:p>
          <a:p>
            <a:endParaRPr lang="en-US" dirty="0"/>
          </a:p>
          <a:p>
            <a:endParaRPr lang="en-CA" dirty="0"/>
          </a:p>
        </p:txBody>
      </p:sp>
      <p:pic>
        <p:nvPicPr>
          <p:cNvPr id="12" name="Picture 11">
            <a:extLst>
              <a:ext uri="{FF2B5EF4-FFF2-40B4-BE49-F238E27FC236}">
                <a16:creationId xmlns:a16="http://schemas.microsoft.com/office/drawing/2014/main" id="{15BCCDF9-FFEF-4A79-AA04-15664E148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435968"/>
            <a:ext cx="4651651" cy="3712786"/>
          </a:xfrm>
          <a:prstGeom prst="rect">
            <a:avLst/>
          </a:prstGeom>
        </p:spPr>
      </p:pic>
      <p:pic>
        <p:nvPicPr>
          <p:cNvPr id="14" name="Picture 13">
            <a:extLst>
              <a:ext uri="{FF2B5EF4-FFF2-40B4-BE49-F238E27FC236}">
                <a16:creationId xmlns:a16="http://schemas.microsoft.com/office/drawing/2014/main" id="{F882A4C3-1DA3-49E9-BE60-3EF0A5C7DF26}"/>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248400" y="2503030"/>
            <a:ext cx="4734636" cy="3645724"/>
          </a:xfrm>
          <a:prstGeom prst="rect">
            <a:avLst/>
          </a:prstGeom>
        </p:spPr>
      </p:pic>
      <p:sp>
        <p:nvSpPr>
          <p:cNvPr id="15" name="TextBox 14">
            <a:extLst>
              <a:ext uri="{FF2B5EF4-FFF2-40B4-BE49-F238E27FC236}">
                <a16:creationId xmlns:a16="http://schemas.microsoft.com/office/drawing/2014/main" id="{A579B2C0-4325-41F6-B980-B71C7BF01C7F}"/>
              </a:ext>
            </a:extLst>
          </p:cNvPr>
          <p:cNvSpPr txBox="1"/>
          <p:nvPr/>
        </p:nvSpPr>
        <p:spPr>
          <a:xfrm>
            <a:off x="3048930" y="6463018"/>
            <a:ext cx="6094140" cy="307777"/>
          </a:xfrm>
          <a:prstGeom prst="rect">
            <a:avLst/>
          </a:prstGeom>
          <a:noFill/>
        </p:spPr>
        <p:txBody>
          <a:bodyPr wrap="square">
            <a:spAutoFit/>
          </a:bodyPr>
          <a:lstStyle/>
          <a:p>
            <a:pPr algn="ctr"/>
            <a:r>
              <a:rPr lang="en-CA" sz="1400" dirty="0">
                <a:solidFill>
                  <a:schemeClr val="bg1"/>
                </a:solidFill>
                <a:hlinkClick r:id="rId5">
                  <a:extLst>
                    <a:ext uri="{A12FA001-AC4F-418D-AE19-62706E023703}">
                      <ahyp:hlinkClr xmlns:ahyp="http://schemas.microsoft.com/office/drawing/2018/hyperlinkcolor" val="tx"/>
                    </a:ext>
                  </a:extLst>
                </a:hlinkClick>
              </a:rPr>
              <a:t>https://www.nature.com/articles/s41596-020-0307-7</a:t>
            </a:r>
            <a:endParaRPr lang="en-CA" sz="1400" dirty="0">
              <a:solidFill>
                <a:schemeClr val="bg1"/>
              </a:solidFill>
            </a:endParaRPr>
          </a:p>
        </p:txBody>
      </p:sp>
      <p:sp>
        <p:nvSpPr>
          <p:cNvPr id="3" name="Date Placeholder 2">
            <a:extLst>
              <a:ext uri="{FF2B5EF4-FFF2-40B4-BE49-F238E27FC236}">
                <a16:creationId xmlns:a16="http://schemas.microsoft.com/office/drawing/2014/main" id="{A6ABB1CB-9D88-4E62-B8C9-D378E29DA3E9}"/>
              </a:ext>
            </a:extLst>
          </p:cNvPr>
          <p:cNvSpPr>
            <a:spLocks noGrp="1"/>
          </p:cNvSpPr>
          <p:nvPr>
            <p:ph type="dt" sz="half" idx="10"/>
          </p:nvPr>
        </p:nvSpPr>
        <p:spPr/>
        <p:txBody>
          <a:bodyPr/>
          <a:lstStyle/>
          <a:p>
            <a:fld id="{905AB661-E5C8-4E23-9844-B0730D9FDFB7}" type="datetime1">
              <a:rPr lang="en-CA" smtClean="0"/>
              <a:t>2026-05-25</a:t>
            </a:fld>
            <a:endParaRPr lang="fr-CA"/>
          </a:p>
        </p:txBody>
      </p:sp>
      <p:sp>
        <p:nvSpPr>
          <p:cNvPr id="5" name="Slide Number Placeholder 4">
            <a:extLst>
              <a:ext uri="{FF2B5EF4-FFF2-40B4-BE49-F238E27FC236}">
                <a16:creationId xmlns:a16="http://schemas.microsoft.com/office/drawing/2014/main" id="{66A23FFC-62B2-4F97-A926-C55FC40091AC}"/>
              </a:ext>
            </a:extLst>
          </p:cNvPr>
          <p:cNvSpPr>
            <a:spLocks noGrp="1"/>
          </p:cNvSpPr>
          <p:nvPr>
            <p:ph type="sldNum" sz="quarter" idx="12"/>
          </p:nvPr>
        </p:nvSpPr>
        <p:spPr/>
        <p:txBody>
          <a:bodyPr/>
          <a:lstStyle/>
          <a:p>
            <a:fld id="{52B199FE-8D1D-41C7-8040-B5BAD29DE590}" type="slidenum">
              <a:rPr lang="en-US" smtClean="0"/>
              <a:pPr/>
              <a:t>13</a:t>
            </a:fld>
            <a:endParaRPr lang="en-US"/>
          </a:p>
        </p:txBody>
      </p:sp>
      <p:sp>
        <p:nvSpPr>
          <p:cNvPr id="6" name="TextBox 5">
            <a:extLst>
              <a:ext uri="{FF2B5EF4-FFF2-40B4-BE49-F238E27FC236}">
                <a16:creationId xmlns:a16="http://schemas.microsoft.com/office/drawing/2014/main" id="{786FBA4D-945E-4FD1-949E-BE4C877E1CC8}"/>
              </a:ext>
            </a:extLst>
          </p:cNvPr>
          <p:cNvSpPr txBox="1"/>
          <p:nvPr/>
        </p:nvSpPr>
        <p:spPr>
          <a:xfrm>
            <a:off x="6345471" y="2188766"/>
            <a:ext cx="5509072" cy="369332"/>
          </a:xfrm>
          <a:prstGeom prst="rect">
            <a:avLst/>
          </a:prstGeom>
          <a:noFill/>
        </p:spPr>
        <p:txBody>
          <a:bodyPr wrap="none" rtlCol="0">
            <a:spAutoFit/>
          </a:bodyPr>
          <a:lstStyle/>
          <a:p>
            <a:pPr algn="l"/>
            <a:r>
              <a:rPr lang="en-CA" dirty="0"/>
              <a:t>The n-value should really be the number of experiments.</a:t>
            </a:r>
          </a:p>
        </p:txBody>
      </p:sp>
    </p:spTree>
    <p:extLst>
      <p:ext uri="{BB962C8B-B14F-4D97-AF65-F5344CB8AC3E}">
        <p14:creationId xmlns:p14="http://schemas.microsoft.com/office/powerpoint/2010/main" val="1480786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222FF-37A2-4DB5-951D-18B0073136DA}"/>
              </a:ext>
            </a:extLst>
          </p:cNvPr>
          <p:cNvSpPr>
            <a:spLocks noGrp="1"/>
          </p:cNvSpPr>
          <p:nvPr>
            <p:ph type="title"/>
          </p:nvPr>
        </p:nvSpPr>
        <p:spPr/>
        <p:txBody>
          <a:bodyPr/>
          <a:lstStyle/>
          <a:p>
            <a:r>
              <a:rPr lang="en-CA" dirty="0"/>
              <a:t>See Journal Guidelines</a:t>
            </a:r>
          </a:p>
        </p:txBody>
      </p:sp>
      <p:sp>
        <p:nvSpPr>
          <p:cNvPr id="3" name="Rectangle 2">
            <a:extLst>
              <a:ext uri="{FF2B5EF4-FFF2-40B4-BE49-F238E27FC236}">
                <a16:creationId xmlns:a16="http://schemas.microsoft.com/office/drawing/2014/main" id="{D1C91AD6-DD63-472C-ADAC-14404BDAB03F}"/>
              </a:ext>
            </a:extLst>
          </p:cNvPr>
          <p:cNvSpPr/>
          <p:nvPr/>
        </p:nvSpPr>
        <p:spPr>
          <a:xfrm>
            <a:off x="3661103" y="6455421"/>
            <a:ext cx="4869795" cy="307777"/>
          </a:xfrm>
          <a:prstGeom prst="rect">
            <a:avLst/>
          </a:prstGeom>
        </p:spPr>
        <p:txBody>
          <a:bodyPr wrap="none">
            <a:spAutoFit/>
          </a:bodyPr>
          <a:lstStyle/>
          <a:p>
            <a:pPr algn="ctr"/>
            <a:r>
              <a:rPr lang="en-CA" sz="1400" dirty="0">
                <a:solidFill>
                  <a:schemeClr val="bg1"/>
                </a:solidFill>
                <a:hlinkClick r:id="rId3">
                  <a:extLst>
                    <a:ext uri="{A12FA001-AC4F-418D-AE19-62706E023703}">
                      <ahyp:hlinkClr xmlns:ahyp="http://schemas.microsoft.com/office/drawing/2018/hyperlinkcolor" val="tx"/>
                    </a:ext>
                  </a:extLst>
                </a:hlinkClick>
              </a:rPr>
              <a:t>https://www.nature.com/documents/nr-reporting-summary.pdf</a:t>
            </a:r>
            <a:endParaRPr lang="en-CA" sz="1400" dirty="0">
              <a:solidFill>
                <a:schemeClr val="bg1"/>
              </a:solidFill>
            </a:endParaRPr>
          </a:p>
        </p:txBody>
      </p:sp>
      <p:pic>
        <p:nvPicPr>
          <p:cNvPr id="4" name="Picture 3">
            <a:extLst>
              <a:ext uri="{FF2B5EF4-FFF2-40B4-BE49-F238E27FC236}">
                <a16:creationId xmlns:a16="http://schemas.microsoft.com/office/drawing/2014/main" id="{28351057-7C25-4868-B019-3AC5B0BB0952}"/>
              </a:ext>
            </a:extLst>
          </p:cNvPr>
          <p:cNvPicPr>
            <a:picLocks noChangeAspect="1"/>
          </p:cNvPicPr>
          <p:nvPr/>
        </p:nvPicPr>
        <p:blipFill rotWithShape="1">
          <a:blip r:embed="rId4"/>
          <a:srcRect l="4347" t="22217" r="19130" b="-3507"/>
          <a:stretch/>
        </p:blipFill>
        <p:spPr>
          <a:xfrm>
            <a:off x="1828800" y="1150174"/>
            <a:ext cx="8536154" cy="5098226"/>
          </a:xfrm>
          <a:prstGeom prst="rect">
            <a:avLst/>
          </a:prstGeom>
        </p:spPr>
      </p:pic>
      <p:sp>
        <p:nvSpPr>
          <p:cNvPr id="5" name="Date Placeholder 4">
            <a:extLst>
              <a:ext uri="{FF2B5EF4-FFF2-40B4-BE49-F238E27FC236}">
                <a16:creationId xmlns:a16="http://schemas.microsoft.com/office/drawing/2014/main" id="{5EEF9F87-90FA-4060-B87C-3C7B8FCEDF9A}"/>
              </a:ext>
            </a:extLst>
          </p:cNvPr>
          <p:cNvSpPr>
            <a:spLocks noGrp="1"/>
          </p:cNvSpPr>
          <p:nvPr>
            <p:ph type="dt" sz="half" idx="10"/>
          </p:nvPr>
        </p:nvSpPr>
        <p:spPr/>
        <p:txBody>
          <a:bodyPr/>
          <a:lstStyle/>
          <a:p>
            <a:fld id="{FD200E28-A483-4911-92E5-4BB1B76FE32C}" type="datetime1">
              <a:rPr lang="en-CA" smtClean="0"/>
              <a:t>2026-05-25</a:t>
            </a:fld>
            <a:endParaRPr lang="fr-CA"/>
          </a:p>
        </p:txBody>
      </p:sp>
      <p:sp>
        <p:nvSpPr>
          <p:cNvPr id="6" name="Slide Number Placeholder 5">
            <a:extLst>
              <a:ext uri="{FF2B5EF4-FFF2-40B4-BE49-F238E27FC236}">
                <a16:creationId xmlns:a16="http://schemas.microsoft.com/office/drawing/2014/main" id="{FA5905C1-6422-405E-AA42-36BE140ECA9B}"/>
              </a:ext>
            </a:extLst>
          </p:cNvPr>
          <p:cNvSpPr>
            <a:spLocks noGrp="1"/>
          </p:cNvSpPr>
          <p:nvPr>
            <p:ph type="sldNum" sz="quarter" idx="12"/>
          </p:nvPr>
        </p:nvSpPr>
        <p:spPr/>
        <p:txBody>
          <a:bodyPr/>
          <a:lstStyle/>
          <a:p>
            <a:fld id="{52B199FE-8D1D-41C7-8040-B5BAD29DE590}" type="slidenum">
              <a:rPr lang="en-US" smtClean="0"/>
              <a:pPr/>
              <a:t>14</a:t>
            </a:fld>
            <a:endParaRPr lang="en-US"/>
          </a:p>
        </p:txBody>
      </p:sp>
    </p:spTree>
    <p:extLst>
      <p:ext uri="{BB962C8B-B14F-4D97-AF65-F5344CB8AC3E}">
        <p14:creationId xmlns:p14="http://schemas.microsoft.com/office/powerpoint/2010/main" val="1840028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41F3-8A22-4BC8-BF7C-8DE05FF5705E}"/>
              </a:ext>
            </a:extLst>
          </p:cNvPr>
          <p:cNvSpPr>
            <a:spLocks noGrp="1"/>
          </p:cNvSpPr>
          <p:nvPr>
            <p:ph type="title"/>
          </p:nvPr>
        </p:nvSpPr>
        <p:spPr/>
        <p:txBody>
          <a:bodyPr/>
          <a:lstStyle/>
          <a:p>
            <a:r>
              <a:rPr lang="en-CA" dirty="0"/>
              <a:t>Statistical comparison of means</a:t>
            </a:r>
          </a:p>
        </p:txBody>
      </p:sp>
      <p:sp>
        <p:nvSpPr>
          <p:cNvPr id="3" name="Content Placeholder 2">
            <a:extLst>
              <a:ext uri="{FF2B5EF4-FFF2-40B4-BE49-F238E27FC236}">
                <a16:creationId xmlns:a16="http://schemas.microsoft.com/office/drawing/2014/main" id="{C2C601E7-DC2D-4059-B28E-E4B0427BEAC9}"/>
              </a:ext>
            </a:extLst>
          </p:cNvPr>
          <p:cNvSpPr>
            <a:spLocks noGrp="1"/>
          </p:cNvSpPr>
          <p:nvPr>
            <p:ph idx="1"/>
          </p:nvPr>
        </p:nvSpPr>
        <p:spPr>
          <a:xfrm>
            <a:off x="304800" y="1066800"/>
            <a:ext cx="11506200" cy="4114800"/>
          </a:xfrm>
        </p:spPr>
        <p:txBody>
          <a:bodyPr>
            <a:noAutofit/>
          </a:bodyPr>
          <a:lstStyle/>
          <a:p>
            <a:r>
              <a:rPr lang="en-CA" dirty="0"/>
              <a:t>Statistics is often employed to confirm whether two or more results are significantly different to each other to support or reject experimental observations. </a:t>
            </a:r>
          </a:p>
          <a:p>
            <a:endParaRPr lang="en-CA" dirty="0"/>
          </a:p>
          <a:p>
            <a:r>
              <a:rPr lang="en-CA" dirty="0"/>
              <a:t>This is usually done in either supporting the null hypothesis, or rejecting it:</a:t>
            </a:r>
          </a:p>
          <a:p>
            <a:pPr lvl="1"/>
            <a:r>
              <a:rPr lang="en-CA" sz="2400" dirty="0"/>
              <a:t>Null hypothesis: Mean 1 = Mean 2</a:t>
            </a:r>
          </a:p>
          <a:p>
            <a:pPr lvl="1"/>
            <a:r>
              <a:rPr lang="en-CA" sz="2400" dirty="0"/>
              <a:t>Alternative hypothesis: Mean 1 ≠ Mean 2</a:t>
            </a:r>
          </a:p>
          <a:p>
            <a:pPr lvl="1"/>
            <a:r>
              <a:rPr lang="en-CA" sz="2400" dirty="0"/>
              <a:t>Statistical tests of the null hypothesis analyse how similar two datasets are. These include the t-test and the ANOVA test.</a:t>
            </a:r>
          </a:p>
        </p:txBody>
      </p:sp>
      <p:sp>
        <p:nvSpPr>
          <p:cNvPr id="4" name="Date Placeholder 3">
            <a:extLst>
              <a:ext uri="{FF2B5EF4-FFF2-40B4-BE49-F238E27FC236}">
                <a16:creationId xmlns:a16="http://schemas.microsoft.com/office/drawing/2014/main" id="{8A48F278-93FB-4AF9-AA72-BCA534CF4C3C}"/>
              </a:ext>
            </a:extLst>
          </p:cNvPr>
          <p:cNvSpPr>
            <a:spLocks noGrp="1"/>
          </p:cNvSpPr>
          <p:nvPr>
            <p:ph type="dt" sz="half" idx="10"/>
          </p:nvPr>
        </p:nvSpPr>
        <p:spPr/>
        <p:txBody>
          <a:bodyPr/>
          <a:lstStyle/>
          <a:p>
            <a:fld id="{3BA98663-788C-4555-A4BD-5600B55E0151}" type="datetime1">
              <a:rPr lang="en-CA" smtClean="0"/>
              <a:t>2026-05-25</a:t>
            </a:fld>
            <a:endParaRPr lang="fr-CA"/>
          </a:p>
        </p:txBody>
      </p:sp>
      <p:sp>
        <p:nvSpPr>
          <p:cNvPr id="5" name="Slide Number Placeholder 4">
            <a:extLst>
              <a:ext uri="{FF2B5EF4-FFF2-40B4-BE49-F238E27FC236}">
                <a16:creationId xmlns:a16="http://schemas.microsoft.com/office/drawing/2014/main" id="{5F55089D-9130-4B08-8DC1-3CE16CC51B62}"/>
              </a:ext>
            </a:extLst>
          </p:cNvPr>
          <p:cNvSpPr>
            <a:spLocks noGrp="1"/>
          </p:cNvSpPr>
          <p:nvPr>
            <p:ph type="sldNum" sz="quarter" idx="12"/>
          </p:nvPr>
        </p:nvSpPr>
        <p:spPr/>
        <p:txBody>
          <a:bodyPr/>
          <a:lstStyle/>
          <a:p>
            <a:fld id="{52B199FE-8D1D-41C7-8040-B5BAD29DE590}" type="slidenum">
              <a:rPr lang="en-US" smtClean="0"/>
              <a:pPr/>
              <a:t>15</a:t>
            </a:fld>
            <a:endParaRPr lang="en-US"/>
          </a:p>
        </p:txBody>
      </p:sp>
    </p:spTree>
    <p:extLst>
      <p:ext uri="{BB962C8B-B14F-4D97-AF65-F5344CB8AC3E}">
        <p14:creationId xmlns:p14="http://schemas.microsoft.com/office/powerpoint/2010/main" val="633409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T-Test</a:t>
            </a:r>
          </a:p>
        </p:txBody>
      </p:sp>
      <p:sp>
        <p:nvSpPr>
          <p:cNvPr id="3" name="Content Placeholder 2"/>
          <p:cNvSpPr>
            <a:spLocks noGrp="1"/>
          </p:cNvSpPr>
          <p:nvPr>
            <p:ph idx="1"/>
          </p:nvPr>
        </p:nvSpPr>
        <p:spPr>
          <a:xfrm>
            <a:off x="304800" y="1066800"/>
            <a:ext cx="11506200" cy="5220769"/>
          </a:xfrm>
        </p:spPr>
        <p:txBody>
          <a:bodyPr>
            <a:noAutofit/>
          </a:bodyPr>
          <a:lstStyle/>
          <a:p>
            <a:r>
              <a:rPr lang="en-US" dirty="0"/>
              <a:t>A t-test analyses the probability that other samples selected from each group being compared will be as different as the samples I have now. The output is a t-value:</a:t>
            </a:r>
            <a:endParaRPr lang="en-US" dirty="0">
              <a:latin typeface="Cambria Math" panose="02040503050406030204" pitchFamily="18" charset="0"/>
            </a:endParaRPr>
          </a:p>
          <a:p>
            <a:endParaRPr lang="en-US" sz="2400" dirty="0">
              <a:solidFill>
                <a:schemeClr val="tx1"/>
              </a:solidFill>
              <a:latin typeface="Cambria Math" panose="02040503050406030204" pitchFamily="18" charset="0"/>
            </a:endParaRPr>
          </a:p>
          <a:p>
            <a:endParaRPr lang="en-US" dirty="0">
              <a:solidFill>
                <a:schemeClr val="tx1"/>
              </a:solidFill>
              <a:latin typeface="Cambria Math" panose="02040503050406030204" pitchFamily="18" charset="0"/>
            </a:endParaRPr>
          </a:p>
          <a:p>
            <a:endParaRPr lang="en-US" sz="2400" dirty="0">
              <a:solidFill>
                <a:schemeClr val="tx1"/>
              </a:solidFill>
            </a:endParaRPr>
          </a:p>
          <a:p>
            <a:pPr marL="2057400" lvl="6" indent="0">
              <a:buNone/>
            </a:pPr>
            <a:r>
              <a:rPr lang="en-US" sz="2400" dirty="0">
                <a:solidFill>
                  <a:schemeClr val="tx1"/>
                </a:solidFill>
              </a:rPr>
              <a:t>	</a:t>
            </a:r>
          </a:p>
          <a:p>
            <a:r>
              <a:rPr lang="en-US" dirty="0">
                <a:solidFill>
                  <a:schemeClr val="tx1"/>
                </a:solidFill>
              </a:rPr>
              <a:t>A high t-value indicates that the distribu</a:t>
            </a:r>
            <a:r>
              <a:rPr lang="en-US" dirty="0"/>
              <a:t>tions are different.</a:t>
            </a:r>
          </a:p>
          <a:p>
            <a:r>
              <a:rPr lang="en-US" dirty="0"/>
              <a:t>Higher t-value if:</a:t>
            </a:r>
          </a:p>
          <a:p>
            <a:pPr lvl="1"/>
            <a:r>
              <a:rPr lang="en-US" sz="2400" dirty="0"/>
              <a:t>High difference in the means (mean 1 – mean 2).</a:t>
            </a:r>
          </a:p>
          <a:p>
            <a:pPr lvl="1"/>
            <a:r>
              <a:rPr lang="en-US" sz="2400" dirty="0"/>
              <a:t>Narrow population distribution (i.e. standard deviation, SD1, SD2) so less chance of distribution overlap.</a:t>
            </a:r>
          </a:p>
          <a:p>
            <a:pPr lvl="1"/>
            <a:r>
              <a:rPr lang="en-US" sz="2400" dirty="0"/>
              <a:t>Large sample size (n1, n2)</a:t>
            </a:r>
          </a:p>
        </p:txBody>
      </p:sp>
      <p:sp>
        <p:nvSpPr>
          <p:cNvPr id="4" name="Date Placeholder 3">
            <a:extLst>
              <a:ext uri="{FF2B5EF4-FFF2-40B4-BE49-F238E27FC236}">
                <a16:creationId xmlns:a16="http://schemas.microsoft.com/office/drawing/2014/main" id="{78A17095-60D6-48DD-A77E-61A54CF02E29}"/>
              </a:ext>
            </a:extLst>
          </p:cNvPr>
          <p:cNvSpPr>
            <a:spLocks noGrp="1"/>
          </p:cNvSpPr>
          <p:nvPr>
            <p:ph type="dt" sz="half" idx="10"/>
          </p:nvPr>
        </p:nvSpPr>
        <p:spPr/>
        <p:txBody>
          <a:bodyPr/>
          <a:lstStyle/>
          <a:p>
            <a:fld id="{F021980D-A468-4919-AD20-26DB6BB47D5B}" type="datetime1">
              <a:rPr lang="en-CA" smtClean="0"/>
              <a:t>2026-05-25</a:t>
            </a:fld>
            <a:endParaRPr lang="fr-CA"/>
          </a:p>
        </p:txBody>
      </p:sp>
      <p:sp>
        <p:nvSpPr>
          <p:cNvPr id="5" name="Slide Number Placeholder 4">
            <a:extLst>
              <a:ext uri="{FF2B5EF4-FFF2-40B4-BE49-F238E27FC236}">
                <a16:creationId xmlns:a16="http://schemas.microsoft.com/office/drawing/2014/main" id="{2255E9A1-13EF-44DC-AF26-0C3C99118E29}"/>
              </a:ext>
            </a:extLst>
          </p:cNvPr>
          <p:cNvSpPr>
            <a:spLocks noGrp="1"/>
          </p:cNvSpPr>
          <p:nvPr>
            <p:ph type="sldNum" sz="quarter" idx="12"/>
          </p:nvPr>
        </p:nvSpPr>
        <p:spPr/>
        <p:txBody>
          <a:bodyPr/>
          <a:lstStyle/>
          <a:p>
            <a:fld id="{52B199FE-8D1D-41C7-8040-B5BAD29DE590}" type="slidenum">
              <a:rPr lang="en-US" smtClean="0"/>
              <a:pPr/>
              <a:t>16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67C97A-E48E-4596-A1C4-96C0023F2C98}"/>
                  </a:ext>
                </a:extLst>
              </p:cNvPr>
              <p:cNvSpPr txBox="1"/>
              <p:nvPr/>
            </p:nvSpPr>
            <p:spPr>
              <a:xfrm>
                <a:off x="3886200" y="2173134"/>
                <a:ext cx="2620204" cy="1245534"/>
              </a:xfrm>
              <a:prstGeom prst="rect">
                <a:avLst/>
              </a:prstGeom>
              <a:noFill/>
              <a:ln>
                <a:solidFill>
                  <a:schemeClr val="tx1"/>
                </a:solidFill>
              </a:ln>
            </p:spPr>
            <p:txBody>
              <a:bodyPr wrap="none" rtlCol="0">
                <a:spAutoFit/>
              </a:bodyPr>
              <a:lstStyle/>
              <a:p>
                <a:pPr algn="l"/>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rPr>
                          </m:ctrlPr>
                        </m:fPr>
                        <m:num>
                          <m:r>
                            <m:rPr>
                              <m:sty m:val="p"/>
                            </m:rPr>
                            <a:rPr lang="en-US" sz="2400">
                              <a:solidFill>
                                <a:schemeClr val="tx1"/>
                              </a:solidFill>
                              <a:latin typeface="Cambria Math" panose="02040503050406030204" pitchFamily="18" charset="0"/>
                            </a:rPr>
                            <m:t>mean</m:t>
                          </m:r>
                          <m:r>
                            <a:rPr lang="en-US" sz="2400">
                              <a:solidFill>
                                <a:schemeClr val="tx1"/>
                              </a:solidFill>
                              <a:latin typeface="Cambria Math" panose="02040503050406030204" pitchFamily="18" charset="0"/>
                            </a:rPr>
                            <m:t> 1 −</m:t>
                          </m:r>
                          <m:r>
                            <m:rPr>
                              <m:sty m:val="p"/>
                            </m:rPr>
                            <a:rPr lang="en-US" sz="2400">
                              <a:solidFill>
                                <a:schemeClr val="tx1"/>
                              </a:solidFill>
                              <a:latin typeface="Cambria Math" panose="02040503050406030204" pitchFamily="18" charset="0"/>
                            </a:rPr>
                            <m:t>mean</m:t>
                          </m:r>
                          <m:r>
                            <a:rPr lang="en-US" sz="2400">
                              <a:solidFill>
                                <a:schemeClr val="tx1"/>
                              </a:solidFill>
                              <a:latin typeface="Cambria Math" panose="02040503050406030204" pitchFamily="18" charset="0"/>
                            </a:rPr>
                            <m:t> 2</m:t>
                          </m:r>
                        </m:num>
                        <m:den>
                          <m:rad>
                            <m:radPr>
                              <m:degHide m:val="on"/>
                              <m:ctrlPr>
                                <a:rPr lang="en-US" sz="2400" i="1">
                                  <a:solidFill>
                                    <a:schemeClr val="tx1"/>
                                  </a:solidFill>
                                  <a:latin typeface="Cambria Math" panose="02040503050406030204" pitchFamily="18" charset="0"/>
                                </a:rPr>
                              </m:ctrlPr>
                            </m:radPr>
                            <m:deg/>
                            <m:e>
                              <m:f>
                                <m:fPr>
                                  <m:ctrlPr>
                                    <a:rPr lang="en-US" sz="2400" i="1">
                                      <a:solidFill>
                                        <a:schemeClr val="tx1"/>
                                      </a:solidFill>
                                      <a:latin typeface="Cambria Math" panose="02040503050406030204" pitchFamily="18" charset="0"/>
                                    </a:rPr>
                                  </m:ctrlPr>
                                </m:fPr>
                                <m:num>
                                  <m:sSup>
                                    <m:sSupPr>
                                      <m:ctrlPr>
                                        <a:rPr lang="en-US" sz="2400" i="1">
                                          <a:solidFill>
                                            <a:schemeClr val="tx1"/>
                                          </a:solidFill>
                                          <a:latin typeface="Cambria Math" panose="02040503050406030204" pitchFamily="18" charset="0"/>
                                        </a:rPr>
                                      </m:ctrlPr>
                                    </m:sSupPr>
                                    <m:e>
                                      <m:r>
                                        <m:rPr>
                                          <m:sty m:val="p"/>
                                        </m:rPr>
                                        <a:rPr lang="en-US" sz="2400">
                                          <a:solidFill>
                                            <a:schemeClr val="tx1"/>
                                          </a:solidFill>
                                          <a:latin typeface="Cambria Math" panose="02040503050406030204" pitchFamily="18" charset="0"/>
                                        </a:rPr>
                                        <m:t>SD</m:t>
                                      </m:r>
                                      <m:r>
                                        <a:rPr lang="en-US" sz="2400">
                                          <a:solidFill>
                                            <a:schemeClr val="tx1"/>
                                          </a:solidFill>
                                          <a:latin typeface="Cambria Math" panose="02040503050406030204" pitchFamily="18" charset="0"/>
                                        </a:rPr>
                                        <m:t>1</m:t>
                                      </m:r>
                                    </m:e>
                                    <m:sup>
                                      <m:r>
                                        <a:rPr lang="en-US" sz="2400">
                                          <a:solidFill>
                                            <a:schemeClr val="tx1"/>
                                          </a:solidFill>
                                          <a:latin typeface="Cambria Math" panose="02040503050406030204" pitchFamily="18" charset="0"/>
                                        </a:rPr>
                                        <m:t>2</m:t>
                                      </m:r>
                                    </m:sup>
                                  </m:sSup>
                                </m:num>
                                <m:den>
                                  <m:r>
                                    <m:rPr>
                                      <m:sty m:val="p"/>
                                    </m:rPr>
                                    <a:rPr lang="en-US" sz="2400">
                                      <a:solidFill>
                                        <a:schemeClr val="tx1"/>
                                      </a:solidFill>
                                      <a:latin typeface="Cambria Math" panose="02040503050406030204" pitchFamily="18" charset="0"/>
                                    </a:rPr>
                                    <m:t>n</m:t>
                                  </m:r>
                                  <m:r>
                                    <a:rPr lang="en-US" sz="2400">
                                      <a:solidFill>
                                        <a:schemeClr val="tx1"/>
                                      </a:solidFill>
                                      <a:latin typeface="Cambria Math" panose="02040503050406030204" pitchFamily="18" charset="0"/>
                                    </a:rPr>
                                    <m:t>1</m:t>
                                  </m:r>
                                </m:den>
                              </m:f>
                              <m:f>
                                <m:fPr>
                                  <m:ctrlPr>
                                    <a:rPr lang="en-US" sz="2400" i="1">
                                      <a:solidFill>
                                        <a:schemeClr val="tx1"/>
                                      </a:solidFill>
                                      <a:latin typeface="Cambria Math" panose="02040503050406030204" pitchFamily="18" charset="0"/>
                                    </a:rPr>
                                  </m:ctrlPr>
                                </m:fPr>
                                <m:num>
                                  <m:sSup>
                                    <m:sSupPr>
                                      <m:ctrlPr>
                                        <a:rPr lang="en-US" sz="2400" i="1">
                                          <a:solidFill>
                                            <a:schemeClr val="tx1"/>
                                          </a:solidFill>
                                          <a:latin typeface="Cambria Math" panose="02040503050406030204" pitchFamily="18" charset="0"/>
                                        </a:rPr>
                                      </m:ctrlPr>
                                    </m:sSupPr>
                                    <m:e>
                                      <m:r>
                                        <m:rPr>
                                          <m:sty m:val="p"/>
                                        </m:rPr>
                                        <a:rPr lang="en-US" sz="2400">
                                          <a:solidFill>
                                            <a:schemeClr val="tx1"/>
                                          </a:solidFill>
                                          <a:latin typeface="Cambria Math" panose="02040503050406030204" pitchFamily="18" charset="0"/>
                                        </a:rPr>
                                        <m:t>SD</m:t>
                                      </m:r>
                                      <m:r>
                                        <a:rPr lang="en-US" sz="2400">
                                          <a:solidFill>
                                            <a:schemeClr val="tx1"/>
                                          </a:solidFill>
                                          <a:latin typeface="Cambria Math" panose="02040503050406030204" pitchFamily="18" charset="0"/>
                                        </a:rPr>
                                        <m:t>2</m:t>
                                      </m:r>
                                    </m:e>
                                    <m:sup>
                                      <m:r>
                                        <a:rPr lang="en-US" sz="2400">
                                          <a:solidFill>
                                            <a:schemeClr val="tx1"/>
                                          </a:solidFill>
                                          <a:latin typeface="Cambria Math" panose="02040503050406030204" pitchFamily="18" charset="0"/>
                                        </a:rPr>
                                        <m:t>2</m:t>
                                      </m:r>
                                    </m:sup>
                                  </m:sSup>
                                </m:num>
                                <m:den>
                                  <m:r>
                                    <m:rPr>
                                      <m:sty m:val="p"/>
                                    </m:rPr>
                                    <a:rPr lang="en-US" sz="2400">
                                      <a:solidFill>
                                        <a:schemeClr val="tx1"/>
                                      </a:solidFill>
                                      <a:latin typeface="Cambria Math" panose="02040503050406030204" pitchFamily="18" charset="0"/>
                                    </a:rPr>
                                    <m:t>n</m:t>
                                  </m:r>
                                  <m:r>
                                    <a:rPr lang="en-US" sz="2400">
                                      <a:solidFill>
                                        <a:schemeClr val="tx1"/>
                                      </a:solidFill>
                                      <a:latin typeface="Cambria Math" panose="02040503050406030204" pitchFamily="18" charset="0"/>
                                    </a:rPr>
                                    <m:t>2</m:t>
                                  </m:r>
                                </m:den>
                              </m:f>
                            </m:e>
                          </m:rad>
                        </m:den>
                      </m:f>
                    </m:oMath>
                  </m:oMathPara>
                </a14:m>
                <a:endParaRPr lang="en-CA" sz="2400" dirty="0"/>
              </a:p>
            </p:txBody>
          </p:sp>
        </mc:Choice>
        <mc:Fallback xmlns="">
          <p:sp>
            <p:nvSpPr>
              <p:cNvPr id="6" name="TextBox 5">
                <a:extLst>
                  <a:ext uri="{FF2B5EF4-FFF2-40B4-BE49-F238E27FC236}">
                    <a16:creationId xmlns:a16="http://schemas.microsoft.com/office/drawing/2014/main" id="{B467C97A-E48E-4596-A1C4-96C0023F2C98}"/>
                  </a:ext>
                </a:extLst>
              </p:cNvPr>
              <p:cNvSpPr txBox="1">
                <a:spLocks noRot="1" noChangeAspect="1" noMove="1" noResize="1" noEditPoints="1" noAdjustHandles="1" noChangeArrowheads="1" noChangeShapeType="1" noTextEdit="1"/>
              </p:cNvSpPr>
              <p:nvPr/>
            </p:nvSpPr>
            <p:spPr>
              <a:xfrm>
                <a:off x="3886200" y="2173134"/>
                <a:ext cx="2620204" cy="1245534"/>
              </a:xfrm>
              <a:prstGeom prst="rect">
                <a:avLst/>
              </a:prstGeom>
              <a:blipFill>
                <a:blip r:embed="rId3"/>
                <a:stretch>
                  <a:fillRect/>
                </a:stretch>
              </a:blipFill>
              <a:ln>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56560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fade">
                                      <p:cBhvr>
                                        <p:cTn id="1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P-Value, t-test Options</a:t>
            </a:r>
          </a:p>
        </p:txBody>
      </p:sp>
      <p:sp>
        <p:nvSpPr>
          <p:cNvPr id="3" name="Content Placeholder 2"/>
          <p:cNvSpPr>
            <a:spLocks noGrp="1"/>
          </p:cNvSpPr>
          <p:nvPr>
            <p:ph idx="1"/>
          </p:nvPr>
        </p:nvSpPr>
        <p:spPr>
          <a:xfrm>
            <a:off x="381000" y="1066800"/>
            <a:ext cx="11430000" cy="5144569"/>
          </a:xfrm>
        </p:spPr>
        <p:txBody>
          <a:bodyPr>
            <a:noAutofit/>
          </a:bodyPr>
          <a:lstStyle/>
          <a:p>
            <a:r>
              <a:rPr lang="en-US" dirty="0"/>
              <a:t>The t-value is used to determine a probability, P. This is usually done automatically in statistics software but can be determined from probability tables.</a:t>
            </a:r>
          </a:p>
          <a:p>
            <a:endParaRPr lang="en-US" dirty="0"/>
          </a:p>
          <a:p>
            <a:r>
              <a:rPr lang="en-US" dirty="0"/>
              <a:t>Use degrees of freedom = n1+n2-2</a:t>
            </a:r>
          </a:p>
          <a:p>
            <a:endParaRPr lang="en-US" dirty="0"/>
          </a:p>
          <a:p>
            <a:r>
              <a:rPr lang="en-US" dirty="0"/>
              <a:t>P &lt; 0.05, 5% probability if the experiment was repeated that a significant difference would </a:t>
            </a:r>
            <a:r>
              <a:rPr lang="en-US" b="1" dirty="0"/>
              <a:t>not</a:t>
            </a:r>
            <a:r>
              <a:rPr lang="en-US" dirty="0"/>
              <a:t> be found.</a:t>
            </a:r>
          </a:p>
          <a:p>
            <a:r>
              <a:rPr lang="en-US" dirty="0"/>
              <a:t>P &lt; 0.01, 1% probability if the experiment was repeated that a significant difference would </a:t>
            </a:r>
            <a:r>
              <a:rPr lang="en-US" b="1" dirty="0"/>
              <a:t>not</a:t>
            </a:r>
            <a:r>
              <a:rPr lang="en-US" dirty="0"/>
              <a:t> be found.</a:t>
            </a:r>
          </a:p>
          <a:p>
            <a:r>
              <a:rPr lang="en-US" dirty="0"/>
              <a:t>P&lt;0.001, 0.1% probability if the experiment was repeated that a significant difference would </a:t>
            </a:r>
            <a:r>
              <a:rPr lang="en-US" b="1" dirty="0"/>
              <a:t>not</a:t>
            </a:r>
            <a:r>
              <a:rPr lang="en-US" dirty="0"/>
              <a:t> be found.</a:t>
            </a:r>
          </a:p>
        </p:txBody>
      </p:sp>
      <p:sp>
        <p:nvSpPr>
          <p:cNvPr id="4" name="Date Placeholder 3">
            <a:extLst>
              <a:ext uri="{FF2B5EF4-FFF2-40B4-BE49-F238E27FC236}">
                <a16:creationId xmlns:a16="http://schemas.microsoft.com/office/drawing/2014/main" id="{DB15C719-6859-44B9-8806-B3DFF1A65EC4}"/>
              </a:ext>
            </a:extLst>
          </p:cNvPr>
          <p:cNvSpPr>
            <a:spLocks noGrp="1"/>
          </p:cNvSpPr>
          <p:nvPr>
            <p:ph type="dt" sz="half" idx="10"/>
          </p:nvPr>
        </p:nvSpPr>
        <p:spPr/>
        <p:txBody>
          <a:bodyPr/>
          <a:lstStyle/>
          <a:p>
            <a:fld id="{5EC297DC-B73D-4F77-8C70-1C8F7FA47D2B}" type="datetime1">
              <a:rPr lang="en-CA" smtClean="0"/>
              <a:t>2026-05-25</a:t>
            </a:fld>
            <a:endParaRPr lang="fr-CA"/>
          </a:p>
        </p:txBody>
      </p:sp>
      <p:sp>
        <p:nvSpPr>
          <p:cNvPr id="5" name="Slide Number Placeholder 4">
            <a:extLst>
              <a:ext uri="{FF2B5EF4-FFF2-40B4-BE49-F238E27FC236}">
                <a16:creationId xmlns:a16="http://schemas.microsoft.com/office/drawing/2014/main" id="{5517C0AD-D325-4809-BE37-4A1EDEFD25EC}"/>
              </a:ext>
            </a:extLst>
          </p:cNvPr>
          <p:cNvSpPr>
            <a:spLocks noGrp="1"/>
          </p:cNvSpPr>
          <p:nvPr>
            <p:ph type="sldNum" sz="quarter" idx="12"/>
          </p:nvPr>
        </p:nvSpPr>
        <p:spPr/>
        <p:txBody>
          <a:bodyPr/>
          <a:lstStyle/>
          <a:p>
            <a:fld id="{52B199FE-8D1D-41C7-8040-B5BAD29DE590}" type="slidenum">
              <a:rPr lang="en-US" smtClean="0"/>
              <a:pPr/>
              <a:t>17</a:t>
            </a:fld>
            <a:endParaRPr lang="en-US"/>
          </a:p>
        </p:txBody>
      </p:sp>
    </p:spTree>
    <p:extLst>
      <p:ext uri="{BB962C8B-B14F-4D97-AF65-F5344CB8AC3E}">
        <p14:creationId xmlns:p14="http://schemas.microsoft.com/office/powerpoint/2010/main" val="392397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P-Value, t-test Options</a:t>
            </a:r>
          </a:p>
        </p:txBody>
      </p:sp>
      <p:sp>
        <p:nvSpPr>
          <p:cNvPr id="3" name="Content Placeholder 2"/>
          <p:cNvSpPr>
            <a:spLocks noGrp="1"/>
          </p:cNvSpPr>
          <p:nvPr>
            <p:ph idx="1"/>
          </p:nvPr>
        </p:nvSpPr>
        <p:spPr>
          <a:xfrm>
            <a:off x="304800" y="1180031"/>
            <a:ext cx="11506200" cy="5144569"/>
          </a:xfrm>
        </p:spPr>
        <p:txBody>
          <a:bodyPr>
            <a:noAutofit/>
          </a:bodyPr>
          <a:lstStyle/>
          <a:p>
            <a:r>
              <a:rPr lang="en-US" dirty="0"/>
              <a:t>Independent Samples – two different experiments</a:t>
            </a:r>
          </a:p>
          <a:p>
            <a:r>
              <a:rPr lang="en-US" dirty="0"/>
              <a:t>Paired Samples – before and after pairs of data</a:t>
            </a:r>
          </a:p>
          <a:p>
            <a:endParaRPr lang="en-US" dirty="0"/>
          </a:p>
          <a:p>
            <a:r>
              <a:rPr lang="en-US" dirty="0"/>
              <a:t>One-tailed – means must be higher or lower, takes into account ONE side of each distribution (upper of one, lower of the other). </a:t>
            </a:r>
          </a:p>
          <a:p>
            <a:r>
              <a:rPr lang="en-US" dirty="0"/>
              <a:t>Two-tailed – means can be higher or lower  than each other, takes into account both sides of each distribution (upper and lower limits).</a:t>
            </a:r>
          </a:p>
          <a:p>
            <a:r>
              <a:rPr lang="en-US" dirty="0"/>
              <a:t>Two-tailed is more conservative. Ensure there is really a difference.</a:t>
            </a:r>
          </a:p>
          <a:p>
            <a:pPr marL="685800" lvl="2" indent="0">
              <a:buNone/>
            </a:pPr>
            <a:endParaRPr lang="en-US" sz="2400" dirty="0"/>
          </a:p>
        </p:txBody>
      </p:sp>
      <p:sp>
        <p:nvSpPr>
          <p:cNvPr id="4" name="Date Placeholder 3">
            <a:extLst>
              <a:ext uri="{FF2B5EF4-FFF2-40B4-BE49-F238E27FC236}">
                <a16:creationId xmlns:a16="http://schemas.microsoft.com/office/drawing/2014/main" id="{B4DA0471-02EB-4943-9659-4750E5F2C39A}"/>
              </a:ext>
            </a:extLst>
          </p:cNvPr>
          <p:cNvSpPr>
            <a:spLocks noGrp="1"/>
          </p:cNvSpPr>
          <p:nvPr>
            <p:ph type="dt" sz="half" idx="10"/>
          </p:nvPr>
        </p:nvSpPr>
        <p:spPr/>
        <p:txBody>
          <a:bodyPr/>
          <a:lstStyle/>
          <a:p>
            <a:fld id="{5AA5CEF8-643E-41D9-A170-60A0DEE7CFCD}" type="datetime1">
              <a:rPr lang="en-CA" smtClean="0"/>
              <a:t>2026-05-25</a:t>
            </a:fld>
            <a:endParaRPr lang="fr-CA"/>
          </a:p>
        </p:txBody>
      </p:sp>
      <p:sp>
        <p:nvSpPr>
          <p:cNvPr id="5" name="Slide Number Placeholder 4">
            <a:extLst>
              <a:ext uri="{FF2B5EF4-FFF2-40B4-BE49-F238E27FC236}">
                <a16:creationId xmlns:a16="http://schemas.microsoft.com/office/drawing/2014/main" id="{5479B11F-F910-4239-A0D6-19A8F8585137}"/>
              </a:ext>
            </a:extLst>
          </p:cNvPr>
          <p:cNvSpPr>
            <a:spLocks noGrp="1"/>
          </p:cNvSpPr>
          <p:nvPr>
            <p:ph type="sldNum" sz="quarter" idx="12"/>
          </p:nvPr>
        </p:nvSpPr>
        <p:spPr/>
        <p:txBody>
          <a:bodyPr/>
          <a:lstStyle/>
          <a:p>
            <a:fld id="{52B199FE-8D1D-41C7-8040-B5BAD29DE590}" type="slidenum">
              <a:rPr lang="en-US" smtClean="0"/>
              <a:pPr/>
              <a:t>18</a:t>
            </a:fld>
            <a:endParaRPr lang="en-US"/>
          </a:p>
        </p:txBody>
      </p:sp>
    </p:spTree>
    <p:extLst>
      <p:ext uri="{BB962C8B-B14F-4D97-AF65-F5344CB8AC3E}">
        <p14:creationId xmlns:p14="http://schemas.microsoft.com/office/powerpoint/2010/main" val="388743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P-Value, t-test Options</a:t>
            </a:r>
          </a:p>
        </p:txBody>
      </p:sp>
      <p:pic>
        <p:nvPicPr>
          <p:cNvPr id="1028" name="Picture 4" descr="Image result for T-test chart"/>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4745"/>
          <a:stretch/>
        </p:blipFill>
        <p:spPr bwMode="auto">
          <a:xfrm>
            <a:off x="1312930" y="1186617"/>
            <a:ext cx="4355039" cy="5042673"/>
          </a:xfrm>
          <a:prstGeom prst="rect">
            <a:avLst/>
          </a:prstGeom>
          <a:solidFill>
            <a:schemeClr val="bg1"/>
          </a:solidFill>
          <a:ln>
            <a:solidFill>
              <a:schemeClr val="bg1"/>
            </a:solidFill>
          </a:ln>
        </p:spPr>
      </p:pic>
      <p:pic>
        <p:nvPicPr>
          <p:cNvPr id="2050" name="Picture 2" descr="Image pvalue1">
            <a:extLst>
              <a:ext uri="{FF2B5EF4-FFF2-40B4-BE49-F238E27FC236}">
                <a16:creationId xmlns:a16="http://schemas.microsoft.com/office/drawing/2014/main" id="{17F1DD09-0487-4954-9583-9D242E833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8344" y="1103519"/>
            <a:ext cx="3593926" cy="263028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pvalue3">
            <a:extLst>
              <a:ext uri="{FF2B5EF4-FFF2-40B4-BE49-F238E27FC236}">
                <a16:creationId xmlns:a16="http://schemas.microsoft.com/office/drawing/2014/main" id="{DB879265-C8BA-43B0-A335-A7BAA616EF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8779" y="3688246"/>
            <a:ext cx="3593926" cy="263027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C8CF2EE9-A284-42F0-A39A-B6CBB35B8416}"/>
              </a:ext>
            </a:extLst>
          </p:cNvPr>
          <p:cNvCxnSpPr>
            <a:cxnSpLocks/>
          </p:cNvCxnSpPr>
          <p:nvPr/>
        </p:nvCxnSpPr>
        <p:spPr>
          <a:xfrm flipH="1" flipV="1">
            <a:off x="5133721" y="5505762"/>
            <a:ext cx="766738" cy="40664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BDA4847-54E5-4399-8D9D-E83F4A4E9D0B}"/>
              </a:ext>
            </a:extLst>
          </p:cNvPr>
          <p:cNvSpPr txBox="1"/>
          <p:nvPr/>
        </p:nvSpPr>
        <p:spPr>
          <a:xfrm>
            <a:off x="5896584" y="5681573"/>
            <a:ext cx="1145186" cy="461665"/>
          </a:xfrm>
          <a:prstGeom prst="rect">
            <a:avLst/>
          </a:prstGeom>
          <a:noFill/>
        </p:spPr>
        <p:txBody>
          <a:bodyPr wrap="none" rtlCol="0">
            <a:spAutoFit/>
          </a:bodyPr>
          <a:lstStyle/>
          <a:p>
            <a:pPr algn="ctr"/>
            <a:r>
              <a:rPr lang="en-CA" sz="2400" dirty="0"/>
              <a:t>t values</a:t>
            </a:r>
          </a:p>
        </p:txBody>
      </p:sp>
      <p:cxnSp>
        <p:nvCxnSpPr>
          <p:cNvPr id="12" name="Straight Arrow Connector 11">
            <a:extLst>
              <a:ext uri="{FF2B5EF4-FFF2-40B4-BE49-F238E27FC236}">
                <a16:creationId xmlns:a16="http://schemas.microsoft.com/office/drawing/2014/main" id="{1FB35D8C-F18E-48BB-9B89-9CBC82EB3FB8}"/>
              </a:ext>
            </a:extLst>
          </p:cNvPr>
          <p:cNvCxnSpPr>
            <a:cxnSpLocks/>
          </p:cNvCxnSpPr>
          <p:nvPr/>
        </p:nvCxnSpPr>
        <p:spPr>
          <a:xfrm>
            <a:off x="8456701" y="4656066"/>
            <a:ext cx="1300861" cy="96537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559A2E8-1451-472A-AEDD-4FE4B407AC44}"/>
              </a:ext>
            </a:extLst>
          </p:cNvPr>
          <p:cNvSpPr txBox="1"/>
          <p:nvPr/>
        </p:nvSpPr>
        <p:spPr>
          <a:xfrm>
            <a:off x="7311776" y="4135567"/>
            <a:ext cx="1599681" cy="523220"/>
          </a:xfrm>
          <a:prstGeom prst="rect">
            <a:avLst/>
          </a:prstGeom>
          <a:noFill/>
        </p:spPr>
        <p:txBody>
          <a:bodyPr wrap="square" rtlCol="0">
            <a:spAutoFit/>
          </a:bodyPr>
          <a:lstStyle/>
          <a:p>
            <a:pPr algn="ctr"/>
            <a:r>
              <a:rPr lang="en-CA" sz="1400" dirty="0"/>
              <a:t>5% at one end of the distribution</a:t>
            </a:r>
          </a:p>
        </p:txBody>
      </p:sp>
      <p:cxnSp>
        <p:nvCxnSpPr>
          <p:cNvPr id="18" name="Straight Arrow Connector 17">
            <a:extLst>
              <a:ext uri="{FF2B5EF4-FFF2-40B4-BE49-F238E27FC236}">
                <a16:creationId xmlns:a16="http://schemas.microsoft.com/office/drawing/2014/main" id="{BC2F793E-92CA-4532-8D75-F5D8D1583648}"/>
              </a:ext>
            </a:extLst>
          </p:cNvPr>
          <p:cNvCxnSpPr>
            <a:cxnSpLocks/>
          </p:cNvCxnSpPr>
          <p:nvPr/>
        </p:nvCxnSpPr>
        <p:spPr>
          <a:xfrm flipH="1">
            <a:off x="9905125" y="1697516"/>
            <a:ext cx="158848" cy="132457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9E9AC98-0580-4407-A48D-E89C2184DD32}"/>
              </a:ext>
            </a:extLst>
          </p:cNvPr>
          <p:cNvSpPr txBox="1"/>
          <p:nvPr/>
        </p:nvSpPr>
        <p:spPr>
          <a:xfrm>
            <a:off x="9292456" y="1164463"/>
            <a:ext cx="1756544" cy="523220"/>
          </a:xfrm>
          <a:prstGeom prst="rect">
            <a:avLst/>
          </a:prstGeom>
          <a:noFill/>
        </p:spPr>
        <p:txBody>
          <a:bodyPr wrap="square" rtlCol="0">
            <a:spAutoFit/>
          </a:bodyPr>
          <a:lstStyle/>
          <a:p>
            <a:pPr algn="ctr"/>
            <a:r>
              <a:rPr lang="en-CA" sz="1400" dirty="0"/>
              <a:t>2.5% at each end of the distribution</a:t>
            </a:r>
          </a:p>
        </p:txBody>
      </p:sp>
      <p:cxnSp>
        <p:nvCxnSpPr>
          <p:cNvPr id="20" name="Straight Arrow Connector 19">
            <a:extLst>
              <a:ext uri="{FF2B5EF4-FFF2-40B4-BE49-F238E27FC236}">
                <a16:creationId xmlns:a16="http://schemas.microsoft.com/office/drawing/2014/main" id="{4492F0DD-AC87-4210-91F8-7D878FEDC877}"/>
              </a:ext>
            </a:extLst>
          </p:cNvPr>
          <p:cNvCxnSpPr>
            <a:cxnSpLocks/>
          </p:cNvCxnSpPr>
          <p:nvPr/>
        </p:nvCxnSpPr>
        <p:spPr>
          <a:xfrm flipH="1">
            <a:off x="8456701" y="1687684"/>
            <a:ext cx="1223239" cy="133440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7EE494B0-02FB-492C-8A29-2D31CAA77390}"/>
              </a:ext>
            </a:extLst>
          </p:cNvPr>
          <p:cNvSpPr>
            <a:spLocks noGrp="1"/>
          </p:cNvSpPr>
          <p:nvPr>
            <p:ph type="dt" sz="half" idx="10"/>
          </p:nvPr>
        </p:nvSpPr>
        <p:spPr/>
        <p:txBody>
          <a:bodyPr/>
          <a:lstStyle/>
          <a:p>
            <a:fld id="{243C17AE-B3BE-4DA6-97DB-3322163E22DB}" type="datetime1">
              <a:rPr lang="en-CA" smtClean="0"/>
              <a:t>2026-05-25</a:t>
            </a:fld>
            <a:endParaRPr lang="fr-CA"/>
          </a:p>
        </p:txBody>
      </p:sp>
      <p:sp>
        <p:nvSpPr>
          <p:cNvPr id="4" name="Slide Number Placeholder 3">
            <a:extLst>
              <a:ext uri="{FF2B5EF4-FFF2-40B4-BE49-F238E27FC236}">
                <a16:creationId xmlns:a16="http://schemas.microsoft.com/office/drawing/2014/main" id="{C64DB44B-5337-4471-B52B-FCBD752B7D90}"/>
              </a:ext>
            </a:extLst>
          </p:cNvPr>
          <p:cNvSpPr>
            <a:spLocks noGrp="1"/>
          </p:cNvSpPr>
          <p:nvPr>
            <p:ph type="sldNum" sz="quarter" idx="12"/>
          </p:nvPr>
        </p:nvSpPr>
        <p:spPr/>
        <p:txBody>
          <a:bodyPr/>
          <a:lstStyle/>
          <a:p>
            <a:fld id="{52B199FE-8D1D-41C7-8040-B5BAD29DE590}" type="slidenum">
              <a:rPr lang="en-US" smtClean="0"/>
              <a:pPr/>
              <a:t>19</a:t>
            </a:fld>
            <a:endParaRPr lang="en-US"/>
          </a:p>
        </p:txBody>
      </p:sp>
    </p:spTree>
    <p:extLst>
      <p:ext uri="{BB962C8B-B14F-4D97-AF65-F5344CB8AC3E}">
        <p14:creationId xmlns:p14="http://schemas.microsoft.com/office/powerpoint/2010/main" val="136360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10" presetClass="entr" presetSubtype="0"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fade">
                                      <p:cBhvr>
                                        <p:cTn id="10" dur="500"/>
                                        <p:tgtEl>
                                          <p:spTgt spid="2050"/>
                                        </p:tgtEl>
                                      </p:cBhvr>
                                    </p:animEffect>
                                  </p:childTnLst>
                                </p:cTn>
                              </p:par>
                              <p:par>
                                <p:cTn id="11" presetID="10" presetClass="entr" presetSubtype="0" fill="hold" nodeType="withEffect">
                                  <p:stCondLst>
                                    <p:cond delay="0"/>
                                  </p:stCondLst>
                                  <p:childTnLst>
                                    <p:set>
                                      <p:cBhvr>
                                        <p:cTn id="12" dur="1" fill="hold">
                                          <p:stCondLst>
                                            <p:cond delay="0"/>
                                          </p:stCondLst>
                                        </p:cTn>
                                        <p:tgtEl>
                                          <p:spTgt spid="2052"/>
                                        </p:tgtEl>
                                        <p:attrNameLst>
                                          <p:attrName>style.visibility</p:attrName>
                                        </p:attrNameLst>
                                      </p:cBhvr>
                                      <p:to>
                                        <p:strVal val="visible"/>
                                      </p:to>
                                    </p:set>
                                    <p:animEffect transition="in" filter="fade">
                                      <p:cBhvr>
                                        <p:cTn id="13"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3C7E636-44F1-41A4-B8C9-38CDB53034CC}"/>
              </a:ext>
            </a:extLst>
          </p:cNvPr>
          <p:cNvSpPr txBox="1"/>
          <p:nvPr/>
        </p:nvSpPr>
        <p:spPr>
          <a:xfrm>
            <a:off x="2672754" y="1600201"/>
            <a:ext cx="6846490" cy="1015663"/>
          </a:xfrm>
          <a:prstGeom prst="rect">
            <a:avLst/>
          </a:prstGeom>
          <a:noFill/>
        </p:spPr>
        <p:txBody>
          <a:bodyPr wrap="none" rtlCol="0">
            <a:spAutoFit/>
          </a:bodyPr>
          <a:lstStyle/>
          <a:p>
            <a:pPr algn="ctr"/>
            <a:r>
              <a:rPr lang="en-CA" sz="2000" dirty="0">
                <a:solidFill>
                  <a:schemeClr val="bg1"/>
                </a:solidFill>
              </a:rPr>
              <a:t>It is better to use the n value as the number of experiments. </a:t>
            </a:r>
          </a:p>
          <a:p>
            <a:pPr algn="ctr"/>
            <a:r>
              <a:rPr lang="en-CA" sz="2000" dirty="0">
                <a:solidFill>
                  <a:schemeClr val="bg1"/>
                </a:solidFill>
              </a:rPr>
              <a:t>Not number of cells or number of features (vesicles, adhesions).</a:t>
            </a:r>
          </a:p>
          <a:p>
            <a:pPr algn="ctr"/>
            <a:r>
              <a:rPr lang="en-CA" sz="2000" dirty="0">
                <a:solidFill>
                  <a:schemeClr val="bg1"/>
                </a:solidFill>
              </a:rPr>
              <a:t>If n is too large P will almost always be significant.</a:t>
            </a:r>
          </a:p>
        </p:txBody>
      </p:sp>
      <p:pic>
        <p:nvPicPr>
          <p:cNvPr id="2" name="Picture 1">
            <a:extLst>
              <a:ext uri="{FF2B5EF4-FFF2-40B4-BE49-F238E27FC236}">
                <a16:creationId xmlns:a16="http://schemas.microsoft.com/office/drawing/2014/main" id="{1C56AFA7-8CC0-3B4E-B39B-B647FB3E0614}"/>
              </a:ext>
            </a:extLst>
          </p:cNvPr>
          <p:cNvPicPr>
            <a:picLocks noChangeAspect="1"/>
          </p:cNvPicPr>
          <p:nvPr/>
        </p:nvPicPr>
        <p:blipFill>
          <a:blip r:embed="rId3"/>
          <a:stretch>
            <a:fillRect/>
          </a:stretch>
        </p:blipFill>
        <p:spPr>
          <a:xfrm>
            <a:off x="335536" y="1110591"/>
            <a:ext cx="7061202" cy="1286961"/>
          </a:xfrm>
          <a:prstGeom prst="rect">
            <a:avLst/>
          </a:prstGeom>
        </p:spPr>
      </p:pic>
      <p:pic>
        <p:nvPicPr>
          <p:cNvPr id="8" name="Picture 7">
            <a:extLst>
              <a:ext uri="{FF2B5EF4-FFF2-40B4-BE49-F238E27FC236}">
                <a16:creationId xmlns:a16="http://schemas.microsoft.com/office/drawing/2014/main" id="{185637C2-4113-E349-A85D-F5054B1C297C}"/>
              </a:ext>
            </a:extLst>
          </p:cNvPr>
          <p:cNvPicPr>
            <a:picLocks noChangeAspect="1"/>
          </p:cNvPicPr>
          <p:nvPr/>
        </p:nvPicPr>
        <p:blipFill rotWithShape="1">
          <a:blip r:embed="rId4"/>
          <a:srcRect r="49568"/>
          <a:stretch/>
        </p:blipFill>
        <p:spPr>
          <a:xfrm>
            <a:off x="6583938" y="1524000"/>
            <a:ext cx="2559276" cy="4665179"/>
          </a:xfrm>
          <a:prstGeom prst="rect">
            <a:avLst/>
          </a:prstGeom>
        </p:spPr>
      </p:pic>
      <p:sp>
        <p:nvSpPr>
          <p:cNvPr id="7" name="TextBox 6">
            <a:extLst>
              <a:ext uri="{FF2B5EF4-FFF2-40B4-BE49-F238E27FC236}">
                <a16:creationId xmlns:a16="http://schemas.microsoft.com/office/drawing/2014/main" id="{8840306A-73BE-4D05-B54C-CEB8FE3B0D85}"/>
              </a:ext>
            </a:extLst>
          </p:cNvPr>
          <p:cNvSpPr txBox="1"/>
          <p:nvPr/>
        </p:nvSpPr>
        <p:spPr>
          <a:xfrm>
            <a:off x="3048786" y="6474023"/>
            <a:ext cx="6094428" cy="307777"/>
          </a:xfrm>
          <a:prstGeom prst="rect">
            <a:avLst/>
          </a:prstGeom>
          <a:noFill/>
        </p:spPr>
        <p:txBody>
          <a:bodyPr wrap="square">
            <a:spAutoFit/>
          </a:bodyPr>
          <a:lstStyle/>
          <a:p>
            <a:pPr algn="ctr"/>
            <a:r>
              <a:rPr lang="en-CA" sz="1400" dirty="0">
                <a:solidFill>
                  <a:schemeClr val="bg1"/>
                </a:solidFill>
                <a:hlinkClick r:id="rId5">
                  <a:extLst>
                    <a:ext uri="{A12FA001-AC4F-418D-AE19-62706E023703}">
                      <ahyp:hlinkClr xmlns:ahyp="http://schemas.microsoft.com/office/drawing/2018/hyperlinkcolor" val="tx"/>
                    </a:ext>
                  </a:extLst>
                </a:hlinkClick>
              </a:rPr>
              <a:t>https://pubmed.ncbi.nlm.nih.gov/32346721/</a:t>
            </a:r>
            <a:endParaRPr lang="en-CA" sz="1400" dirty="0">
              <a:solidFill>
                <a:schemeClr val="bg1"/>
              </a:solidFill>
            </a:endParaRPr>
          </a:p>
        </p:txBody>
      </p:sp>
      <p:sp>
        <p:nvSpPr>
          <p:cNvPr id="3" name="Title 2">
            <a:extLst>
              <a:ext uri="{FF2B5EF4-FFF2-40B4-BE49-F238E27FC236}">
                <a16:creationId xmlns:a16="http://schemas.microsoft.com/office/drawing/2014/main" id="{CCE01200-3435-4767-9C59-E7FF73EFF79A}"/>
              </a:ext>
            </a:extLst>
          </p:cNvPr>
          <p:cNvSpPr>
            <a:spLocks noGrp="1"/>
          </p:cNvSpPr>
          <p:nvPr>
            <p:ph type="title"/>
          </p:nvPr>
        </p:nvSpPr>
        <p:spPr/>
        <p:txBody>
          <a:bodyPr/>
          <a:lstStyle/>
          <a:p>
            <a:r>
              <a:rPr lang="en-CA" dirty="0" err="1"/>
              <a:t>SuperPlots</a:t>
            </a:r>
            <a:endParaRPr lang="en-CA" dirty="0"/>
          </a:p>
        </p:txBody>
      </p:sp>
      <p:sp>
        <p:nvSpPr>
          <p:cNvPr id="4" name="Date Placeholder 3">
            <a:extLst>
              <a:ext uri="{FF2B5EF4-FFF2-40B4-BE49-F238E27FC236}">
                <a16:creationId xmlns:a16="http://schemas.microsoft.com/office/drawing/2014/main" id="{368ADDD8-0731-4492-9625-47332941CC0A}"/>
              </a:ext>
            </a:extLst>
          </p:cNvPr>
          <p:cNvSpPr>
            <a:spLocks noGrp="1"/>
          </p:cNvSpPr>
          <p:nvPr>
            <p:ph type="dt" sz="half" idx="10"/>
          </p:nvPr>
        </p:nvSpPr>
        <p:spPr/>
        <p:txBody>
          <a:bodyPr/>
          <a:lstStyle/>
          <a:p>
            <a:fld id="{CF9B5C69-6394-4523-9D59-9D5838C0886D}" type="datetime1">
              <a:rPr lang="en-CA" smtClean="0"/>
              <a:t>2026-05-25</a:t>
            </a:fld>
            <a:endParaRPr lang="fr-CA"/>
          </a:p>
        </p:txBody>
      </p:sp>
      <p:sp>
        <p:nvSpPr>
          <p:cNvPr id="5" name="Slide Number Placeholder 4">
            <a:extLst>
              <a:ext uri="{FF2B5EF4-FFF2-40B4-BE49-F238E27FC236}">
                <a16:creationId xmlns:a16="http://schemas.microsoft.com/office/drawing/2014/main" id="{77688E20-AF11-4438-AD5D-ABBAEC3A240E}"/>
              </a:ext>
            </a:extLst>
          </p:cNvPr>
          <p:cNvSpPr>
            <a:spLocks noGrp="1"/>
          </p:cNvSpPr>
          <p:nvPr>
            <p:ph type="sldNum" sz="quarter" idx="12"/>
          </p:nvPr>
        </p:nvSpPr>
        <p:spPr/>
        <p:txBody>
          <a:bodyPr/>
          <a:lstStyle/>
          <a:p>
            <a:fld id="{52B199FE-8D1D-41C7-8040-B5BAD29DE590}" type="slidenum">
              <a:rPr lang="en-US" smtClean="0"/>
              <a:pPr/>
              <a:t>20</a:t>
            </a:fld>
            <a:endParaRPr lang="en-US"/>
          </a:p>
        </p:txBody>
      </p:sp>
    </p:spTree>
    <p:extLst>
      <p:ext uri="{BB962C8B-B14F-4D97-AF65-F5344CB8AC3E}">
        <p14:creationId xmlns:p14="http://schemas.microsoft.com/office/powerpoint/2010/main" val="3796747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3C7E636-44F1-41A4-B8C9-38CDB53034CC}"/>
              </a:ext>
            </a:extLst>
          </p:cNvPr>
          <p:cNvSpPr txBox="1"/>
          <p:nvPr/>
        </p:nvSpPr>
        <p:spPr>
          <a:xfrm>
            <a:off x="2672754" y="1600201"/>
            <a:ext cx="6846490" cy="1015663"/>
          </a:xfrm>
          <a:prstGeom prst="rect">
            <a:avLst/>
          </a:prstGeom>
          <a:noFill/>
        </p:spPr>
        <p:txBody>
          <a:bodyPr wrap="none" rtlCol="0">
            <a:spAutoFit/>
          </a:bodyPr>
          <a:lstStyle/>
          <a:p>
            <a:pPr algn="ctr"/>
            <a:r>
              <a:rPr lang="en-CA" sz="2000" dirty="0">
                <a:solidFill>
                  <a:schemeClr val="bg1"/>
                </a:solidFill>
              </a:rPr>
              <a:t>It is better to use the n value as the number of experiments. </a:t>
            </a:r>
          </a:p>
          <a:p>
            <a:pPr algn="ctr"/>
            <a:r>
              <a:rPr lang="en-CA" sz="2000" dirty="0">
                <a:solidFill>
                  <a:schemeClr val="bg1"/>
                </a:solidFill>
              </a:rPr>
              <a:t>Not number of cells or number of features (vesicles, adhesions).</a:t>
            </a:r>
          </a:p>
          <a:p>
            <a:pPr algn="ctr"/>
            <a:r>
              <a:rPr lang="en-CA" sz="2000" dirty="0">
                <a:solidFill>
                  <a:schemeClr val="bg1"/>
                </a:solidFill>
              </a:rPr>
              <a:t>If n is too large P will almost always be significant.</a:t>
            </a:r>
          </a:p>
        </p:txBody>
      </p:sp>
      <p:pic>
        <p:nvPicPr>
          <p:cNvPr id="2" name="Picture 1">
            <a:extLst>
              <a:ext uri="{FF2B5EF4-FFF2-40B4-BE49-F238E27FC236}">
                <a16:creationId xmlns:a16="http://schemas.microsoft.com/office/drawing/2014/main" id="{1C56AFA7-8CC0-3B4E-B39B-B647FB3E0614}"/>
              </a:ext>
            </a:extLst>
          </p:cNvPr>
          <p:cNvPicPr>
            <a:picLocks noChangeAspect="1"/>
          </p:cNvPicPr>
          <p:nvPr/>
        </p:nvPicPr>
        <p:blipFill>
          <a:blip r:embed="rId3"/>
          <a:stretch>
            <a:fillRect/>
          </a:stretch>
        </p:blipFill>
        <p:spPr>
          <a:xfrm>
            <a:off x="335536" y="1110591"/>
            <a:ext cx="7061202" cy="1286961"/>
          </a:xfrm>
          <a:prstGeom prst="rect">
            <a:avLst/>
          </a:prstGeom>
        </p:spPr>
      </p:pic>
      <p:pic>
        <p:nvPicPr>
          <p:cNvPr id="8" name="Picture 7">
            <a:extLst>
              <a:ext uri="{FF2B5EF4-FFF2-40B4-BE49-F238E27FC236}">
                <a16:creationId xmlns:a16="http://schemas.microsoft.com/office/drawing/2014/main" id="{185637C2-4113-E349-A85D-F5054B1C297C}"/>
              </a:ext>
            </a:extLst>
          </p:cNvPr>
          <p:cNvPicPr>
            <a:picLocks noChangeAspect="1"/>
          </p:cNvPicPr>
          <p:nvPr/>
        </p:nvPicPr>
        <p:blipFill>
          <a:blip r:embed="rId4"/>
          <a:stretch>
            <a:fillRect/>
          </a:stretch>
        </p:blipFill>
        <p:spPr>
          <a:xfrm>
            <a:off x="6583938" y="1524000"/>
            <a:ext cx="5074662" cy="4665179"/>
          </a:xfrm>
          <a:prstGeom prst="rect">
            <a:avLst/>
          </a:prstGeom>
        </p:spPr>
      </p:pic>
      <p:sp>
        <p:nvSpPr>
          <p:cNvPr id="7" name="TextBox 6">
            <a:extLst>
              <a:ext uri="{FF2B5EF4-FFF2-40B4-BE49-F238E27FC236}">
                <a16:creationId xmlns:a16="http://schemas.microsoft.com/office/drawing/2014/main" id="{8840306A-73BE-4D05-B54C-CEB8FE3B0D85}"/>
              </a:ext>
            </a:extLst>
          </p:cNvPr>
          <p:cNvSpPr txBox="1"/>
          <p:nvPr/>
        </p:nvSpPr>
        <p:spPr>
          <a:xfrm>
            <a:off x="3048786" y="6474023"/>
            <a:ext cx="6094428" cy="307777"/>
          </a:xfrm>
          <a:prstGeom prst="rect">
            <a:avLst/>
          </a:prstGeom>
          <a:noFill/>
        </p:spPr>
        <p:txBody>
          <a:bodyPr wrap="square">
            <a:spAutoFit/>
          </a:bodyPr>
          <a:lstStyle/>
          <a:p>
            <a:pPr algn="ctr"/>
            <a:r>
              <a:rPr lang="en-CA" sz="1400" dirty="0">
                <a:solidFill>
                  <a:schemeClr val="bg1"/>
                </a:solidFill>
                <a:hlinkClick r:id="rId5">
                  <a:extLst>
                    <a:ext uri="{A12FA001-AC4F-418D-AE19-62706E023703}">
                      <ahyp:hlinkClr xmlns:ahyp="http://schemas.microsoft.com/office/drawing/2018/hyperlinkcolor" val="tx"/>
                    </a:ext>
                  </a:extLst>
                </a:hlinkClick>
              </a:rPr>
              <a:t>https://pubmed.ncbi.nlm.nih.gov/32346721/</a:t>
            </a:r>
            <a:endParaRPr lang="en-CA" sz="1400" dirty="0">
              <a:solidFill>
                <a:schemeClr val="bg1"/>
              </a:solidFill>
            </a:endParaRPr>
          </a:p>
        </p:txBody>
      </p:sp>
      <p:sp>
        <p:nvSpPr>
          <p:cNvPr id="3" name="Title 2">
            <a:extLst>
              <a:ext uri="{FF2B5EF4-FFF2-40B4-BE49-F238E27FC236}">
                <a16:creationId xmlns:a16="http://schemas.microsoft.com/office/drawing/2014/main" id="{CCE01200-3435-4767-9C59-E7FF73EFF79A}"/>
              </a:ext>
            </a:extLst>
          </p:cNvPr>
          <p:cNvSpPr>
            <a:spLocks noGrp="1"/>
          </p:cNvSpPr>
          <p:nvPr>
            <p:ph type="title"/>
          </p:nvPr>
        </p:nvSpPr>
        <p:spPr/>
        <p:txBody>
          <a:bodyPr/>
          <a:lstStyle/>
          <a:p>
            <a:r>
              <a:rPr lang="en-CA" dirty="0" err="1"/>
              <a:t>SuperPlots</a:t>
            </a:r>
            <a:endParaRPr lang="en-CA" dirty="0"/>
          </a:p>
        </p:txBody>
      </p:sp>
      <p:sp>
        <p:nvSpPr>
          <p:cNvPr id="4" name="Date Placeholder 3">
            <a:extLst>
              <a:ext uri="{FF2B5EF4-FFF2-40B4-BE49-F238E27FC236}">
                <a16:creationId xmlns:a16="http://schemas.microsoft.com/office/drawing/2014/main" id="{368ADDD8-0731-4492-9625-47332941CC0A}"/>
              </a:ext>
            </a:extLst>
          </p:cNvPr>
          <p:cNvSpPr>
            <a:spLocks noGrp="1"/>
          </p:cNvSpPr>
          <p:nvPr>
            <p:ph type="dt" sz="half" idx="10"/>
          </p:nvPr>
        </p:nvSpPr>
        <p:spPr/>
        <p:txBody>
          <a:bodyPr/>
          <a:lstStyle/>
          <a:p>
            <a:fld id="{CF9B5C69-6394-4523-9D59-9D5838C0886D}" type="datetime1">
              <a:rPr lang="en-CA" smtClean="0"/>
              <a:t>2026-05-25</a:t>
            </a:fld>
            <a:endParaRPr lang="fr-CA"/>
          </a:p>
        </p:txBody>
      </p:sp>
      <p:sp>
        <p:nvSpPr>
          <p:cNvPr id="5" name="Slide Number Placeholder 4">
            <a:extLst>
              <a:ext uri="{FF2B5EF4-FFF2-40B4-BE49-F238E27FC236}">
                <a16:creationId xmlns:a16="http://schemas.microsoft.com/office/drawing/2014/main" id="{77688E20-AF11-4438-AD5D-ABBAEC3A240E}"/>
              </a:ext>
            </a:extLst>
          </p:cNvPr>
          <p:cNvSpPr>
            <a:spLocks noGrp="1"/>
          </p:cNvSpPr>
          <p:nvPr>
            <p:ph type="sldNum" sz="quarter" idx="12"/>
          </p:nvPr>
        </p:nvSpPr>
        <p:spPr/>
        <p:txBody>
          <a:bodyPr/>
          <a:lstStyle/>
          <a:p>
            <a:fld id="{52B199FE-8D1D-41C7-8040-B5BAD29DE590}" type="slidenum">
              <a:rPr lang="en-US" smtClean="0"/>
              <a:pPr/>
              <a:t>21</a:t>
            </a:fld>
            <a:endParaRPr lang="en-US"/>
          </a:p>
        </p:txBody>
      </p:sp>
    </p:spTree>
    <p:extLst>
      <p:ext uri="{BB962C8B-B14F-4D97-AF65-F5344CB8AC3E}">
        <p14:creationId xmlns:p14="http://schemas.microsoft.com/office/powerpoint/2010/main" val="1237876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F833EC2-0B00-450D-9699-D53CDC4CBAA9}"/>
              </a:ext>
            </a:extLst>
          </p:cNvPr>
          <p:cNvSpPr txBox="1"/>
          <p:nvPr/>
        </p:nvSpPr>
        <p:spPr>
          <a:xfrm>
            <a:off x="3048786" y="6474023"/>
            <a:ext cx="6094428" cy="307777"/>
          </a:xfrm>
          <a:prstGeom prst="rect">
            <a:avLst/>
          </a:prstGeom>
          <a:noFill/>
        </p:spPr>
        <p:txBody>
          <a:bodyPr wrap="square">
            <a:spAutoFit/>
          </a:bodyPr>
          <a:lstStyle/>
          <a:p>
            <a:pPr algn="ctr"/>
            <a:r>
              <a:rPr lang="en-CA" sz="1400" dirty="0">
                <a:solidFill>
                  <a:schemeClr val="bg1"/>
                </a:solidFill>
                <a:hlinkClick r:id="rId3">
                  <a:extLst>
                    <a:ext uri="{A12FA001-AC4F-418D-AE19-62706E023703}">
                      <ahyp:hlinkClr xmlns:ahyp="http://schemas.microsoft.com/office/drawing/2018/hyperlinkcolor" val="tx"/>
                    </a:ext>
                  </a:extLst>
                </a:hlinkClick>
              </a:rPr>
              <a:t>https://pubmed.ncbi.nlm.nih.gov/32346721/</a:t>
            </a:r>
            <a:endParaRPr lang="en-CA" sz="1400" dirty="0">
              <a:solidFill>
                <a:schemeClr val="bg1"/>
              </a:solidFill>
            </a:endParaRPr>
          </a:p>
        </p:txBody>
      </p:sp>
      <p:pic>
        <p:nvPicPr>
          <p:cNvPr id="2057" name="New picture">
            <a:extLst>
              <a:ext uri="{FF2B5EF4-FFF2-40B4-BE49-F238E27FC236}">
                <a16:creationId xmlns:a16="http://schemas.microsoft.com/office/drawing/2014/main" id="{0550923A-129D-4082-90B3-D35FCA90AD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4825" y="1077780"/>
            <a:ext cx="6614884" cy="5170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pic>
      <p:sp>
        <p:nvSpPr>
          <p:cNvPr id="5" name="Title 4">
            <a:extLst>
              <a:ext uri="{FF2B5EF4-FFF2-40B4-BE49-F238E27FC236}">
                <a16:creationId xmlns:a16="http://schemas.microsoft.com/office/drawing/2014/main" id="{D19F42D4-257E-4BA8-BD52-ACA614343AC9}"/>
              </a:ext>
            </a:extLst>
          </p:cNvPr>
          <p:cNvSpPr>
            <a:spLocks noGrp="1"/>
          </p:cNvSpPr>
          <p:nvPr>
            <p:ph type="title"/>
          </p:nvPr>
        </p:nvSpPr>
        <p:spPr/>
        <p:txBody>
          <a:bodyPr>
            <a:normAutofit fontScale="90000"/>
          </a:bodyPr>
          <a:lstStyle/>
          <a:p>
            <a:r>
              <a:rPr lang="en-US" dirty="0" err="1"/>
              <a:t>SuperPlots</a:t>
            </a:r>
            <a:r>
              <a:rPr lang="en-US" dirty="0"/>
              <a:t>: Communicating reproducibility and variability in cell biology</a:t>
            </a:r>
            <a:endParaRPr lang="en-CA" dirty="0"/>
          </a:p>
        </p:txBody>
      </p:sp>
      <p:sp>
        <p:nvSpPr>
          <p:cNvPr id="6" name="Content Placeholder 5">
            <a:extLst>
              <a:ext uri="{FF2B5EF4-FFF2-40B4-BE49-F238E27FC236}">
                <a16:creationId xmlns:a16="http://schemas.microsoft.com/office/drawing/2014/main" id="{C1A1ED7A-B65F-4CF3-8310-B8F34E0AF258}"/>
              </a:ext>
            </a:extLst>
          </p:cNvPr>
          <p:cNvSpPr>
            <a:spLocks noGrp="1"/>
          </p:cNvSpPr>
          <p:nvPr>
            <p:ph idx="1"/>
          </p:nvPr>
        </p:nvSpPr>
        <p:spPr>
          <a:xfrm>
            <a:off x="304800" y="1066801"/>
            <a:ext cx="4495800" cy="4802293"/>
          </a:xfrm>
        </p:spPr>
        <p:txBody>
          <a:bodyPr/>
          <a:lstStyle/>
          <a:p>
            <a:r>
              <a:rPr lang="en-CA" dirty="0" err="1"/>
              <a:t>SuperPlots</a:t>
            </a:r>
            <a:r>
              <a:rPr lang="en-CA" dirty="0"/>
              <a:t> provides guidelines for the best way to present experimental data.</a:t>
            </a:r>
          </a:p>
          <a:p>
            <a:r>
              <a:rPr lang="en-CA" dirty="0"/>
              <a:t>Best to show all data points and colour code them for experimental replicate.</a:t>
            </a:r>
          </a:p>
          <a:p>
            <a:r>
              <a:rPr lang="en-CA" dirty="0"/>
              <a:t>For statistics the n value should be the number of experiments.</a:t>
            </a:r>
          </a:p>
        </p:txBody>
      </p:sp>
      <p:sp>
        <p:nvSpPr>
          <p:cNvPr id="2" name="Date Placeholder 1">
            <a:extLst>
              <a:ext uri="{FF2B5EF4-FFF2-40B4-BE49-F238E27FC236}">
                <a16:creationId xmlns:a16="http://schemas.microsoft.com/office/drawing/2014/main" id="{1D6F1314-906E-46F5-80FF-3E73C9A35247}"/>
              </a:ext>
            </a:extLst>
          </p:cNvPr>
          <p:cNvSpPr>
            <a:spLocks noGrp="1"/>
          </p:cNvSpPr>
          <p:nvPr>
            <p:ph type="dt" sz="half" idx="10"/>
          </p:nvPr>
        </p:nvSpPr>
        <p:spPr/>
        <p:txBody>
          <a:bodyPr/>
          <a:lstStyle/>
          <a:p>
            <a:fld id="{558DB2E2-8A35-441E-9526-95B4E7B50E06}" type="datetime1">
              <a:rPr lang="en-CA" smtClean="0"/>
              <a:t>2026-05-25</a:t>
            </a:fld>
            <a:endParaRPr lang="fr-CA"/>
          </a:p>
        </p:txBody>
      </p:sp>
      <p:sp>
        <p:nvSpPr>
          <p:cNvPr id="3" name="Slide Number Placeholder 2">
            <a:extLst>
              <a:ext uri="{FF2B5EF4-FFF2-40B4-BE49-F238E27FC236}">
                <a16:creationId xmlns:a16="http://schemas.microsoft.com/office/drawing/2014/main" id="{29AC31F7-786F-40F2-BB12-8B7DC77691CD}"/>
              </a:ext>
            </a:extLst>
          </p:cNvPr>
          <p:cNvSpPr>
            <a:spLocks noGrp="1"/>
          </p:cNvSpPr>
          <p:nvPr>
            <p:ph type="sldNum" sz="quarter" idx="12"/>
          </p:nvPr>
        </p:nvSpPr>
        <p:spPr/>
        <p:txBody>
          <a:bodyPr/>
          <a:lstStyle/>
          <a:p>
            <a:fld id="{52B199FE-8D1D-41C7-8040-B5BAD29DE590}" type="slidenum">
              <a:rPr lang="en-US" smtClean="0"/>
              <a:pPr/>
              <a:t>22</a:t>
            </a:fld>
            <a:endParaRPr lang="en-US"/>
          </a:p>
        </p:txBody>
      </p:sp>
    </p:spTree>
    <p:extLst>
      <p:ext uri="{BB962C8B-B14F-4D97-AF65-F5344CB8AC3E}">
        <p14:creationId xmlns:p14="http://schemas.microsoft.com/office/powerpoint/2010/main" val="760863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34D73-DC12-424E-8341-8B9B45444B9A}"/>
              </a:ext>
            </a:extLst>
          </p:cNvPr>
          <p:cNvSpPr>
            <a:spLocks noGrp="1"/>
          </p:cNvSpPr>
          <p:nvPr>
            <p:ph type="title"/>
          </p:nvPr>
        </p:nvSpPr>
        <p:spPr/>
        <p:txBody>
          <a:bodyPr/>
          <a:lstStyle/>
          <a:p>
            <a:r>
              <a:rPr lang="en-US" dirty="0" err="1"/>
              <a:t>SuperPlots</a:t>
            </a:r>
            <a:endParaRPr lang="en-US" dirty="0"/>
          </a:p>
        </p:txBody>
      </p:sp>
      <p:pic>
        <p:nvPicPr>
          <p:cNvPr id="4" name="Picture 3">
            <a:extLst>
              <a:ext uri="{FF2B5EF4-FFF2-40B4-BE49-F238E27FC236}">
                <a16:creationId xmlns:a16="http://schemas.microsoft.com/office/drawing/2014/main" id="{55A6CBEE-D6AB-774E-92BD-67A9DDF3BCE9}"/>
              </a:ext>
            </a:extLst>
          </p:cNvPr>
          <p:cNvPicPr>
            <a:picLocks noChangeAspect="1"/>
          </p:cNvPicPr>
          <p:nvPr/>
        </p:nvPicPr>
        <p:blipFill>
          <a:blip r:embed="rId3"/>
          <a:stretch>
            <a:fillRect/>
          </a:stretch>
        </p:blipFill>
        <p:spPr>
          <a:xfrm>
            <a:off x="4927598" y="1143000"/>
            <a:ext cx="2336798" cy="3658934"/>
          </a:xfrm>
          <a:prstGeom prst="rect">
            <a:avLst/>
          </a:prstGeom>
        </p:spPr>
      </p:pic>
      <p:sp>
        <p:nvSpPr>
          <p:cNvPr id="5" name="TextBox 4">
            <a:extLst>
              <a:ext uri="{FF2B5EF4-FFF2-40B4-BE49-F238E27FC236}">
                <a16:creationId xmlns:a16="http://schemas.microsoft.com/office/drawing/2014/main" id="{704BACAB-CE1D-6A4A-B550-F27CB2AC628E}"/>
              </a:ext>
            </a:extLst>
          </p:cNvPr>
          <p:cNvSpPr txBox="1"/>
          <p:nvPr/>
        </p:nvSpPr>
        <p:spPr>
          <a:xfrm>
            <a:off x="2531722" y="5007114"/>
            <a:ext cx="7128551" cy="830997"/>
          </a:xfrm>
          <a:prstGeom prst="rect">
            <a:avLst/>
          </a:prstGeom>
          <a:noFill/>
        </p:spPr>
        <p:txBody>
          <a:bodyPr wrap="square" rtlCol="0">
            <a:spAutoFit/>
          </a:bodyPr>
          <a:lstStyle/>
          <a:p>
            <a:pPr algn="ctr"/>
            <a:r>
              <a:rPr lang="en-US" sz="2400" dirty="0"/>
              <a:t>Supplemental information describes how to generate plots in Prism, Excel, R, and Python</a:t>
            </a:r>
          </a:p>
        </p:txBody>
      </p:sp>
      <p:sp>
        <p:nvSpPr>
          <p:cNvPr id="6" name="TextBox 5">
            <a:extLst>
              <a:ext uri="{FF2B5EF4-FFF2-40B4-BE49-F238E27FC236}">
                <a16:creationId xmlns:a16="http://schemas.microsoft.com/office/drawing/2014/main" id="{939B0753-57A4-4C75-B466-F011B207882A}"/>
              </a:ext>
            </a:extLst>
          </p:cNvPr>
          <p:cNvSpPr txBox="1"/>
          <p:nvPr/>
        </p:nvSpPr>
        <p:spPr>
          <a:xfrm>
            <a:off x="3048786" y="6474023"/>
            <a:ext cx="6094428" cy="307777"/>
          </a:xfrm>
          <a:prstGeom prst="rect">
            <a:avLst/>
          </a:prstGeom>
          <a:noFill/>
        </p:spPr>
        <p:txBody>
          <a:bodyPr wrap="square">
            <a:spAutoFit/>
          </a:bodyPr>
          <a:lstStyle/>
          <a:p>
            <a:pPr algn="ctr"/>
            <a:r>
              <a:rPr lang="en-CA" sz="1400" dirty="0">
                <a:solidFill>
                  <a:schemeClr val="bg1"/>
                </a:solidFill>
                <a:hlinkClick r:id="rId4">
                  <a:extLst>
                    <a:ext uri="{A12FA001-AC4F-418D-AE19-62706E023703}">
                      <ahyp:hlinkClr xmlns:ahyp="http://schemas.microsoft.com/office/drawing/2018/hyperlinkcolor" val="tx"/>
                    </a:ext>
                  </a:extLst>
                </a:hlinkClick>
              </a:rPr>
              <a:t>https://pubmed.ncbi.nlm.nih.gov/32346721/</a:t>
            </a:r>
            <a:endParaRPr lang="en-CA" sz="1400" dirty="0">
              <a:solidFill>
                <a:schemeClr val="bg1"/>
              </a:solidFill>
            </a:endParaRPr>
          </a:p>
        </p:txBody>
      </p:sp>
      <p:sp>
        <p:nvSpPr>
          <p:cNvPr id="3" name="Date Placeholder 2">
            <a:extLst>
              <a:ext uri="{FF2B5EF4-FFF2-40B4-BE49-F238E27FC236}">
                <a16:creationId xmlns:a16="http://schemas.microsoft.com/office/drawing/2014/main" id="{43EE4242-08A2-4E44-97F9-2D6FF77A3D00}"/>
              </a:ext>
            </a:extLst>
          </p:cNvPr>
          <p:cNvSpPr>
            <a:spLocks noGrp="1"/>
          </p:cNvSpPr>
          <p:nvPr>
            <p:ph type="dt" sz="half" idx="10"/>
          </p:nvPr>
        </p:nvSpPr>
        <p:spPr/>
        <p:txBody>
          <a:bodyPr/>
          <a:lstStyle/>
          <a:p>
            <a:fld id="{C173BB91-8CDE-4EAA-BFCE-AE9408BA914C}" type="datetime1">
              <a:rPr lang="en-CA" smtClean="0"/>
              <a:t>2026-05-25</a:t>
            </a:fld>
            <a:endParaRPr lang="fr-CA"/>
          </a:p>
        </p:txBody>
      </p:sp>
      <p:sp>
        <p:nvSpPr>
          <p:cNvPr id="7" name="Slide Number Placeholder 6">
            <a:extLst>
              <a:ext uri="{FF2B5EF4-FFF2-40B4-BE49-F238E27FC236}">
                <a16:creationId xmlns:a16="http://schemas.microsoft.com/office/drawing/2014/main" id="{271963C9-C69C-4611-BE89-DA0B9C5460D6}"/>
              </a:ext>
            </a:extLst>
          </p:cNvPr>
          <p:cNvSpPr>
            <a:spLocks noGrp="1"/>
          </p:cNvSpPr>
          <p:nvPr>
            <p:ph type="sldNum" sz="quarter" idx="12"/>
          </p:nvPr>
        </p:nvSpPr>
        <p:spPr/>
        <p:txBody>
          <a:bodyPr/>
          <a:lstStyle/>
          <a:p>
            <a:fld id="{52B199FE-8D1D-41C7-8040-B5BAD29DE590}" type="slidenum">
              <a:rPr lang="en-US" smtClean="0"/>
              <a:pPr/>
              <a:t>23</a:t>
            </a:fld>
            <a:endParaRPr lang="en-US"/>
          </a:p>
        </p:txBody>
      </p:sp>
    </p:spTree>
    <p:extLst>
      <p:ext uri="{BB962C8B-B14F-4D97-AF65-F5344CB8AC3E}">
        <p14:creationId xmlns:p14="http://schemas.microsoft.com/office/powerpoint/2010/main" val="2041453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44F20F1-AF77-43DC-B08C-A02D1F579F4E}"/>
              </a:ext>
            </a:extLst>
          </p:cNvPr>
          <p:cNvSpPr txBox="1"/>
          <p:nvPr/>
        </p:nvSpPr>
        <p:spPr>
          <a:xfrm>
            <a:off x="3046379" y="6408245"/>
            <a:ext cx="6099242" cy="307777"/>
          </a:xfrm>
          <a:prstGeom prst="rect">
            <a:avLst/>
          </a:prstGeom>
          <a:noFill/>
        </p:spPr>
        <p:txBody>
          <a:bodyPr wrap="square">
            <a:spAutoFit/>
          </a:bodyPr>
          <a:lstStyle/>
          <a:p>
            <a:pPr algn="ctr"/>
            <a:r>
              <a:rPr lang="en-CA" sz="1400" dirty="0">
                <a:solidFill>
                  <a:schemeClr val="bg1"/>
                </a:solidFill>
                <a:hlinkClick r:id="rId3">
                  <a:extLst>
                    <a:ext uri="{A12FA001-AC4F-418D-AE19-62706E023703}">
                      <ahyp:hlinkClr xmlns:ahyp="http://schemas.microsoft.com/office/drawing/2018/hyperlinkcolor" val="tx"/>
                    </a:ext>
                  </a:extLst>
                </a:hlinkClick>
              </a:rPr>
              <a:t>https://huygens.science.uva.nl/PlotsOfData/</a:t>
            </a:r>
            <a:endParaRPr lang="en-CA" sz="1400" dirty="0">
              <a:solidFill>
                <a:schemeClr val="bg1"/>
              </a:solidFill>
            </a:endParaRPr>
          </a:p>
        </p:txBody>
      </p:sp>
      <p:sp>
        <p:nvSpPr>
          <p:cNvPr id="6" name="TextBox 5">
            <a:extLst>
              <a:ext uri="{FF2B5EF4-FFF2-40B4-BE49-F238E27FC236}">
                <a16:creationId xmlns:a16="http://schemas.microsoft.com/office/drawing/2014/main" id="{47774867-BCEC-EE4B-A3BD-CAAA43A3466E}"/>
              </a:ext>
            </a:extLst>
          </p:cNvPr>
          <p:cNvSpPr txBox="1"/>
          <p:nvPr/>
        </p:nvSpPr>
        <p:spPr>
          <a:xfrm>
            <a:off x="304799" y="1143001"/>
            <a:ext cx="11543489" cy="5037276"/>
          </a:xfrm>
          <a:prstGeom prst="rect">
            <a:avLst/>
          </a:prstGeom>
          <a:noFill/>
        </p:spPr>
        <p:txBody>
          <a:bodyPr wrap="square" rtlCol="0">
            <a:spAutoFit/>
          </a:bodyPr>
          <a:lstStyle/>
          <a:p>
            <a:r>
              <a:rPr lang="en-CA" sz="2400" dirty="0">
                <a:hlinkClick r:id="rId3">
                  <a:extLst>
                    <a:ext uri="{A12FA001-AC4F-418D-AE19-62706E023703}">
                      <ahyp:hlinkClr xmlns:ahyp="http://schemas.microsoft.com/office/drawing/2018/hyperlinkcolor" val="tx"/>
                    </a:ext>
                  </a:extLst>
                </a:hlinkClick>
              </a:rPr>
              <a:t>https://huygens.science.uva.nl/PlotsOfData/</a:t>
            </a:r>
            <a:br>
              <a:rPr lang="en-CA" sz="2400" dirty="0"/>
            </a:br>
            <a:endParaRPr lang="en-CA" sz="2400" dirty="0"/>
          </a:p>
          <a:p>
            <a:pPr marL="171450" indent="-171450">
              <a:spcAft>
                <a:spcPts val="1000"/>
              </a:spcAft>
              <a:buFont typeface="Arial" panose="020B0604020202020204" pitchFamily="34" charset="0"/>
              <a:buChar char="•"/>
            </a:pPr>
            <a:r>
              <a:rPr lang="en-CA" sz="2400" dirty="0"/>
              <a:t>Click the "Data Upload" tab (if not already clicked)</a:t>
            </a:r>
            <a:br>
              <a:rPr lang="en-CA" sz="2400" dirty="0"/>
            </a:br>
            <a:r>
              <a:rPr lang="en-CA" sz="2400" dirty="0"/>
              <a:t>Select "Paste data" on the left, after which a text input area named "Paste data below:" should appear</a:t>
            </a:r>
          </a:p>
          <a:p>
            <a:pPr marL="171450" indent="-171450">
              <a:spcAft>
                <a:spcPts val="1000"/>
              </a:spcAft>
              <a:buFont typeface="Arial" panose="020B0604020202020204" pitchFamily="34" charset="0"/>
              <a:buChar char="•"/>
            </a:pPr>
            <a:r>
              <a:rPr lang="en-CA" sz="2400" dirty="0"/>
              <a:t>Copy-paste your columns of data from Excel (with column headers) to the "Paste data below:" text input area </a:t>
            </a:r>
          </a:p>
          <a:p>
            <a:pPr marL="171450" indent="-171450">
              <a:spcAft>
                <a:spcPts val="1000"/>
              </a:spcAft>
              <a:buFont typeface="Arial" panose="020B0604020202020204" pitchFamily="34" charset="0"/>
              <a:buChar char="•"/>
            </a:pPr>
            <a:r>
              <a:rPr lang="en-CA" sz="2400" dirty="0"/>
              <a:t>Select "Tab (from Excel)" as a delimiter</a:t>
            </a:r>
          </a:p>
          <a:p>
            <a:pPr marL="171450" indent="-171450">
              <a:spcAft>
                <a:spcPts val="1000"/>
              </a:spcAft>
              <a:buFont typeface="Arial" panose="020B0604020202020204" pitchFamily="34" charset="0"/>
              <a:buChar char="•"/>
            </a:pPr>
            <a:r>
              <a:rPr lang="en-CA" sz="2400" dirty="0"/>
              <a:t>Click "Submit Data”</a:t>
            </a:r>
          </a:p>
          <a:p>
            <a:pPr marL="171450" indent="-171450">
              <a:spcAft>
                <a:spcPts val="1000"/>
              </a:spcAft>
              <a:buFont typeface="Arial" panose="020B0604020202020204" pitchFamily="34" charset="0"/>
              <a:buChar char="•"/>
            </a:pPr>
            <a:r>
              <a:rPr lang="en-CA" sz="2400" dirty="0"/>
              <a:t>Your columns of data should appear on the right - check to make sure things are in order (number of columns, rows, </a:t>
            </a:r>
            <a:r>
              <a:rPr lang="en-CA" sz="2400" dirty="0" err="1"/>
              <a:t>etc</a:t>
            </a:r>
            <a:r>
              <a:rPr lang="en-CA" sz="2400" dirty="0"/>
              <a:t>). Note that spaces in columns headers will be replaced with underscores. 																Continued…</a:t>
            </a:r>
          </a:p>
        </p:txBody>
      </p:sp>
      <p:sp>
        <p:nvSpPr>
          <p:cNvPr id="2" name="Title 1">
            <a:extLst>
              <a:ext uri="{FF2B5EF4-FFF2-40B4-BE49-F238E27FC236}">
                <a16:creationId xmlns:a16="http://schemas.microsoft.com/office/drawing/2014/main" id="{4BA93A62-A5FE-1142-8334-2BF665F5D59E}"/>
              </a:ext>
            </a:extLst>
          </p:cNvPr>
          <p:cNvSpPr>
            <a:spLocks noGrp="1"/>
          </p:cNvSpPr>
          <p:nvPr>
            <p:ph type="title"/>
          </p:nvPr>
        </p:nvSpPr>
        <p:spPr/>
        <p:txBody>
          <a:bodyPr/>
          <a:lstStyle/>
          <a:p>
            <a:r>
              <a:rPr lang="en-US" dirty="0" err="1"/>
              <a:t>PlotsOfData</a:t>
            </a:r>
            <a:r>
              <a:rPr lang="en-US" dirty="0"/>
              <a:t> – online tool</a:t>
            </a:r>
          </a:p>
        </p:txBody>
      </p:sp>
      <p:sp>
        <p:nvSpPr>
          <p:cNvPr id="3" name="Date Placeholder 2">
            <a:extLst>
              <a:ext uri="{FF2B5EF4-FFF2-40B4-BE49-F238E27FC236}">
                <a16:creationId xmlns:a16="http://schemas.microsoft.com/office/drawing/2014/main" id="{9C1E8CC0-4696-41E6-BEE3-465F46B9E6E8}"/>
              </a:ext>
            </a:extLst>
          </p:cNvPr>
          <p:cNvSpPr>
            <a:spLocks noGrp="1"/>
          </p:cNvSpPr>
          <p:nvPr>
            <p:ph type="dt" sz="half" idx="10"/>
          </p:nvPr>
        </p:nvSpPr>
        <p:spPr/>
        <p:txBody>
          <a:bodyPr/>
          <a:lstStyle/>
          <a:p>
            <a:fld id="{4F4C0900-BD74-4750-ABFC-EB3A43780E12}" type="datetime1">
              <a:rPr lang="en-CA" smtClean="0"/>
              <a:t>2026-05-25</a:t>
            </a:fld>
            <a:endParaRPr lang="fr-CA"/>
          </a:p>
        </p:txBody>
      </p:sp>
      <p:sp>
        <p:nvSpPr>
          <p:cNvPr id="4" name="Slide Number Placeholder 3">
            <a:extLst>
              <a:ext uri="{FF2B5EF4-FFF2-40B4-BE49-F238E27FC236}">
                <a16:creationId xmlns:a16="http://schemas.microsoft.com/office/drawing/2014/main" id="{059018DD-5D73-4C88-80C5-95493F9C2C75}"/>
              </a:ext>
            </a:extLst>
          </p:cNvPr>
          <p:cNvSpPr>
            <a:spLocks noGrp="1"/>
          </p:cNvSpPr>
          <p:nvPr>
            <p:ph type="sldNum" sz="quarter" idx="12"/>
          </p:nvPr>
        </p:nvSpPr>
        <p:spPr/>
        <p:txBody>
          <a:bodyPr/>
          <a:lstStyle/>
          <a:p>
            <a:fld id="{52B199FE-8D1D-41C7-8040-B5BAD29DE590}" type="slidenum">
              <a:rPr lang="en-US" smtClean="0"/>
              <a:pPr/>
              <a:t>24</a:t>
            </a:fld>
            <a:endParaRPr lang="en-US"/>
          </a:p>
        </p:txBody>
      </p:sp>
    </p:spTree>
    <p:extLst>
      <p:ext uri="{BB962C8B-B14F-4D97-AF65-F5344CB8AC3E}">
        <p14:creationId xmlns:p14="http://schemas.microsoft.com/office/powerpoint/2010/main" val="3146325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44F20F1-AF77-43DC-B08C-A02D1F579F4E}"/>
              </a:ext>
            </a:extLst>
          </p:cNvPr>
          <p:cNvSpPr txBox="1"/>
          <p:nvPr/>
        </p:nvSpPr>
        <p:spPr>
          <a:xfrm>
            <a:off x="3046379" y="6408761"/>
            <a:ext cx="6099242" cy="307777"/>
          </a:xfrm>
          <a:prstGeom prst="rect">
            <a:avLst/>
          </a:prstGeom>
          <a:noFill/>
        </p:spPr>
        <p:txBody>
          <a:bodyPr wrap="square">
            <a:spAutoFit/>
          </a:bodyPr>
          <a:lstStyle/>
          <a:p>
            <a:pPr algn="ctr"/>
            <a:r>
              <a:rPr lang="en-CA" sz="1400" dirty="0">
                <a:solidFill>
                  <a:schemeClr val="bg1"/>
                </a:solidFill>
                <a:hlinkClick r:id="rId2">
                  <a:extLst>
                    <a:ext uri="{A12FA001-AC4F-418D-AE19-62706E023703}">
                      <ahyp:hlinkClr xmlns:ahyp="http://schemas.microsoft.com/office/drawing/2018/hyperlinkcolor" val="tx"/>
                    </a:ext>
                  </a:extLst>
                </a:hlinkClick>
              </a:rPr>
              <a:t>https://huygens.science.uva.nl/PlotsOfData/</a:t>
            </a:r>
            <a:endParaRPr lang="en-CA" sz="1400" dirty="0">
              <a:solidFill>
                <a:schemeClr val="bg1"/>
              </a:solidFill>
            </a:endParaRPr>
          </a:p>
        </p:txBody>
      </p:sp>
      <p:sp>
        <p:nvSpPr>
          <p:cNvPr id="6" name="TextBox 5">
            <a:extLst>
              <a:ext uri="{FF2B5EF4-FFF2-40B4-BE49-F238E27FC236}">
                <a16:creationId xmlns:a16="http://schemas.microsoft.com/office/drawing/2014/main" id="{47774867-BCEC-EE4B-A3BD-CAAA43A3466E}"/>
              </a:ext>
            </a:extLst>
          </p:cNvPr>
          <p:cNvSpPr txBox="1"/>
          <p:nvPr/>
        </p:nvSpPr>
        <p:spPr>
          <a:xfrm>
            <a:off x="304799" y="1143001"/>
            <a:ext cx="11543489" cy="3431709"/>
          </a:xfrm>
          <a:prstGeom prst="rect">
            <a:avLst/>
          </a:prstGeom>
          <a:noFill/>
        </p:spPr>
        <p:txBody>
          <a:bodyPr wrap="square" rtlCol="0">
            <a:spAutoFit/>
          </a:bodyPr>
          <a:lstStyle/>
          <a:p>
            <a:r>
              <a:rPr lang="en-CA" sz="2400" dirty="0">
                <a:hlinkClick r:id="rId2">
                  <a:extLst>
                    <a:ext uri="{A12FA001-AC4F-418D-AE19-62706E023703}">
                      <ahyp:hlinkClr xmlns:ahyp="http://schemas.microsoft.com/office/drawing/2018/hyperlinkcolor" val="tx"/>
                    </a:ext>
                  </a:extLst>
                </a:hlinkClick>
              </a:rPr>
              <a:t>https://huygens.science.uva.nl/PlotsOfData/</a:t>
            </a:r>
            <a:br>
              <a:rPr lang="en-CA" sz="2400" dirty="0"/>
            </a:br>
            <a:endParaRPr lang="en-CA" sz="2400" dirty="0"/>
          </a:p>
          <a:p>
            <a:pPr marL="171450" indent="-171450">
              <a:spcAft>
                <a:spcPts val="1000"/>
              </a:spcAft>
              <a:buFont typeface="Arial" panose="020B0604020202020204" pitchFamily="34" charset="0"/>
              <a:buChar char="•"/>
            </a:pPr>
            <a:r>
              <a:rPr lang="en-CA" sz="2400" dirty="0"/>
              <a:t>Click on the "Plot" tab, wait a few seconds (depends on connection and amount of data), a plot should appear with all your data.</a:t>
            </a:r>
          </a:p>
          <a:p>
            <a:pPr marL="171450" indent="-171450">
              <a:spcAft>
                <a:spcPts val="1000"/>
              </a:spcAft>
              <a:buFont typeface="Arial" panose="020B0604020202020204" pitchFamily="34" charset="0"/>
              <a:buChar char="•"/>
            </a:pPr>
            <a:r>
              <a:rPr lang="en-CA" sz="2400" dirty="0"/>
              <a:t>On the left, you can select different ways of visualizing the data and adjust display parameters.</a:t>
            </a:r>
          </a:p>
          <a:p>
            <a:pPr marL="171450" indent="-171450">
              <a:spcAft>
                <a:spcPts val="1000"/>
              </a:spcAft>
              <a:buFont typeface="Arial" panose="020B0604020202020204" pitchFamily="34" charset="0"/>
              <a:buChar char="•"/>
            </a:pPr>
            <a:r>
              <a:rPr lang="en-CA" sz="2400" dirty="0"/>
              <a:t>You can then download your plot in an appropriate format. </a:t>
            </a:r>
          </a:p>
          <a:p>
            <a:pPr marL="171450" indent="-171450">
              <a:buFont typeface="Arial" panose="020B0604020202020204" pitchFamily="34" charset="0"/>
              <a:buChar char="•"/>
            </a:pPr>
            <a:r>
              <a:rPr lang="en-CA" sz="2400" dirty="0"/>
              <a:t>Click Data Summary to get some stats on the dataset.</a:t>
            </a:r>
          </a:p>
        </p:txBody>
      </p:sp>
      <p:sp>
        <p:nvSpPr>
          <p:cNvPr id="2" name="Title 1">
            <a:extLst>
              <a:ext uri="{FF2B5EF4-FFF2-40B4-BE49-F238E27FC236}">
                <a16:creationId xmlns:a16="http://schemas.microsoft.com/office/drawing/2014/main" id="{4BA93A62-A5FE-1142-8334-2BF665F5D59E}"/>
              </a:ext>
            </a:extLst>
          </p:cNvPr>
          <p:cNvSpPr>
            <a:spLocks noGrp="1"/>
          </p:cNvSpPr>
          <p:nvPr>
            <p:ph type="title"/>
          </p:nvPr>
        </p:nvSpPr>
        <p:spPr/>
        <p:txBody>
          <a:bodyPr/>
          <a:lstStyle/>
          <a:p>
            <a:r>
              <a:rPr lang="en-US" dirty="0" err="1"/>
              <a:t>PlotsOfData</a:t>
            </a:r>
            <a:r>
              <a:rPr lang="en-US" dirty="0"/>
              <a:t> – online tool</a:t>
            </a:r>
          </a:p>
        </p:txBody>
      </p:sp>
      <p:sp>
        <p:nvSpPr>
          <p:cNvPr id="3" name="Date Placeholder 2">
            <a:extLst>
              <a:ext uri="{FF2B5EF4-FFF2-40B4-BE49-F238E27FC236}">
                <a16:creationId xmlns:a16="http://schemas.microsoft.com/office/drawing/2014/main" id="{05B27F61-FEE6-43A1-849B-BB5043F660EF}"/>
              </a:ext>
            </a:extLst>
          </p:cNvPr>
          <p:cNvSpPr>
            <a:spLocks noGrp="1"/>
          </p:cNvSpPr>
          <p:nvPr>
            <p:ph type="dt" sz="half" idx="10"/>
          </p:nvPr>
        </p:nvSpPr>
        <p:spPr/>
        <p:txBody>
          <a:bodyPr/>
          <a:lstStyle/>
          <a:p>
            <a:fld id="{2E0467DC-D548-4F21-9D50-FB60DFFBE856}" type="datetime1">
              <a:rPr lang="en-CA" smtClean="0"/>
              <a:t>2026-05-25</a:t>
            </a:fld>
            <a:endParaRPr lang="fr-CA"/>
          </a:p>
        </p:txBody>
      </p:sp>
      <p:sp>
        <p:nvSpPr>
          <p:cNvPr id="4" name="Slide Number Placeholder 3">
            <a:extLst>
              <a:ext uri="{FF2B5EF4-FFF2-40B4-BE49-F238E27FC236}">
                <a16:creationId xmlns:a16="http://schemas.microsoft.com/office/drawing/2014/main" id="{6BE34BF1-3666-49CC-B598-093D58ACCF16}"/>
              </a:ext>
            </a:extLst>
          </p:cNvPr>
          <p:cNvSpPr>
            <a:spLocks noGrp="1"/>
          </p:cNvSpPr>
          <p:nvPr>
            <p:ph type="sldNum" sz="quarter" idx="12"/>
          </p:nvPr>
        </p:nvSpPr>
        <p:spPr/>
        <p:txBody>
          <a:bodyPr/>
          <a:lstStyle/>
          <a:p>
            <a:fld id="{52B199FE-8D1D-41C7-8040-B5BAD29DE590}" type="slidenum">
              <a:rPr lang="en-US" smtClean="0"/>
              <a:pPr/>
              <a:t>25</a:t>
            </a:fld>
            <a:endParaRPr lang="en-US"/>
          </a:p>
        </p:txBody>
      </p:sp>
    </p:spTree>
    <p:extLst>
      <p:ext uri="{BB962C8B-B14F-4D97-AF65-F5344CB8AC3E}">
        <p14:creationId xmlns:p14="http://schemas.microsoft.com/office/powerpoint/2010/main" val="144043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707D17-C8BC-4EAF-A503-A189899C6DF8}"/>
              </a:ext>
            </a:extLst>
          </p:cNvPr>
          <p:cNvSpPr>
            <a:spLocks noGrp="1"/>
          </p:cNvSpPr>
          <p:nvPr>
            <p:ph type="title"/>
          </p:nvPr>
        </p:nvSpPr>
        <p:spPr/>
        <p:txBody>
          <a:bodyPr>
            <a:normAutofit/>
          </a:bodyPr>
          <a:lstStyle/>
          <a:p>
            <a:r>
              <a:rPr lang="en-CA" sz="5400" dirty="0"/>
              <a:t>What’s Wrong With These Figures?</a:t>
            </a:r>
          </a:p>
        </p:txBody>
      </p:sp>
      <p:sp>
        <p:nvSpPr>
          <p:cNvPr id="6" name="Text Placeholder 5">
            <a:extLst>
              <a:ext uri="{FF2B5EF4-FFF2-40B4-BE49-F238E27FC236}">
                <a16:creationId xmlns:a16="http://schemas.microsoft.com/office/drawing/2014/main" id="{8DB2185F-BCF3-43F4-A5FB-10860BD8B8F5}"/>
              </a:ext>
            </a:extLst>
          </p:cNvPr>
          <p:cNvSpPr>
            <a:spLocks noGrp="1"/>
          </p:cNvSpPr>
          <p:nvPr>
            <p:ph type="body" idx="1"/>
          </p:nvPr>
        </p:nvSpPr>
        <p:spPr/>
        <p:txBody>
          <a:bodyPr/>
          <a:lstStyle/>
          <a:p>
            <a:endParaRPr lang="en-CA"/>
          </a:p>
        </p:txBody>
      </p:sp>
      <p:sp>
        <p:nvSpPr>
          <p:cNvPr id="3" name="Date Placeholder 2">
            <a:extLst>
              <a:ext uri="{FF2B5EF4-FFF2-40B4-BE49-F238E27FC236}">
                <a16:creationId xmlns:a16="http://schemas.microsoft.com/office/drawing/2014/main" id="{695A57E5-B160-4153-96CF-45CF34EB295D}"/>
              </a:ext>
            </a:extLst>
          </p:cNvPr>
          <p:cNvSpPr>
            <a:spLocks noGrp="1"/>
          </p:cNvSpPr>
          <p:nvPr>
            <p:ph type="dt" sz="half" idx="10"/>
          </p:nvPr>
        </p:nvSpPr>
        <p:spPr/>
        <p:txBody>
          <a:bodyPr/>
          <a:lstStyle/>
          <a:p>
            <a:fld id="{43DA238D-0726-48AE-9537-2A889B27C892}" type="datetime1">
              <a:rPr lang="en-CA" smtClean="0"/>
              <a:t>2026-05-25</a:t>
            </a:fld>
            <a:endParaRPr lang="fr-CA"/>
          </a:p>
        </p:txBody>
      </p:sp>
      <p:sp>
        <p:nvSpPr>
          <p:cNvPr id="4" name="Slide Number Placeholder 3">
            <a:extLst>
              <a:ext uri="{FF2B5EF4-FFF2-40B4-BE49-F238E27FC236}">
                <a16:creationId xmlns:a16="http://schemas.microsoft.com/office/drawing/2014/main" id="{E3EC0482-D95A-4E4B-813B-84F45B6910A3}"/>
              </a:ext>
            </a:extLst>
          </p:cNvPr>
          <p:cNvSpPr>
            <a:spLocks noGrp="1"/>
          </p:cNvSpPr>
          <p:nvPr>
            <p:ph type="sldNum" sz="quarter" idx="12"/>
          </p:nvPr>
        </p:nvSpPr>
        <p:spPr/>
        <p:txBody>
          <a:bodyPr/>
          <a:lstStyle/>
          <a:p>
            <a:fld id="{52B199FE-8D1D-41C7-8040-B5BAD29DE590}" type="slidenum">
              <a:rPr lang="en-US" smtClean="0"/>
              <a:pPr/>
              <a:t>26</a:t>
            </a:fld>
            <a:endParaRPr lang="en-US"/>
          </a:p>
        </p:txBody>
      </p:sp>
    </p:spTree>
    <p:extLst>
      <p:ext uri="{BB962C8B-B14F-4D97-AF65-F5344CB8AC3E}">
        <p14:creationId xmlns:p14="http://schemas.microsoft.com/office/powerpoint/2010/main" val="3974970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7668" y="1167384"/>
            <a:ext cx="6951133" cy="5004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519925" y="6400800"/>
            <a:ext cx="7152151" cy="307777"/>
          </a:xfrm>
          <a:prstGeom prst="rect">
            <a:avLst/>
          </a:prstGeom>
        </p:spPr>
        <p:txBody>
          <a:bodyPr wrap="none">
            <a:spAutoFit/>
          </a:bodyPr>
          <a:lstStyle/>
          <a:p>
            <a:pPr algn="ctr"/>
            <a:r>
              <a:rPr lang="en-US" sz="1400" dirty="0">
                <a:solidFill>
                  <a:schemeClr val="bg1"/>
                </a:solidFill>
                <a:hlinkClick r:id="rId4">
                  <a:extLst>
                    <a:ext uri="{A12FA001-AC4F-418D-AE19-62706E023703}">
                      <ahyp:hlinkClr xmlns:ahyp="http://schemas.microsoft.com/office/drawing/2018/hyperlinkcolor" val="tx"/>
                    </a:ext>
                  </a:extLst>
                </a:hlinkClick>
              </a:rPr>
              <a:t>https://www.microscopyu.com/gallery-images/opossum-kidney-cortex-epithelial-cells-ok-line-1</a:t>
            </a:r>
            <a:endParaRPr lang="en-US" sz="1400" dirty="0">
              <a:solidFill>
                <a:schemeClr val="bg1"/>
              </a:solidFill>
            </a:endParaRPr>
          </a:p>
        </p:txBody>
      </p:sp>
      <p:sp>
        <p:nvSpPr>
          <p:cNvPr id="4" name="Title 3">
            <a:extLst>
              <a:ext uri="{FF2B5EF4-FFF2-40B4-BE49-F238E27FC236}">
                <a16:creationId xmlns:a16="http://schemas.microsoft.com/office/drawing/2014/main" id="{B6E39957-BABB-4F7B-8B64-60D09C6EF320}"/>
              </a:ext>
            </a:extLst>
          </p:cNvPr>
          <p:cNvSpPr>
            <a:spLocks noGrp="1"/>
          </p:cNvSpPr>
          <p:nvPr>
            <p:ph type="title"/>
          </p:nvPr>
        </p:nvSpPr>
        <p:spPr/>
        <p:txBody>
          <a:bodyPr/>
          <a:lstStyle/>
          <a:p>
            <a:r>
              <a:rPr lang="en-US" dirty="0"/>
              <a:t>What’s Wrong with this Figure?</a:t>
            </a:r>
            <a:endParaRPr lang="en-CA" dirty="0"/>
          </a:p>
        </p:txBody>
      </p:sp>
      <p:sp>
        <p:nvSpPr>
          <p:cNvPr id="2" name="Date Placeholder 1">
            <a:extLst>
              <a:ext uri="{FF2B5EF4-FFF2-40B4-BE49-F238E27FC236}">
                <a16:creationId xmlns:a16="http://schemas.microsoft.com/office/drawing/2014/main" id="{6892C5F1-7E52-4C4E-84DA-4E3E4CE47192}"/>
              </a:ext>
            </a:extLst>
          </p:cNvPr>
          <p:cNvSpPr>
            <a:spLocks noGrp="1"/>
          </p:cNvSpPr>
          <p:nvPr>
            <p:ph type="dt" sz="half" idx="10"/>
          </p:nvPr>
        </p:nvSpPr>
        <p:spPr/>
        <p:txBody>
          <a:bodyPr/>
          <a:lstStyle/>
          <a:p>
            <a:fld id="{3D7CF724-82FA-4FE8-8C04-A63758620983}" type="datetime1">
              <a:rPr lang="en-CA" smtClean="0"/>
              <a:t>2026-05-25</a:t>
            </a:fld>
            <a:endParaRPr lang="fr-CA"/>
          </a:p>
        </p:txBody>
      </p:sp>
      <p:sp>
        <p:nvSpPr>
          <p:cNvPr id="5" name="Slide Number Placeholder 4">
            <a:extLst>
              <a:ext uri="{FF2B5EF4-FFF2-40B4-BE49-F238E27FC236}">
                <a16:creationId xmlns:a16="http://schemas.microsoft.com/office/drawing/2014/main" id="{E0C4A613-B0D2-48F0-B16D-45360ECB2E2A}"/>
              </a:ext>
            </a:extLst>
          </p:cNvPr>
          <p:cNvSpPr>
            <a:spLocks noGrp="1"/>
          </p:cNvSpPr>
          <p:nvPr>
            <p:ph type="sldNum" sz="quarter" idx="12"/>
          </p:nvPr>
        </p:nvSpPr>
        <p:spPr/>
        <p:txBody>
          <a:bodyPr/>
          <a:lstStyle/>
          <a:p>
            <a:fld id="{52B199FE-8D1D-41C7-8040-B5BAD29DE590}" type="slidenum">
              <a:rPr lang="en-US" smtClean="0"/>
              <a:pPr/>
              <a:t>27</a:t>
            </a:fld>
            <a:endParaRPr lang="en-US"/>
          </a:p>
        </p:txBody>
      </p:sp>
    </p:spTree>
    <p:extLst>
      <p:ext uri="{BB962C8B-B14F-4D97-AF65-F5344CB8AC3E}">
        <p14:creationId xmlns:p14="http://schemas.microsoft.com/office/powerpoint/2010/main" val="1908863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micro.magnet.fsu.edu/primer/techniques/fluorescence/gallery/cells/ptk1/images/ptk1smal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0659" y="1676400"/>
            <a:ext cx="5770682" cy="4191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523451" y="6477001"/>
            <a:ext cx="7145098" cy="307777"/>
          </a:xfrm>
          <a:prstGeom prst="rect">
            <a:avLst/>
          </a:prstGeom>
        </p:spPr>
        <p:txBody>
          <a:bodyPr wrap="none">
            <a:spAutoFit/>
          </a:bodyPr>
          <a:lstStyle/>
          <a:p>
            <a:pPr algn="ctr"/>
            <a:r>
              <a:rPr lang="en-US" sz="1400" dirty="0">
                <a:solidFill>
                  <a:schemeClr val="bg1"/>
                </a:solidFill>
                <a:hlinkClick r:id="rId4">
                  <a:extLst>
                    <a:ext uri="{A12FA001-AC4F-418D-AE19-62706E023703}">
                      <ahyp:hlinkClr xmlns:ahyp="http://schemas.microsoft.com/office/drawing/2018/hyperlinkcolor" val="tx"/>
                    </a:ext>
                  </a:extLst>
                </a:hlinkClick>
              </a:rPr>
              <a:t>http://micro.magnet.fsu.edu/primer/techniques/fluorescence/gallery/cells/ptk1/ptk1cells.html</a:t>
            </a:r>
            <a:endParaRPr lang="en-US" sz="1400" dirty="0">
              <a:solidFill>
                <a:schemeClr val="bg1"/>
              </a:solidFill>
            </a:endParaRPr>
          </a:p>
        </p:txBody>
      </p:sp>
      <p:sp>
        <p:nvSpPr>
          <p:cNvPr id="4" name="Title 3">
            <a:extLst>
              <a:ext uri="{FF2B5EF4-FFF2-40B4-BE49-F238E27FC236}">
                <a16:creationId xmlns:a16="http://schemas.microsoft.com/office/drawing/2014/main" id="{807001BE-32DB-439D-A343-6E173949BCD8}"/>
              </a:ext>
            </a:extLst>
          </p:cNvPr>
          <p:cNvSpPr>
            <a:spLocks noGrp="1"/>
          </p:cNvSpPr>
          <p:nvPr>
            <p:ph type="title"/>
          </p:nvPr>
        </p:nvSpPr>
        <p:spPr/>
        <p:txBody>
          <a:bodyPr/>
          <a:lstStyle/>
          <a:p>
            <a:r>
              <a:rPr lang="en-US" dirty="0"/>
              <a:t>What’s Wrong with this Figure?</a:t>
            </a:r>
            <a:endParaRPr lang="en-CA" dirty="0"/>
          </a:p>
        </p:txBody>
      </p:sp>
      <p:sp>
        <p:nvSpPr>
          <p:cNvPr id="2" name="Date Placeholder 1">
            <a:extLst>
              <a:ext uri="{FF2B5EF4-FFF2-40B4-BE49-F238E27FC236}">
                <a16:creationId xmlns:a16="http://schemas.microsoft.com/office/drawing/2014/main" id="{23871497-2BD8-4763-A998-F0EA2AF4682C}"/>
              </a:ext>
            </a:extLst>
          </p:cNvPr>
          <p:cNvSpPr>
            <a:spLocks noGrp="1"/>
          </p:cNvSpPr>
          <p:nvPr>
            <p:ph type="dt" sz="half" idx="10"/>
          </p:nvPr>
        </p:nvSpPr>
        <p:spPr/>
        <p:txBody>
          <a:bodyPr/>
          <a:lstStyle/>
          <a:p>
            <a:fld id="{38D811B7-662D-4C1C-8066-BDDA47FAE938}" type="datetime1">
              <a:rPr lang="en-CA" smtClean="0"/>
              <a:t>2026-05-25</a:t>
            </a:fld>
            <a:endParaRPr lang="fr-CA"/>
          </a:p>
        </p:txBody>
      </p:sp>
      <p:sp>
        <p:nvSpPr>
          <p:cNvPr id="5" name="Slide Number Placeholder 4">
            <a:extLst>
              <a:ext uri="{FF2B5EF4-FFF2-40B4-BE49-F238E27FC236}">
                <a16:creationId xmlns:a16="http://schemas.microsoft.com/office/drawing/2014/main" id="{150DFB3F-1A0F-4987-BEDC-847DF986AAC8}"/>
              </a:ext>
            </a:extLst>
          </p:cNvPr>
          <p:cNvSpPr>
            <a:spLocks noGrp="1"/>
          </p:cNvSpPr>
          <p:nvPr>
            <p:ph type="sldNum" sz="quarter" idx="12"/>
          </p:nvPr>
        </p:nvSpPr>
        <p:spPr/>
        <p:txBody>
          <a:bodyPr/>
          <a:lstStyle/>
          <a:p>
            <a:fld id="{52B199FE-8D1D-41C7-8040-B5BAD29DE590}" type="slidenum">
              <a:rPr lang="en-US" smtClean="0"/>
              <a:pPr/>
              <a:t>28</a:t>
            </a:fld>
            <a:endParaRPr lang="en-US"/>
          </a:p>
        </p:txBody>
      </p:sp>
    </p:spTree>
    <p:extLst>
      <p:ext uri="{BB962C8B-B14F-4D97-AF65-F5344CB8AC3E}">
        <p14:creationId xmlns:p14="http://schemas.microsoft.com/office/powerpoint/2010/main" val="284817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Wrong with this Figure?</a:t>
            </a:r>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933700" y="1018156"/>
            <a:ext cx="6324600" cy="5322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a:extLst>
              <a:ext uri="{FF2B5EF4-FFF2-40B4-BE49-F238E27FC236}">
                <a16:creationId xmlns:a16="http://schemas.microsoft.com/office/drawing/2014/main" id="{94DF0DA7-DC39-4431-974D-2B816580150F}"/>
              </a:ext>
            </a:extLst>
          </p:cNvPr>
          <p:cNvSpPr>
            <a:spLocks noGrp="1"/>
          </p:cNvSpPr>
          <p:nvPr>
            <p:ph type="dt" sz="half" idx="10"/>
          </p:nvPr>
        </p:nvSpPr>
        <p:spPr/>
        <p:txBody>
          <a:bodyPr/>
          <a:lstStyle/>
          <a:p>
            <a:fld id="{18D85DCF-B27E-45EF-9C32-2879C021ABB0}" type="datetime1">
              <a:rPr lang="en-CA" smtClean="0"/>
              <a:t>2026-05-25</a:t>
            </a:fld>
            <a:endParaRPr lang="fr-CA"/>
          </a:p>
        </p:txBody>
      </p:sp>
      <p:sp>
        <p:nvSpPr>
          <p:cNvPr id="4" name="Slide Number Placeholder 3">
            <a:extLst>
              <a:ext uri="{FF2B5EF4-FFF2-40B4-BE49-F238E27FC236}">
                <a16:creationId xmlns:a16="http://schemas.microsoft.com/office/drawing/2014/main" id="{540E75C4-C0CD-4D11-ADE4-4A0FE870F990}"/>
              </a:ext>
            </a:extLst>
          </p:cNvPr>
          <p:cNvSpPr>
            <a:spLocks noGrp="1"/>
          </p:cNvSpPr>
          <p:nvPr>
            <p:ph type="sldNum" sz="quarter" idx="12"/>
          </p:nvPr>
        </p:nvSpPr>
        <p:spPr/>
        <p:txBody>
          <a:bodyPr/>
          <a:lstStyle/>
          <a:p>
            <a:fld id="{52B199FE-8D1D-41C7-8040-B5BAD29DE590}" type="slidenum">
              <a:rPr lang="en-US" smtClean="0"/>
              <a:pPr/>
              <a:t>29</a:t>
            </a:fld>
            <a:endParaRPr lang="en-US"/>
          </a:p>
        </p:txBody>
      </p:sp>
    </p:spTree>
    <p:extLst>
      <p:ext uri="{BB962C8B-B14F-4D97-AF65-F5344CB8AC3E}">
        <p14:creationId xmlns:p14="http://schemas.microsoft.com/office/powerpoint/2010/main" val="1445329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Wrong with this Figure?</a:t>
            </a:r>
          </a:p>
        </p:txBody>
      </p:sp>
      <p:pic>
        <p:nvPicPr>
          <p:cNvPr id="512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007021" y="1298738"/>
            <a:ext cx="8177959" cy="4949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a:extLst>
              <a:ext uri="{FF2B5EF4-FFF2-40B4-BE49-F238E27FC236}">
                <a16:creationId xmlns:a16="http://schemas.microsoft.com/office/drawing/2014/main" id="{B674053C-D912-4CB9-A412-3F63B69A0A57}"/>
              </a:ext>
            </a:extLst>
          </p:cNvPr>
          <p:cNvSpPr>
            <a:spLocks noGrp="1"/>
          </p:cNvSpPr>
          <p:nvPr>
            <p:ph type="dt" sz="half" idx="10"/>
          </p:nvPr>
        </p:nvSpPr>
        <p:spPr/>
        <p:txBody>
          <a:bodyPr/>
          <a:lstStyle/>
          <a:p>
            <a:fld id="{065C2BE8-152E-4D53-B047-EE3A74BDA293}" type="datetime1">
              <a:rPr lang="en-CA" smtClean="0"/>
              <a:t>2026-05-25</a:t>
            </a:fld>
            <a:endParaRPr lang="fr-CA"/>
          </a:p>
        </p:txBody>
      </p:sp>
      <p:sp>
        <p:nvSpPr>
          <p:cNvPr id="4" name="Slide Number Placeholder 3">
            <a:extLst>
              <a:ext uri="{FF2B5EF4-FFF2-40B4-BE49-F238E27FC236}">
                <a16:creationId xmlns:a16="http://schemas.microsoft.com/office/drawing/2014/main" id="{9037FBB6-3CC5-4CD4-AA42-B444D6861110}"/>
              </a:ext>
            </a:extLst>
          </p:cNvPr>
          <p:cNvSpPr>
            <a:spLocks noGrp="1"/>
          </p:cNvSpPr>
          <p:nvPr>
            <p:ph type="sldNum" sz="quarter" idx="12"/>
          </p:nvPr>
        </p:nvSpPr>
        <p:spPr/>
        <p:txBody>
          <a:bodyPr/>
          <a:lstStyle/>
          <a:p>
            <a:fld id="{52B199FE-8D1D-41C7-8040-B5BAD29DE590}" type="slidenum">
              <a:rPr lang="en-US" smtClean="0"/>
              <a:pPr/>
              <a:t>30</a:t>
            </a:fld>
            <a:endParaRPr lang="en-US"/>
          </a:p>
        </p:txBody>
      </p:sp>
    </p:spTree>
    <p:extLst>
      <p:ext uri="{BB962C8B-B14F-4D97-AF65-F5344CB8AC3E}">
        <p14:creationId xmlns:p14="http://schemas.microsoft.com/office/powerpoint/2010/main" val="2139559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Wrong with this Figure?</a:t>
            </a:r>
          </a:p>
        </p:txBody>
      </p:sp>
      <p:pic>
        <p:nvPicPr>
          <p:cNvPr id="5" name="Picture 4">
            <a:extLst>
              <a:ext uri="{FF2B5EF4-FFF2-40B4-BE49-F238E27FC236}">
                <a16:creationId xmlns:a16="http://schemas.microsoft.com/office/drawing/2014/main" id="{4C1B82A2-F5B5-41FE-9AEB-4ACE96941C51}"/>
              </a:ext>
            </a:extLst>
          </p:cNvPr>
          <p:cNvPicPr>
            <a:picLocks noChangeAspect="1"/>
          </p:cNvPicPr>
          <p:nvPr/>
        </p:nvPicPr>
        <p:blipFill>
          <a:blip r:embed="rId3"/>
          <a:stretch>
            <a:fillRect/>
          </a:stretch>
        </p:blipFill>
        <p:spPr>
          <a:xfrm>
            <a:off x="1233364" y="1219008"/>
            <a:ext cx="9725273" cy="5105592"/>
          </a:xfrm>
          <a:prstGeom prst="rect">
            <a:avLst/>
          </a:prstGeom>
        </p:spPr>
      </p:pic>
      <p:sp>
        <p:nvSpPr>
          <p:cNvPr id="3" name="Date Placeholder 2">
            <a:extLst>
              <a:ext uri="{FF2B5EF4-FFF2-40B4-BE49-F238E27FC236}">
                <a16:creationId xmlns:a16="http://schemas.microsoft.com/office/drawing/2014/main" id="{1B3CF325-A9DD-4869-8312-806430D7E235}"/>
              </a:ext>
            </a:extLst>
          </p:cNvPr>
          <p:cNvSpPr>
            <a:spLocks noGrp="1"/>
          </p:cNvSpPr>
          <p:nvPr>
            <p:ph type="dt" sz="half" idx="10"/>
          </p:nvPr>
        </p:nvSpPr>
        <p:spPr/>
        <p:txBody>
          <a:bodyPr/>
          <a:lstStyle/>
          <a:p>
            <a:fld id="{08970DEC-C401-48E1-950E-5AE34D014F29}" type="datetime1">
              <a:rPr lang="en-CA" smtClean="0"/>
              <a:t>2026-05-25</a:t>
            </a:fld>
            <a:endParaRPr lang="fr-CA"/>
          </a:p>
        </p:txBody>
      </p:sp>
      <p:sp>
        <p:nvSpPr>
          <p:cNvPr id="4" name="Slide Number Placeholder 3">
            <a:extLst>
              <a:ext uri="{FF2B5EF4-FFF2-40B4-BE49-F238E27FC236}">
                <a16:creationId xmlns:a16="http://schemas.microsoft.com/office/drawing/2014/main" id="{3C045767-D5C2-46C6-BF66-9EF6A27B8B96}"/>
              </a:ext>
            </a:extLst>
          </p:cNvPr>
          <p:cNvSpPr>
            <a:spLocks noGrp="1"/>
          </p:cNvSpPr>
          <p:nvPr>
            <p:ph type="sldNum" sz="quarter" idx="12"/>
          </p:nvPr>
        </p:nvSpPr>
        <p:spPr/>
        <p:txBody>
          <a:bodyPr/>
          <a:lstStyle/>
          <a:p>
            <a:fld id="{52B199FE-8D1D-41C7-8040-B5BAD29DE590}" type="slidenum">
              <a:rPr lang="en-US" smtClean="0"/>
              <a:pPr/>
              <a:t>31</a:t>
            </a:fld>
            <a:endParaRPr lang="en-US"/>
          </a:p>
        </p:txBody>
      </p:sp>
    </p:spTree>
    <p:extLst>
      <p:ext uri="{BB962C8B-B14F-4D97-AF65-F5344CB8AC3E}">
        <p14:creationId xmlns:p14="http://schemas.microsoft.com/office/powerpoint/2010/main" val="3491059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219201"/>
            <a:ext cx="5575300" cy="505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094266" y="6400800"/>
            <a:ext cx="4003468" cy="307777"/>
          </a:xfrm>
          <a:prstGeom prst="rect">
            <a:avLst/>
          </a:prstGeom>
        </p:spPr>
        <p:txBody>
          <a:bodyPr wrap="none">
            <a:spAutoFit/>
          </a:bodyPr>
          <a:lstStyle/>
          <a:p>
            <a:pPr algn="ctr"/>
            <a:r>
              <a:rPr lang="en-US" sz="1400" dirty="0">
                <a:solidFill>
                  <a:schemeClr val="bg1"/>
                </a:solidFill>
                <a:hlinkClick r:id="rId4">
                  <a:extLst>
                    <a:ext uri="{A12FA001-AC4F-418D-AE19-62706E023703}">
                      <ahyp:hlinkClr xmlns:ahyp="http://schemas.microsoft.com/office/drawing/2018/hyperlinkcolor" val="tx"/>
                    </a:ext>
                  </a:extLst>
                </a:hlinkClick>
              </a:rPr>
              <a:t>http://www.spandidos-publications.com/ol/4/3/443</a:t>
            </a:r>
            <a:endParaRPr lang="en-US" sz="1400" dirty="0">
              <a:solidFill>
                <a:schemeClr val="bg1"/>
              </a:solidFill>
            </a:endParaRPr>
          </a:p>
        </p:txBody>
      </p:sp>
      <p:sp>
        <p:nvSpPr>
          <p:cNvPr id="3" name="Title 2">
            <a:extLst>
              <a:ext uri="{FF2B5EF4-FFF2-40B4-BE49-F238E27FC236}">
                <a16:creationId xmlns:a16="http://schemas.microsoft.com/office/drawing/2014/main" id="{C8122684-6FED-40F6-86E0-299243CD2CF9}"/>
              </a:ext>
            </a:extLst>
          </p:cNvPr>
          <p:cNvSpPr>
            <a:spLocks noGrp="1"/>
          </p:cNvSpPr>
          <p:nvPr>
            <p:ph type="title"/>
          </p:nvPr>
        </p:nvSpPr>
        <p:spPr/>
        <p:txBody>
          <a:bodyPr/>
          <a:lstStyle/>
          <a:p>
            <a:r>
              <a:rPr lang="en-CA" dirty="0"/>
              <a:t>What’s Wrong with this Figure?</a:t>
            </a:r>
          </a:p>
        </p:txBody>
      </p:sp>
      <p:sp>
        <p:nvSpPr>
          <p:cNvPr id="2" name="Date Placeholder 1">
            <a:extLst>
              <a:ext uri="{FF2B5EF4-FFF2-40B4-BE49-F238E27FC236}">
                <a16:creationId xmlns:a16="http://schemas.microsoft.com/office/drawing/2014/main" id="{5C1D6136-0B17-445A-9CF9-32291AAA743B}"/>
              </a:ext>
            </a:extLst>
          </p:cNvPr>
          <p:cNvSpPr>
            <a:spLocks noGrp="1"/>
          </p:cNvSpPr>
          <p:nvPr>
            <p:ph type="dt" sz="half" idx="10"/>
          </p:nvPr>
        </p:nvSpPr>
        <p:spPr/>
        <p:txBody>
          <a:bodyPr/>
          <a:lstStyle/>
          <a:p>
            <a:fld id="{C5105F57-2541-4AFB-9681-AE6BB0C3F6AC}" type="datetime1">
              <a:rPr lang="en-CA" smtClean="0"/>
              <a:t>2026-05-25</a:t>
            </a:fld>
            <a:endParaRPr lang="fr-CA"/>
          </a:p>
        </p:txBody>
      </p:sp>
      <p:sp>
        <p:nvSpPr>
          <p:cNvPr id="5" name="Slide Number Placeholder 4">
            <a:extLst>
              <a:ext uri="{FF2B5EF4-FFF2-40B4-BE49-F238E27FC236}">
                <a16:creationId xmlns:a16="http://schemas.microsoft.com/office/drawing/2014/main" id="{4C21C349-736C-48AF-A585-AF3F8BFDABC0}"/>
              </a:ext>
            </a:extLst>
          </p:cNvPr>
          <p:cNvSpPr>
            <a:spLocks noGrp="1"/>
          </p:cNvSpPr>
          <p:nvPr>
            <p:ph type="sldNum" sz="quarter" idx="12"/>
          </p:nvPr>
        </p:nvSpPr>
        <p:spPr/>
        <p:txBody>
          <a:bodyPr/>
          <a:lstStyle/>
          <a:p>
            <a:fld id="{52B199FE-8D1D-41C7-8040-B5BAD29DE590}" type="slidenum">
              <a:rPr lang="en-US" smtClean="0"/>
              <a:pPr/>
              <a:t>32</a:t>
            </a:fld>
            <a:endParaRPr lang="en-US"/>
          </a:p>
        </p:txBody>
      </p:sp>
    </p:spTree>
    <p:extLst>
      <p:ext uri="{BB962C8B-B14F-4D97-AF65-F5344CB8AC3E}">
        <p14:creationId xmlns:p14="http://schemas.microsoft.com/office/powerpoint/2010/main" val="37543067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ANSWERNOWTEXT" val="Answer Now"/>
  <p:tag name="RESPTABLESTYLE" val="-1"/>
  <p:tag name="ALLOWDUPLICATES" val="False"/>
  <p:tag name="AUTOADVANCE" val="False"/>
  <p:tag name="STDCHART" val="1"/>
  <p:tag name="SKIPREMAININGRACESLIDES" val="True"/>
  <p:tag name="BUBBLENAMEVISIBLE" val="True"/>
  <p:tag name="DEFAULTNUMTEAMS" val="5"/>
  <p:tag name="CUSTOMCELLBACKCOLOR2" val="-13395457"/>
  <p:tag name="DISPLAYNAME" val="True"/>
  <p:tag name="GRIDROTATIONINTERVAL" val="2"/>
  <p:tag name="POLLINGCYCLE" val="2"/>
  <p:tag name="INCLUDENONRESPONDERS" val="False"/>
  <p:tag name="ALLOWUSERFEEDBACK" val="True"/>
  <p:tag name="REALTIMEBACKUPPATH" val="(None)"/>
  <p:tag name="ADVANCEDSETTINGSVIEW" val="False"/>
  <p:tag name="FIBDISPLAYKEYWORDS" val="True"/>
  <p:tag name="PRRESPONSE4" val="7"/>
  <p:tag name="PRRESPONSE8" val="3"/>
  <p:tag name="TPVERSION" val="2008"/>
  <p:tag name="BULLETTYPE" val="3"/>
  <p:tag name="RESPCOUNTERFORMAT" val="0"/>
  <p:tag name="BACKUPSESSIONS" val="True"/>
  <p:tag name="ROTATIONINTERVAL" val="2"/>
  <p:tag name="RACEANIMATIONSPEED" val="3"/>
  <p:tag name="BUBBLESIZEVISIBLE" val="True"/>
  <p:tag name="CUSTOMCELLFORECOLOR" val="-16777216"/>
  <p:tag name="USESCHEMECOLORS" val="True"/>
  <p:tag name="AUTOSIZEGRID" val="True"/>
  <p:tag name="CHARTLABELS" val="1"/>
  <p:tag name="INCLUDEPPT" val="True"/>
  <p:tag name="ZEROBASED" val="False"/>
  <p:tag name="FIBNUMRESULTS" val="5"/>
  <p:tag name="PRRESPONSE3" val="8"/>
  <p:tag name="PRRESPONSE9" val="2"/>
  <p:tag name="SHOWBARVISIBLE" val="True"/>
  <p:tag name="RESPCOUNTERSTYLE" val="-1"/>
  <p:tag name="BACKUPMAINTENANCE" val="7"/>
  <p:tag name="RACEENDPOINTS" val="100"/>
  <p:tag name="MAXRESPONDERS" val="5"/>
  <p:tag name="CUSTOMCELLBACKCOLOR1" val="-657956"/>
  <p:tag name="DISPLAYDEVICEID" val="True"/>
  <p:tag name="CHARTCOLORS" val="0"/>
  <p:tag name="CORRECTPOINTVALUE" val="100"/>
  <p:tag name="CHARTSCALE" val="True"/>
  <p:tag name="PRRESPONSE2" val="9"/>
  <p:tag name="PRRESPONSE10" val="1"/>
  <p:tag name="ANSWERNOWSTYLE" val="-1"/>
  <p:tag name="NUMRESPONSES" val="1"/>
  <p:tag name="RACERSMAXDISPLAYED" val="5"/>
  <p:tag name="BUBBLEGROUPING" val="3"/>
  <p:tag name="DISPLAYDEVICENUMBER" val="True"/>
  <p:tag name="RESETCHARTS" val="True"/>
  <p:tag name="REALTIMEBACKUP" val="False"/>
  <p:tag name="PRRESPONSE1" val="10"/>
  <p:tag name="SHOWFLASHWARNING" val="True"/>
  <p:tag name="COUNTDOWNSECONDS" val="10"/>
  <p:tag name="AUTOUPDATEALIASES" val="True"/>
  <p:tag name="CUSTOMGRIDBACKCOLOR" val="-2830136"/>
  <p:tag name="GRIDSIZE" val="{Width=800, Height=600}"/>
  <p:tag name="INCORRECTPOINTVALUE" val="0"/>
  <p:tag name="PRRESPONSE5" val="6"/>
  <p:tag name="USESECONDARYMONITOR" val="True"/>
  <p:tag name="REVIEWONLY" val="False"/>
  <p:tag name="CUSTOMCELLBACKCOLOR3" val="-268652"/>
  <p:tag name="MULTIRESPDIVISOR" val="1"/>
  <p:tag name="FIBINCLUDEOTHER" val="True"/>
  <p:tag name="COUNTDOWNSTYLE" val="-1"/>
  <p:tag name="TEAMSINLEADERBOARD" val="5"/>
  <p:tag name="GRIDPOSITION" val="1"/>
  <p:tag name="PRRESPONSE6" val="5"/>
  <p:tag name="CHARTVALUEFORMAT" val="0%"/>
  <p:tag name="GRIDOPACITY" val="90"/>
  <p:tag name="PRRESPONSE7" val="4"/>
  <p:tag name="BUBBLEVALUEFORMAT" val="0.0"/>
  <p:tag name="FIBDISPLAYRESULTS" val="True"/>
  <p:tag name="CUSTOMCELLBACKCOLOR4" val="-8355712"/>
  <p:tag name="INPUTSOURCE" val="1"/>
  <p:tag name="POWERPOINTVERSION" val="12.0"/>
  <p:tag name="PARTICIPANTSINLEADERBOARD" val="5"/>
  <p:tag name="AUTOADJUSTPARTRANGE" val="True"/>
  <p:tag name="PARTLISTDEFAULT" val="1"/>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AS_UNIQUEID" val="13"/>
</p:tagLst>
</file>

<file path=ppt/tags/tag3.xml><?xml version="1.0" encoding="utf-8"?>
<p:tagLst xmlns:a="http://schemas.openxmlformats.org/drawingml/2006/main" xmlns:r="http://schemas.openxmlformats.org/officeDocument/2006/relationships" xmlns:p="http://schemas.openxmlformats.org/presentationml/2006/main">
  <p:tag name="AS_UNIQUEID" val="14"/>
</p:tagLst>
</file>

<file path=ppt/tags/tag4.xml><?xml version="1.0" encoding="utf-8"?>
<p:tagLst xmlns:a="http://schemas.openxmlformats.org/drawingml/2006/main" xmlns:r="http://schemas.openxmlformats.org/officeDocument/2006/relationships" xmlns:p="http://schemas.openxmlformats.org/presentationml/2006/main">
  <p:tag name="AS_UNIQUEID" val="15"/>
</p:tagLst>
</file>

<file path=ppt/theme/theme1.xml><?xml version="1.0" encoding="utf-8"?>
<a:theme xmlns:a="http://schemas.openxmlformats.org/drawingml/2006/main" name="ABIF-Theme">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tailEnd type="arrow"/>
        </a:ln>
      </a:spPr>
      <a:bodyPr/>
      <a:lstStyle/>
      <a:style>
        <a:lnRef idx="3">
          <a:schemeClr val="accent5"/>
        </a:lnRef>
        <a:fillRef idx="0">
          <a:schemeClr val="accent5"/>
        </a:fillRef>
        <a:effectRef idx="2">
          <a:schemeClr val="accent5"/>
        </a:effectRef>
        <a:fontRef idx="minor">
          <a:schemeClr val="tx1"/>
        </a:fontRef>
      </a:style>
    </a:lnDef>
    <a:txDef>
      <a:spPr>
        <a:noFill/>
      </a:spPr>
      <a:bodyPr wrap="none" rtlCol="0">
        <a:spAutoFit/>
      </a:bodyPr>
      <a:lstStyle>
        <a:defPPr algn="l">
          <a:defRPr sz="2400" dirty="0" smtClean="0"/>
        </a:defPPr>
      </a:lstStyle>
    </a:txDef>
  </a:objectDefaults>
  <a:extraClrSchemeLst/>
  <a:extLst>
    <a:ext uri="{05A4C25C-085E-4340-85A3-A5531E510DB2}">
      <thm15:themeFamily xmlns:thm15="http://schemas.microsoft.com/office/thememl/2012/main" name="ABIF-Theme" id="{A797076A-7FF5-4C12-AB1E-48ECCCDD8DAB}" vid="{001A01D4-15A6-41EF-BD11-2BDB95A0A05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ABIF-Theme</Template>
  <TotalTime>14111</TotalTime>
  <Words>3153</Words>
  <Application>Microsoft Office PowerPoint</Application>
  <PresentationFormat>Widescreen</PresentationFormat>
  <Paragraphs>252</Paragraphs>
  <Slides>32</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Cambria Math</vt:lpstr>
      <vt:lpstr>Helvetica</vt:lpstr>
      <vt:lpstr>Times New Roman</vt:lpstr>
      <vt:lpstr>Wingdings</vt:lpstr>
      <vt:lpstr>ABIF-Theme</vt:lpstr>
      <vt:lpstr>Image Display Settings</vt:lpstr>
      <vt:lpstr>Image Display: Look Up Tables (LUTs)</vt:lpstr>
      <vt:lpstr>Image Display: Gamma, Brightness and Contrast</vt:lpstr>
      <vt:lpstr>Image Display: Gamma Factor Enhances Dim Features</vt:lpstr>
      <vt:lpstr>Image Display: Colour Overlays</vt:lpstr>
      <vt:lpstr>Colour Blind Checker – Can Be Used for Event Flyers as Well</vt:lpstr>
      <vt:lpstr>Scale Bars and Time Stamps</vt:lpstr>
      <vt:lpstr>Detailed Figure Captions and Scale Bars are Needed</vt:lpstr>
      <vt:lpstr>Sampling &amp; Statistics</vt:lpstr>
      <vt:lpstr>Statistics/Data Display are Important</vt:lpstr>
      <vt:lpstr>Box Plot</vt:lpstr>
      <vt:lpstr>Box Plot vs Bar Chart</vt:lpstr>
      <vt:lpstr>Quantitative Data</vt:lpstr>
      <vt:lpstr>See Journal Guidelines</vt:lpstr>
      <vt:lpstr>Statistical comparison of means</vt:lpstr>
      <vt:lpstr>T-Test</vt:lpstr>
      <vt:lpstr>P-Value, t-test Options</vt:lpstr>
      <vt:lpstr>P-Value, t-test Options</vt:lpstr>
      <vt:lpstr>P-Value, t-test Options</vt:lpstr>
      <vt:lpstr>SuperPlots</vt:lpstr>
      <vt:lpstr>SuperPlots</vt:lpstr>
      <vt:lpstr>SuperPlots: Communicating reproducibility and variability in cell biology</vt:lpstr>
      <vt:lpstr>SuperPlots</vt:lpstr>
      <vt:lpstr>PlotsOfData – online tool</vt:lpstr>
      <vt:lpstr>PlotsOfData – online tool</vt:lpstr>
      <vt:lpstr>What’s Wrong With These Figures?</vt:lpstr>
      <vt:lpstr>What’s Wrong with this Figure?</vt:lpstr>
      <vt:lpstr>What’s Wrong with this Figure?</vt:lpstr>
      <vt:lpstr>What’s Wrong with this Figure?</vt:lpstr>
      <vt:lpstr>What’s Wrong with this Figure?</vt:lpstr>
      <vt:lpstr>What’s Wrong with this Figure?</vt:lpstr>
      <vt:lpstr>What’s Wrong with this Figure?</vt:lpstr>
    </vt:vector>
  </TitlesOfParts>
  <Company>Olympus America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Olympus Employee</dc:creator>
  <cp:lastModifiedBy>Claire Brown, Dr</cp:lastModifiedBy>
  <cp:revision>438</cp:revision>
  <dcterms:created xsi:type="dcterms:W3CDTF">2019-03-04T03:41:53Z</dcterms:created>
  <dcterms:modified xsi:type="dcterms:W3CDTF">2026-05-25T17:48:34Z</dcterms:modified>
</cp:coreProperties>
</file>